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2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3" Type="http://schemas.openxmlformats.org/officeDocument/2006/relationships/presProps" Target="presProps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/>
            </a:pPr>
            <a:r>
              <a:rPr sz="1350"/>
              <a:t>股息率 vs 十年国债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/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股息率%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strCache>
                <c:ptCount val="4"/>
                <c:pt idx="0">
                  <c:v>红利低波</c:v>
                </c:pt>
                <c:pt idx="1">
                  <c:v>红利低波100</c:v>
                </c:pt>
                <c:pt idx="2">
                  <c:v>上证红利</c:v>
                </c:pt>
                <c:pt idx="3">
                  <c:v>中证红利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4.72</c:v>
                </c:pt>
                <c:pt idx="1">
                  <c:v>4.27</c:v>
                </c:pt>
                <c:pt idx="2">
                  <c:v>4.24</c:v>
                </c:pt>
                <c:pt idx="3">
                  <c:v>4.17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十年国债%</c:v>
                </c:pt>
              </c:strCache>
            </c:strRef>
          </c:tx>
          <c:spPr>
            <a:solidFill>
              <a:srgbClr val="8FA0B5"/>
            </a:solidFill>
          </c:spPr>
          <c:cat>
            <c:strRef>
              <c:strCache>
                <c:ptCount val="4"/>
                <c:pt idx="0">
                  <c:v>红利低波</c:v>
                </c:pt>
                <c:pt idx="1">
                  <c:v>红利低波100</c:v>
                </c:pt>
                <c:pt idx="2">
                  <c:v>上证红利</c:v>
                </c:pt>
                <c:pt idx="3">
                  <c:v>中证红利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1.7</c:v>
                </c:pt>
                <c:pt idx="1">
                  <c:v>1.7</c:v>
                </c:pt>
                <c:pt idx="2">
                  <c:v>1.7</c:v>
                </c:pt>
                <c:pt idx="3">
                  <c:v>1.7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/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/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/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linear-gradient(135deg,#2B3A4A 0%,#1D2939 70%,#3A2A2A 100%)', padding: '40px 72px', fontFamily: '&quot;PingFang SC&quot;,&quot;Microsoft YaHei&quot;,sans-serif', color: '#FFFFFF', justifyContent: 'space-between' }}&gt;&#10;  &lt;Box style={{ position: 'absolute', right: 64, top: 44, background: 'rgba(255,255,255,0.12)', borderRadius: 20, padding: '6px 16px' }}&gt;&#10;    &lt;Text style={{ fontSize: 14, color: '#FFB37A', letterSpacing: 1 }}&gt;四大红利全收益指数 · 数据回测&lt;/Text&gt;&#10;  &lt;/Box&gt;&#10;&#10;  &lt;Box style={{ marginTop: 96, maxWidth: 1000 }}&gt;&#10;    &lt;Text style={{ fontSize: 22, color: '#8FA0B5', letterSpacing: 3, marginBottom: 18 }}&gt;每月定投 · 10 年 · 真实回测&lt;/Text&gt;&#10;    &lt;Text style={{ fontSize: 60, fontWeight: 'bold', lineHeight: 1.25, letterSpacing: 1 }}&gt;&#10;      每月定投 &lt;span style={{ color: '#FF6B5E' }}&gt;10,000 元&lt;/span&gt; 红利指数&#10;      &lt;br /&gt;&#10;      10 年后能赚多少？&#10;    &lt;/Text&gt;&#10;    &lt;Box style={{ marginTop: 30, flexDirection: 'row', gap: 14 }}&gt;&#10;      &lt;Box style={{ background: 'rgba(255,255,255,0.1)', borderRadius: 10, padding: '10px 20px' }}&gt;&#10;        &lt;Text style={{ fontSize: 18, fontWeight: 600 }}&gt;120 期&lt;/Text&gt;&#10;      &lt;/Box&gt;&#10;      &lt;Box style={{ background: 'rgba(255,255,255,0.1)', borderRadius: 10, padding: '10px 20px' }}&gt;&#10;        &lt;Text style={{ fontSize: 18, fontWeight: 600 }}&gt;总投入 ¥120 万&lt;/Text&gt;&#10;      &lt;/Box&gt;&#10;      &lt;Box style={{ background: 'rgba(255,255,255,0.1)', borderRadius: 10, padding: '10px 20px' }}&gt;&#10;        &lt;Text style={{ fontSize: 18, fontWeight: 600 }}&gt;最高年化 &lt;span style={{ color: '#FF6B5E' }}&gt;9.56%&lt;/span&gt;&lt;/Text&gt;&#10;      &lt;/Box&gt;&#10;    &lt;/Box&gt;&#10;  &lt;/Box&gt;&#10;&#10;  &lt;Box style={{ marginBottom: 12, flexDirection: 'row', justifyContent: 'space-between', alignItems: 'flex-end' }}&gt;&#10;    &lt;Text style={{ fontSize: 15, color: '#8FA0B5', lineHeight: 1.6 }}&gt;&#10;      数据源：中证指数官网全收益指数官方日线（csindex.com.cn）&#10;      &lt;br /&gt;&#10;      区间：2016.08 - 2026.07 · 每月首个交易日买入 · 未计交易费用&#10;    &lt;/Text&gt;&#10;    &lt;Text style={{ fontSize: 15, color: '#FFB37A' }}&gt;红利低波 / 中证红利 / 红利低波100 / 上证红利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3A4A"/>
              </a:gs>
              <a:gs pos="70000">
                <a:srgbClr val="1D2939"/>
              </a:gs>
              <a:gs pos="100000">
                <a:srgbClr val="3A2A2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1295400"/>
            <a:ext cx="952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225">
                <a:solidFill>
                  <a:srgbClr val="8FA0B5"/>
                </a:solidFill>
                <a:latin typeface="PingFang SC"/>
                <a:ea typeface="PingFang SC"/>
              </a:rPr>
              <a:t>每月定投</a:t>
            </a:r>
            <a:r>
              <a:rPr lang="en-US" sz="1650" spc="225">
                <a:solidFill>
                  <a:srgbClr val="8FA0B5"/>
                </a:solidFill>
                <a:latin typeface="PingFang SC"/>
                <a:ea typeface="PingFang SC"/>
              </a:rPr>
              <a:t> · 10 </a:t>
            </a:r>
            <a:r>
              <a:rPr lang="zh-CN" sz="1650" spc="225">
                <a:solidFill>
                  <a:srgbClr val="8FA0B5"/>
                </a:solidFill>
                <a:latin typeface="PingFang SC"/>
                <a:ea typeface="PingFang SC"/>
              </a:rPr>
              <a:t>年</a:t>
            </a:r>
            <a:r>
              <a:rPr lang="en-US" sz="1650" spc="225">
                <a:solidFill>
                  <a:srgbClr val="8FA0B5"/>
                </a:solidFill>
                <a:latin typeface="PingFang SC"/>
                <a:ea typeface="PingFang SC"/>
              </a:rPr>
              <a:t> · </a:t>
            </a:r>
            <a:r>
              <a:rPr lang="zh-CN" sz="1650" spc="225">
                <a:solidFill>
                  <a:srgbClr val="8FA0B5"/>
                </a:solidFill>
                <a:latin typeface="PingFang SC"/>
                <a:ea typeface="PingFang SC"/>
              </a:rPr>
              <a:t>真实回测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1724025"/>
            <a:ext cx="9525000" cy="1714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 spc="75">
                <a:solidFill>
                  <a:srgbClr val="FFFFFF"/>
                </a:solidFill>
                <a:latin typeface="PingFang SC"/>
                <a:ea typeface="PingFang SC"/>
              </a:rPr>
              <a:t>每月定投</a:t>
            </a:r>
            <a:r>
              <a:rPr lang="en-US" sz="4500" b="1" spc="75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en-US" sz="4500" b="1" spc="75">
                <a:solidFill>
                  <a:srgbClr val="FF6B5E"/>
                </a:solidFill>
                <a:latin typeface="PingFang SC"/>
                <a:ea typeface="PingFang SC"/>
              </a:rPr>
              <a:t>10,000 </a:t>
            </a:r>
            <a:r>
              <a:rPr lang="zh-CN" sz="4500" b="1" spc="75">
                <a:solidFill>
                  <a:srgbClr val="FF6B5E"/>
                </a:solidFill>
                <a:latin typeface="PingFang SC"/>
                <a:ea typeface="PingFang SC"/>
              </a:rPr>
              <a:t>元</a:t>
            </a:r>
            <a:r>
              <a:rPr lang="en-US" sz="4500" b="1" spc="75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4500" b="1" spc="75">
                <a:solidFill>
                  <a:srgbClr val="FFFFFF"/>
                </a:solidFill>
                <a:latin typeface="PingFang SC"/>
                <a:ea typeface="PingFang SC"/>
              </a:rPr>
              <a:t>红利指数</a:t>
            </a:r>
            <a:endParaRPr/>
          </a:p>
          <a:p>
            <a:pPr>
              <a:lnSpc>
                <a:spcPct val="125000"/>
              </a:lnSpc>
            </a:pPr>
            <a:r>
              <a:rPr lang="en-US" sz="4500" b="1" spc="75">
                <a:solidFill>
                  <a:srgbClr val="FFFFFF"/>
                </a:solidFill>
                <a:latin typeface="PingFang SC"/>
                <a:ea typeface="PingFang SC"/>
              </a:rPr>
              <a:t>10 </a:t>
            </a:r>
            <a:r>
              <a:rPr lang="zh-CN" sz="4500" b="1" spc="75">
                <a:solidFill>
                  <a:srgbClr val="FFFFFF"/>
                </a:solidFill>
                <a:latin typeface="PingFang SC"/>
                <a:ea typeface="PingFang SC"/>
              </a:rPr>
              <a:t>年后能赚多少？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85800" y="3724275"/>
            <a:ext cx="923925" cy="400050"/>
          </a:xfrm>
          <a:prstGeom prst="roundRect">
            <a:avLst>
              <a:gd name="adj" fmla="val 2381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76300" y="3819525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120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期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1743075" y="3724275"/>
            <a:ext cx="1600200" cy="400050"/>
          </a:xfrm>
          <a:prstGeom prst="roundRect">
            <a:avLst>
              <a:gd name="adj" fmla="val 2381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933575" y="3819525"/>
            <a:ext cx="121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总投入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¥120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万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3476625" y="3724275"/>
            <a:ext cx="1647825" cy="400050"/>
          </a:xfrm>
          <a:prstGeom prst="roundRect">
            <a:avLst>
              <a:gd name="adj" fmla="val 2381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667125" y="3819525"/>
            <a:ext cx="126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最高年化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en-US" sz="1350" b="1">
                <a:solidFill>
                  <a:srgbClr val="FF6B5E"/>
                </a:solidFill>
                <a:latin typeface="PingFang SC"/>
                <a:ea typeface="PingFang SC"/>
              </a:rPr>
              <a:t>9.56%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5810250"/>
            <a:ext cx="40386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数据源：中证指数官网全收益指数官方日线（</a:t>
            </a:r>
            <a:r>
              <a:rPr lang="en-US" sz="1125">
                <a:solidFill>
                  <a:srgbClr val="8FA0B5"/>
                </a:solidFill>
                <a:latin typeface="PingFang SC"/>
                <a:ea typeface="PingFang SC"/>
              </a:rPr>
              <a:t>csindex.com.cn</a:t>
            </a: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区间：</a:t>
            </a:r>
            <a:r>
              <a:rPr lang="en-US" sz="1125">
                <a:solidFill>
                  <a:srgbClr val="8FA0B5"/>
                </a:solidFill>
                <a:latin typeface="PingFang SC"/>
                <a:ea typeface="PingFang SC"/>
              </a:rPr>
              <a:t>2016.08 - 2026.07 · </a:t>
            </a: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每月首个交易日买入</a:t>
            </a:r>
            <a:r>
              <a:rPr lang="en-US" sz="1125">
                <a:solidFill>
                  <a:srgbClr val="8FA0B5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未计交易费用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24875" y="6191250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B37A"/>
                </a:solidFill>
                <a:latin typeface="PingFang SC"/>
                <a:ea typeface="PingFang SC"/>
              </a:rPr>
              <a:t>红利低波</a:t>
            </a:r>
            <a:r>
              <a:rPr lang="en-US" sz="1125">
                <a:solidFill>
                  <a:srgbClr val="FFB37A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FFB37A"/>
                </a:solidFill>
                <a:latin typeface="PingFang SC"/>
                <a:ea typeface="PingFang SC"/>
              </a:rPr>
              <a:t>中证红利</a:t>
            </a:r>
            <a:r>
              <a:rPr lang="en-US" sz="1125">
                <a:solidFill>
                  <a:srgbClr val="FFB37A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FFB37A"/>
                </a:solidFill>
                <a:latin typeface="PingFang SC"/>
                <a:ea typeface="PingFang SC"/>
              </a:rPr>
              <a:t>红利低波</a:t>
            </a:r>
            <a:r>
              <a:rPr lang="en-US" sz="1125">
                <a:solidFill>
                  <a:srgbClr val="FFB37A"/>
                </a:solidFill>
                <a:latin typeface="PingFang SC"/>
                <a:ea typeface="PingFang SC"/>
              </a:rPr>
              <a:t>100 / </a:t>
            </a:r>
            <a:r>
              <a:rPr lang="zh-CN" sz="1125">
                <a:solidFill>
                  <a:srgbClr val="FFB37A"/>
                </a:solidFill>
                <a:latin typeface="PingFang SC"/>
                <a:ea typeface="PingFang SC"/>
              </a:rPr>
              <a:t>上证红利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277350" y="419100"/>
            <a:ext cx="2305050" cy="276225"/>
          </a:xfrm>
          <a:prstGeom prst="roundRect">
            <a:avLst>
              <a:gd name="adj" fmla="val 6896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429750" y="4762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FFB37A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 spc="75">
                <a:solidFill>
                  <a:srgbClr val="FFB37A"/>
                </a:solidFill>
                <a:latin typeface="PingFang SC"/>
                <a:ea typeface="PingFang SC"/>
              </a:rPr>
              <a:t> · </a:t>
            </a:r>
            <a:r>
              <a:rPr lang="zh-CN" sz="1050" spc="75">
                <a:solidFill>
                  <a:srgbClr val="FFB37A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怎么算的：口径与方法&lt;/Text&gt;&#10;    &lt;Text style={{ fontSize: 14, color: '#6B7686' }}&gt;四大红利全收益指数 · 数据回测&lt;/Text&gt;&#10;  &lt;/Box&gt;&#10;&#10;  &lt;Box style={{ height: 500, marginTop: 8, flexDirection: 'row', gap: 18 }}&gt;&#10;    &lt;Box style={{ flex: 1, background: '#EEF2F7', borderRadius: 14, padding: 26, justifyContent: 'space-between' }}&gt;&#10;      &lt;Box&gt;&#10;        &lt;Text style={{ fontSize: 24, fontWeight: 'bold', color: '#1D2939' }}&gt;① 数据源&lt;/Text&gt;&#10;        &lt;Text style={{ fontSize: 18, color: '#3B4A5C', lineHeight: 1.7, marginTop: 14 }}&gt;&#10;          中证指数官网（csindex.com.cn）&lt;span style={{ fontWeight: 'bold' }}&gt;全收益指数&lt;/span&gt;官方日线&#10;          &lt;br /&gt;&#10;          已含&lt;b&gt;分红再投资&lt;/b&gt;，收益口径完整&#10;          &lt;br /&gt;&#10;          H00015 / H00922 / H20269 / H20955&#10;        &lt;/Text&gt;&#10;      &lt;/Box&gt;&#10;      &lt;Text style={{ fontSize: 16, color: '#6B7686' }}&gt;四个主流红利指数 · 官方数据 · 可复现&lt;/Text&gt;&#10;    &lt;/Box&gt;&#10;&#10;    &lt;Box style={{ flex: 1, background: '#EEF2F7', borderRadius: 14, padding: 26, justifyContent: 'space-between' }}&gt;&#10;      &lt;Box&gt;&#10;        &lt;Text style={{ fontSize: 24, fontWeight: 'bold', color: '#1D2939' }}&gt;② 定投规则&lt;/Text&gt;&#10;        &lt;Text style={{ fontSize: 18, color: '#3B4A5C', lineHeight: 1.7, marginTop: 14 }}&gt;&#10;          &lt;span style={{ fontWeight: 'bold', color: '#C0392B' }}&gt;每月首个交易日&lt;/span&gt;按收盘价买入&#10;          &lt;br /&gt;&#10;          每期 &lt;b&gt;¥10,000&lt;/b&gt; · 雷打不动&#10;          &lt;br /&gt;&#10;          2016.08 首期 → 2026.07 末期&#10;        &lt;/Text&gt;&#10;      &lt;/Box&gt;&#10;      &lt;Text style={{ fontSize: 16, color: '#6B7686' }}&gt;不择时、不预测，只执行&lt;/Text&gt;&#10;    &lt;/Box&gt;&#10;&#10;    &lt;Box style={{ flex: 1, background: '#EEF2F7', borderRadius: 14, padding: 26, justifyContent: 'space-between' }}&gt;&#10;      &lt;Box&gt;&#10;        &lt;Text style={{ fontSize: 24, fontWeight: 'bold', color: '#1D2939' }}&gt;③ 区间与投入&lt;/Text&gt;&#10;        &lt;Text style={{ fontSize: 20, lineHeight: 1.7, marginTop: 14 }}&gt;&#10;          &lt;span style={{ fontSize: 44, fontWeight: 'bold', color: '#C0392B' }}&gt;120&lt;/span&gt; 期 · 整 10 年&#10;        &lt;/Text&gt;&#10;        &lt;Text style={{ fontSize: 18, color: '#3B4A5C', lineHeight: 1.7 }}&gt;&#10;          累计投入 &lt;span style={{ fontWeight: 'bold', color: '#C0392B' }}&gt;¥1,200,000&lt;/span&gt;&#10;        &lt;/Text&gt;&#10;      &lt;/Box&gt;&#10;      &lt;Text style={{ fontSize: 16, color: '#6B7686' }}&gt;2016.08 - 2026.07 完整十年&lt;/Text&gt;&#10;    &lt;/Box&gt;&#10;&#10;    &lt;Box style={{ flex: 1, background: '#EEF2F7', borderRadius: 14, padding: 26, justifyContent: 'space-between' }}&gt;&#10;      &lt;Box&gt;&#10;        &lt;Text style={{ fontSize: 24, fontWeight: 'bold', color: '#1D2939' }}&gt;④ 收益口径&lt;/Text&gt;&#10;        &lt;Text style={{ fontSize: 18, color: '#3B4A5C', lineHeight: 1.7, marginTop: 14 }}&gt;&#10;          年化 = &lt;b&gt;XIRR&lt;/b&gt;（资金时间价值口径）&#10;          &lt;br /&gt;&#10;          每笔定投按实际投入时点计息&#10;          &lt;br /&gt;&#10;          &lt;span style={{ color: '#C0392B', fontWeight: 'bold' }}&gt;未计&lt;/span&gt;申购费、赎回费与税费&#10;        &lt;/Text&gt;&#10;      &lt;/Box&gt;&#10;      &lt;Text style={{ fontSize: 16, color: '#6B7686' }}&gt;口径透明 · 结果可交叉验证&lt;/Text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怎么算的：口径与方法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734550" y="590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1219200"/>
            <a:ext cx="2619375" cy="4762500"/>
          </a:xfrm>
          <a:prstGeom prst="roundRect">
            <a:avLst>
              <a:gd name="adj" fmla="val 5091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57250" y="1466850"/>
            <a:ext cx="2124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D2939"/>
                </a:solidFill>
                <a:latin typeface="PingFang SC"/>
                <a:ea typeface="PingFang SC"/>
              </a:rPr>
              <a:t>① </a:t>
            </a:r>
            <a:r>
              <a:rPr lang="zh-CN" sz="1800" b="1">
                <a:solidFill>
                  <a:srgbClr val="1D2939"/>
                </a:solidFill>
                <a:latin typeface="PingFang SC"/>
                <a:ea typeface="PingFang SC"/>
              </a:rPr>
              <a:t>数据源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57250" y="1876425"/>
            <a:ext cx="2124075" cy="2457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中证指数官网（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csindex.com.cn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</a:t>
            </a:r>
            <a:r>
              <a:rPr lang="zh-CN" sz="1350" b="1">
                <a:solidFill>
                  <a:srgbClr val="3B4A5C"/>
                </a:solidFill>
                <a:latin typeface="PingFang SC"/>
                <a:ea typeface="PingFang SC"/>
              </a:rPr>
              <a:t>全收益指数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官方日线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已含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分红再投资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，收益口径完整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H00015 / H00922 / H20269 / H20955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57250" y="5362575"/>
            <a:ext cx="21240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四个主流红利指数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官方数据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可复现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400425" y="1219200"/>
            <a:ext cx="2609850" cy="4762500"/>
          </a:xfrm>
          <a:prstGeom prst="roundRect">
            <a:avLst>
              <a:gd name="adj" fmla="val 5109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648075" y="1466850"/>
            <a:ext cx="2114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D2939"/>
                </a:solidFill>
                <a:latin typeface="PingFang SC"/>
                <a:ea typeface="PingFang SC"/>
              </a:rPr>
              <a:t>② </a:t>
            </a:r>
            <a:r>
              <a:rPr lang="zh-CN" sz="1800" b="1">
                <a:solidFill>
                  <a:srgbClr val="1D2939"/>
                </a:solidFill>
                <a:latin typeface="PingFang SC"/>
                <a:ea typeface="PingFang SC"/>
              </a:rPr>
              <a:t>定投规则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648075" y="1876425"/>
            <a:ext cx="21145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C0392B"/>
                </a:solidFill>
                <a:latin typeface="PingFang SC"/>
                <a:ea typeface="PingFang SC"/>
              </a:rPr>
              <a:t>每月首个交易日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按收盘价买入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每期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¥10,000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雷打不动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2016.08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首期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→ 2026.07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末期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648075" y="55435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不择时、不预测，只执行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181725" y="1219200"/>
            <a:ext cx="2619375" cy="4762500"/>
          </a:xfrm>
          <a:prstGeom prst="roundRect">
            <a:avLst>
              <a:gd name="adj" fmla="val 5091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429375" y="1466850"/>
            <a:ext cx="2124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D2939"/>
                </a:solidFill>
                <a:latin typeface="PingFang SC"/>
                <a:ea typeface="PingFang SC"/>
              </a:rPr>
              <a:t>③ </a:t>
            </a:r>
            <a:r>
              <a:rPr lang="zh-CN" sz="1800" b="1">
                <a:solidFill>
                  <a:srgbClr val="1D2939"/>
                </a:solidFill>
                <a:latin typeface="PingFang SC"/>
                <a:ea typeface="PingFang SC"/>
              </a:rPr>
              <a:t>区间与投入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29375" y="1876425"/>
            <a:ext cx="2124075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120</a:t>
            </a:r>
            <a:r>
              <a:rPr lang="en-US" sz="1500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500">
                <a:solidFill>
                  <a:srgbClr val="1A1A1A"/>
                </a:solidFill>
                <a:latin typeface="PingFang SC"/>
                <a:ea typeface="PingFang SC"/>
              </a:rPr>
              <a:t>期</a:t>
            </a:r>
            <a:r>
              <a:rPr lang="en-US" sz="1500">
                <a:solidFill>
                  <a:srgbClr val="1A1A1A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1A1A1A"/>
                </a:solidFill>
                <a:latin typeface="PingFang SC"/>
                <a:ea typeface="PingFang SC"/>
              </a:rPr>
              <a:t>整</a:t>
            </a:r>
            <a:r>
              <a:rPr lang="en-US" sz="1500">
                <a:solidFill>
                  <a:srgbClr val="1A1A1A"/>
                </a:solidFill>
                <a:latin typeface="PingFang SC"/>
                <a:ea typeface="PingFang SC"/>
              </a:rPr>
              <a:t> 10 </a:t>
            </a:r>
            <a:r>
              <a:rPr lang="zh-CN" sz="1500">
                <a:solidFill>
                  <a:srgbClr val="1A1A1A"/>
                </a:solidFill>
                <a:latin typeface="PingFang SC"/>
                <a:ea typeface="PingFang SC"/>
              </a:rPr>
              <a:t>年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29375" y="2733675"/>
            <a:ext cx="2124075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累计投入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350" b="1">
                <a:solidFill>
                  <a:srgbClr val="C0392B"/>
                </a:solidFill>
                <a:latin typeface="PingFang SC"/>
                <a:ea typeface="PingFang SC"/>
              </a:rPr>
              <a:t>¥1,200,000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29375" y="55435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2016.08 - 2026.07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完整十年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972550" y="1219200"/>
            <a:ext cx="2609850" cy="4762500"/>
          </a:xfrm>
          <a:prstGeom prst="roundRect">
            <a:avLst>
              <a:gd name="adj" fmla="val 5109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20200" y="1466850"/>
            <a:ext cx="2114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D2939"/>
                </a:solidFill>
                <a:latin typeface="PingFang SC"/>
                <a:ea typeface="PingFang SC"/>
              </a:rPr>
              <a:t>④ </a:t>
            </a:r>
            <a:r>
              <a:rPr lang="zh-CN" sz="1800" b="1">
                <a:solidFill>
                  <a:srgbClr val="1D2939"/>
                </a:solidFill>
                <a:latin typeface="PingFang SC"/>
                <a:ea typeface="PingFang SC"/>
              </a:rPr>
              <a:t>收益口径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20200" y="1876425"/>
            <a:ext cx="21145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= 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XIRR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（资金时间价值口径）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每笔定投按实际投入时点计息</a:t>
            </a:r>
            <a:endParaRPr/>
          </a:p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C0392B"/>
                </a:solidFill>
                <a:latin typeface="PingFang SC"/>
                <a:ea typeface="PingFang SC"/>
              </a:rPr>
              <a:t>未计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申购费、赎回费与税费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20200" y="55435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口径透明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结果可交叉验证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172075" y="61531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7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总账：四个指数全部盈利&lt;/Text&gt;&#10;    &lt;Text style={{ fontSize: 14, color: '#6B7686' }}&gt;120 期 · ¥120 万 · 2016.08-2026.07&lt;/Text&gt;&#10;  &lt;/Box&gt;&#10;&#10;  &lt;Box style={{ height: 220, flexDirection: 'row', alignItems: 'center', gap: 40 }}&gt;&#10;    &lt;Box style={{ flex: 1 }}&gt;&#10;      &lt;Text style={{ fontSize: 20, color: '#6B7686' }}&gt;收益最高的红利低波&lt;/Text&gt;&#10;      &lt;Text style={{ fontSize: 92, fontWeight: 'bold', color: '#C0392B', lineHeight: 1.1 }}&gt;+63.9%&lt;/Text&gt;&#10;      &lt;Text style={{ fontSize: 18, color: '#3B4A5C', marginTop: 8 }}&gt;¥120 万 → &lt;b&gt;¥1,967,153&lt;/b&gt;（年化 9.56%）&lt;/Text&gt;&#10;    &lt;/Box&gt;&#10;    &lt;Box style={{ flex: 2 }}&gt;&#10;      &lt;Table&#10;        style={{ width: '100%', height: 180 }}&#10;        defaultTextStyle={{ fontSize: 16, textAlign: 'center', color: '#1A1A1A' }}&#10;        defaultCellStyle={{ border: { left: { width: 1, color: '#E3E8EF' }, right: { width: 1, color: '#E3E8EF' }, top: { width: 1, color: '#E3E8EF' }, bottom: { width: 1, color: '#E3E8EF' } }, padding: 10 }}&#10;        cells={[&#10;          [&#10;            { text: '指数', textStyle: { bold: true, color: '#FFFFFF' }, cellStyle: { background: { color: '#1D2939' } } },&#10;            { text: '终值', textStyle: { bold: true, color: '#FFFFFF' }, cellStyle: { background: { color: '#1D2939' } } },&#10;            { text: '总收益', textStyle: { bold: true, color: '#FFFFFF' }, cellStyle: { background: { color: '#1D2939' } } },&#10;            { text: '年化(XIRR)', textStyle: { bold: true, color: '#FFFFFF' }, cellStyle: { background: { color: '#1D2939' } } },&#10;          ],&#10;          [&#10;            { text: '红利低波', textStyle: { bold: true } },&#10;            { text: '¥1,967,153', textStyle: { bold: true, color: '#C0392B' } },&#10;            { text: '+63.9%', textStyle: { bold: true, color: '#C0392B' } },&#10;            { text: '9.56%', textStyle: { bold: true, color: '#C0392B' } },&#10;          ],&#10;          [&#10;            { text: '红利低波100' },&#10;            { text: '¥1,848,858', textStyle: { color: '#C0392B' } },&#10;            { text: '+54.1%', textStyle: { color: '#C0392B' } },&#10;            { text: '8.39%', textStyle: { color: '#C0392B' } },&#10;          ],&#10;          [&#10;            { text: '上证红利' },&#10;            { text: '¥1,837,767', textStyle: { color: '#C0392B' } },&#10;            { text: '+53.1%', textStyle: { color: '#C0392B' } },&#10;            { text: '8.27%', textStyle: { color: '#C0392B' } },&#10;          ],&#10;          [&#10;            { text: '中证红利' },&#10;            { text: '¥1,834,922', textStyle: { color: '#C0392B' } },&#10;            { text: '+52.9%', textStyle: { color: '#C0392B' } },&#10;            { text: '8.24%', textStyle: { color: '#C0392B' } },&#10;          ],&#10;        ]}&#10;      /&gt;&#10;    &lt;/Box&gt;&#10;  &lt;/Box&gt;&#10;&#10;  &lt;Box style={{ height: 280, marginTop: 16, flexDirection: 'row', gap: 18 }}&gt;&#10;    &lt;Box style={{ flex: 1, background: '#EEF2F7', borderRadius: 14, padding: 24 }}&gt;&#10;      &lt;Text style={{ fontSize: 22, fontWeight: 'bold', color: '#1D2939' }}&gt;🏆 红利低波收益最高&lt;/Text&gt;&#10;      &lt;Text style={{ fontSize: 18, color: '#3B4A5C', lineHeight: 1.7, marginTop: 12 }}&gt;&#10;        高股息 + 低波动双因子，10 年多赚约 &lt;b&gt;¥13 万&lt;/b&gt;（vs 四指数均值）。波动更小、持有体验更好，是定投的最优选择。&#10;      &lt;/Text&gt;&#10;    &lt;/Box&gt;&#10;    &lt;Box style={{ flex: 1, background: '#EEF2F7', borderRadius: 14, padding: 24 }}&gt;&#10;      &lt;Text style={{ fontSize: 22, fontWeight: 'bold', color: '#1D2939' }}&gt;🛡 红利低波100 回撤最小&lt;/Text&gt;&#10;      &lt;Text style={{ fontSize: 18, color: '#3B4A5C', lineHeight: 1.7, marginTop: 12 }}&gt;&#10;        100 只成分更分散，组合最大回撤仅 &lt;b&gt;-11.53%&lt;/b&gt;，收益与红利低波接近，风险更平滑。&#10;      &lt;/Text&gt;&#10;    &lt;/Box&gt;&#10;    &lt;Box style={{ flex: 1, background: '#EEF2F7', borderRadius: 14, padding: 24 }}&gt;&#10;      &lt;Text style={{ fontSize: 22, fontWeight: 'bold', color: '#1D2939' }}&gt;📈 年化 8.2%+ 意味着什么&lt;/Text&gt;&#10;      &lt;Text style={{ fontSize: 18, color: '#3B4A5C', lineHeight: 1.7, marginTop: 12 }}&gt;&#10;        最低也跑赢银行理财与十年国债（约 1.7%），且含每年 4%+ 的现金分红现金流。&#10;      &lt;/Text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总账：四个指数全部盈利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401175" y="59055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120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期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¥120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万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2016.08-2026.07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3533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B7686"/>
                </a:solidFill>
                <a:latin typeface="PingFang SC"/>
                <a:ea typeface="PingFang SC"/>
              </a:rPr>
              <a:t>收益最高的红利低波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1581150"/>
            <a:ext cx="3533775" cy="1162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6900" b="1">
                <a:solidFill>
                  <a:srgbClr val="C0392B"/>
                </a:solidFill>
                <a:latin typeface="PingFang SC"/>
                <a:ea typeface="PingFang SC"/>
              </a:rPr>
              <a:t>+63.9%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2819400"/>
            <a:ext cx="3533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¥120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万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→ 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¥1,967,153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（年化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9.56%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graphicFrame>
        <p:nvGraphicFramePr>
          <p:cNvPr id="74" name=""/>
          <p:cNvGraphicFramePr/>
          <p:nvPr/>
        </p:nvGraphicFramePr>
        <p:xfrm rot="0" flipH="0" flipV="0">
          <a:off x="4524375" y="1333500"/>
          <a:ext cx="7058025" cy="1714500"/>
        </p:xfrm>
        <a:graphic>
          <a:graphicData uri="http://schemas.openxmlformats.org/drawingml/2006/table">
            <a:tbl>
              <a:tblGrid>
                <a:gridCol w="1976401">
                  <a:extLst>
                    <a:ext uri="{9D8B030D-6E8A-4147-A177-3AD203B41FA5}">
                      <a16:colId val="1"/>
                    </a:ext>
                  </a:extLst>
                </a:gridCol>
                <a:gridCol w="1899348">
                  <a:extLst>
                    <a:ext uri="{9D8B030D-6E8A-4147-A177-3AD203B41FA5}">
                      <a16:colId val="2"/>
                    </a:ext>
                  </a:extLst>
                </a:gridCol>
                <a:gridCol w="1379243">
                  <a:extLst>
                    <a:ext uri="{9D8B030D-6E8A-4147-A177-3AD203B41FA5}">
                      <a16:colId val="3"/>
                    </a:ext>
                  </a:extLst>
                </a:gridCol>
                <a:gridCol w="180303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429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终值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年化(XIRR)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429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¥1,967,153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+63.9%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9.56%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429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¥1,848,858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+54.1%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8.39%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429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上证红利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¥1,837,767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+53.1%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8.27%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429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中证红利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¥1,834,922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+52.9%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8.24%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75" name=""/>
          <p:cNvSpPr/>
          <p:nvPr/>
        </p:nvSpPr>
        <p:spPr>
          <a:xfrm rot="0" flipH="0" flipV="0">
            <a:off x="609600" y="3390900"/>
            <a:ext cx="3543300" cy="2667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36195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🏆 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红利低波收益最高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990975"/>
            <a:ext cx="3086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高股息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+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低波动双因子，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10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年多赚约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¥13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万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vs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四指数均值）。波动更小、持有体验更好，是定投的最优选择。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324350" y="3390900"/>
            <a:ext cx="3543300" cy="2667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52950" y="36195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🛡 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100 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回撤最小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552950" y="3990975"/>
            <a:ext cx="3086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100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只成分更分散，组合最大回撤仅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-11.53%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，收益与红利低波接近，风险更平滑。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8039100" y="3390900"/>
            <a:ext cx="3543300" cy="2667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67700" y="36195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📈 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年化</a:t>
            </a: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 8.2%+ 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意味着什么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67700" y="3990975"/>
            <a:ext cx="3086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最低也跑赢银行理财与十年国债（约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1.7%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），且含每年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4%+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的现金分红现金流。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172075" y="62293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红利低波：10 年定投的最佳答案&lt;/Text&gt;&#10;    &lt;Text style={{ fontSize: 14, color: '#6B7686' }}&gt;H20269 · 沪深 50 只高股息+低波动成分&lt;/Text&gt;&#10;  &lt;/Box&gt;&#10;&#10;  &lt;Box style={{ height: 500, marginTop: 8, flexDirection: 'row', gap: 18 }}&gt;&#10;    &lt;Box style={{ flex: 1.15, background: 'linear-gradient(135deg,#2B3A4A 0%,#1D2939 80%)', borderRadius: 16, padding: 34, justifyContent: 'space-between' }}&gt;&#10;      &lt;Text style={{ fontSize: 20, color: '#8FA0B5' }}&gt;累计投入&lt;/Text&gt;&#10;      &lt;Text style={{ fontSize: 30, fontWeight: 'bold', color: '#FFFFFF' }}&gt;¥1,200,000&lt;/Text&gt;&#10;      &lt;Box style={{ flexDirection: 'row', alignItems: 'flex-end', gap: 10 }}&gt;&#10;        &lt;Text style={{ fontSize: 20, color: '#8FA0B5', marginBottom: 12 }}&gt;→&lt;/Text&gt;&#10;        &lt;Text style={{ fontSize: 66, fontWeight: 'bold', color: '#FF6B5E', lineHeight: 1 }}&gt;¥196.7万&lt;/Text&gt;&#10;      &lt;/Box&gt;&#10;      &lt;Text style={{ fontSize: 18, color: '#FFB37A', fontWeight: 600 }}&gt;+63.9% · 年化 9.56%&lt;/Text&gt;&#10;      &lt;Text style={{ fontSize: 16, color: '#8FA0B5', lineHeight: 1.6, marginTop: 8 }}&gt;&#10;        红利再投资 + 跌时定投买更多份额，份额越滚越多。一半收益来自低点坚持买入积累的份额。&#10;      &lt;/Text&gt;&#10;    &lt;/Box&gt;&#10;&#10;    &lt;Box style={{ flex: 1, flexDirection: 'column', gap: 16 }}&gt;&#10;      &lt;Box style={{ flex: 1, background: '#EEF2F7', borderRadius: 14, padding: 22 }}&gt;&#10;        &lt;Text style={{ fontSize: 22, fontWeight: 'bold', color: '#1D2939' }}&gt;为什么是它&lt;/Text&gt;&#10;        &lt;Text style={{ fontSize: 17, color: '#3B4A5C', lineHeight: 1.7, marginTop: 10 }}&gt;&#10;          ① 高股息：当前股息率 &lt;span style={{ fontWeight: 'bold', color: '#C0392B' }}&gt;4.72%&lt;/span&gt;（四指数最高）&#10;          &lt;br /&gt;&#10;          ② 低波动：回撤更浅，-14.79%，持有体验好&#10;          &lt;br /&gt;&#10;          ③ 双因子：收益不输纯红利，防御更强&#10;        &lt;/Text&gt;&#10;      &lt;/Box&gt;&#10;      &lt;Box style={{ flex: 1, background: '#EEF2F7', borderRadius: 14, padding: 22 }}&gt;&#10;        &lt;Text style={{ fontSize: 22, fontWeight: 'bold', color: '#1D2939' }}&gt;场外可定投&lt;/Text&gt;&#10;        &lt;Text style={{ fontSize: 17, color: '#3B4A5C', lineHeight: 1.7, marginTop: 10 }}&gt;&#10;          华泰柏瑞中证红利低波动ETF联接&#10;          &lt;br /&gt;&#10;          A类 &lt;b&gt;007466&lt;/b&gt; / C类 &lt;b&gt;007467&lt;/b&gt;&#10;          &lt;br /&gt;&#10;          &lt;span style={{ color: '#6B7686', fontSize: 15 }}&gt;长期定投选 A 类更省，短线选 C 类&lt;/span&gt;&#10;        &lt;/Text&gt;&#10;      &lt;/Box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4714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红利低波：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10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年定投的最佳答案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72575" y="5905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H20269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沪深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50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只高股息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+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低波动成分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1219200"/>
            <a:ext cx="5781675" cy="4762500"/>
          </a:xfrm>
          <a:prstGeom prst="roundRect">
            <a:avLst>
              <a:gd name="adj" fmla="val 3200"/>
            </a:avLst>
          </a:prstGeom>
          <a:gradFill>
            <a:gsLst>
              <a:gs pos="0">
                <a:srgbClr val="2B3A4A"/>
              </a:gs>
              <a:gs pos="80000">
                <a:srgbClr val="1D293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33450" y="1543050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0B5"/>
                </a:solidFill>
                <a:latin typeface="PingFang SC"/>
                <a:ea typeface="PingFang SC"/>
              </a:rPr>
              <a:t>累计投入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33450" y="2247900"/>
            <a:ext cx="5133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PingFang SC"/>
                <a:ea typeface="PingFang SC"/>
              </a:rPr>
              <a:t>¥1,200,000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33450" y="34861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8FA0B5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219200" y="3067050"/>
            <a:ext cx="27527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F6B5E"/>
                </a:solidFill>
                <a:latin typeface="PingFang SC"/>
                <a:ea typeface="PingFang SC"/>
              </a:rPr>
              <a:t>¥196.7</a:t>
            </a:r>
            <a:r>
              <a:rPr lang="zh-CN" sz="4950" b="1">
                <a:solidFill>
                  <a:srgbClr val="FF6B5E"/>
                </a:solidFill>
                <a:latin typeface="PingFang SC"/>
                <a:ea typeface="PingFang SC"/>
              </a:rPr>
              <a:t>万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33450" y="4305300"/>
            <a:ext cx="5133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B37A"/>
                </a:solidFill>
                <a:latin typeface="PingFang SC"/>
                <a:ea typeface="PingFang SC"/>
              </a:rPr>
              <a:t>+63.9% · </a:t>
            </a:r>
            <a:r>
              <a:rPr lang="zh-CN" sz="1350" b="1">
                <a:solidFill>
                  <a:srgbClr val="FFB37A"/>
                </a:solidFill>
                <a:latin typeface="PingFang SC"/>
                <a:ea typeface="PingFang SC"/>
              </a:rPr>
              <a:t>年化</a:t>
            </a:r>
            <a:r>
              <a:rPr lang="en-US" sz="1350" b="1">
                <a:solidFill>
                  <a:srgbClr val="FFB37A"/>
                </a:solidFill>
                <a:latin typeface="PingFang SC"/>
                <a:ea typeface="PingFang SC"/>
              </a:rPr>
              <a:t> 9.56%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33450" y="5067300"/>
            <a:ext cx="51339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红利再投资</a:t>
            </a:r>
            <a:r>
              <a:rPr lang="en-US" sz="1200">
                <a:solidFill>
                  <a:srgbClr val="8FA0B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跌时定投买更多份额，份额越滚越多。一半收益来自低点坚持买入积累的份额。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562725" y="1219200"/>
            <a:ext cx="5019675" cy="2333625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772275" y="1428750"/>
            <a:ext cx="460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为什么是它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772275" y="1781175"/>
            <a:ext cx="4600575" cy="1000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①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高股息：当前股息率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275" b="1">
                <a:solidFill>
                  <a:srgbClr val="C0392B"/>
                </a:solidFill>
                <a:latin typeface="PingFang SC"/>
                <a:ea typeface="PingFang SC"/>
              </a:rPr>
              <a:t>4.72%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（四指数最高）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②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低波动：回撤更浅，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-14.79%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，持有体验好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③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双因子：收益不输纯红利，防御更强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562725" y="3705225"/>
            <a:ext cx="5019675" cy="2276475"/>
          </a:xfrm>
          <a:prstGeom prst="roundRect">
            <a:avLst>
              <a:gd name="adj" fmla="val 5858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772275" y="3914775"/>
            <a:ext cx="460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场外可定投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772275" y="4267200"/>
            <a:ext cx="4600575" cy="952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华泰柏瑞中证红利低波动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ETF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联接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A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类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007466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/ C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类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007467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长期定投选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A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类更省，短线选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C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类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172075" y="61531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3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真实回撤：你会实际浮亏多少、亏多久&lt;/Text&gt;&#10;    &lt;Text style={{ fontSize: 14, color: '#6B7686' }}&gt;组合市值口径 = 定投者的真实体验&lt;/Text&gt;&#10;  &lt;/Box&gt;&#10;&#10;  &lt;Box style={{ height: 300, marginTop: 8 }}&gt;&#10;    &lt;Table&#10;      style={{ width: '100%', height: 280 }}&#10;      defaultTextStyle={{ fontSize: 16, textAlign: 'center', color: '#1A1A1A' }}&#10;      defaultCellStyle={{ border: { left: { width: 1, color: '#E3E8EF' }, right: { width: 1, color: '#E3E8EF' }, top: { width: 1, color: '#E3E8EF' }, bottom: { width: 1, color: '#E3E8EF' } }, padding: 10 }}&#10;      cells={[&#10;        [&#10;          { text: '指数', textStyle: { bold: true, color: '#FFFFFF' }, cellStyle: { background: { color: '#1D2939' } } },&#10;          { text: '最大回撤', textStyle: { bold: true, color: '#FFFFFF' }, cellStyle: { background: { color: '#1D2939' } } },&#10;          { text: '峰值日期', textStyle: { bold: true, color: '#FFFFFF' }, cellStyle: { background: { color: '#1D2939' } } },&#10;          { text: '谷底日期', textStyle: { bold: true, color: '#FFFFFF' }, cellStyle: { background: { color: '#1D2939' } } },&#10;          { text: '最大浮亏', textStyle: { bold: true, color: '#FFFFFF' }, cellStyle: { background: { color: '#1D2939' } } },&#10;          { text: '收复耗时', textStyle: { bold: true, color: '#FFFFFF' }, cellStyle: { background: { color: '#1D2939' } } },&#10;        ],&#10;        [&#10;          { text: '红利低波', textStyle: { bold: true } },&#10;          { text: '-14.79%' },&#10;          { text: '2021-09-13' },&#10;          { text: '2021-11-10' },&#10;          { text: '-¥129,309', textStyle: { color: '#C0392B', bold: true } },&#10;          { text: '约 5 个月' },&#10;        ],&#10;        [&#10;          { text: '红利低波100' },&#10;          { text: '-11.53%' },&#10;          { text: '2020-01-07' },&#10;          { text: '2020-02-03' },&#10;          { text: '-¥52,411', textStyle: { color: '#C0392B', bold: true } },&#10;          { text: '约 5 个月' },&#10;        ],&#10;        [&#10;          { text: '上证红利' },&#10;          { text: '-17.06%' },&#10;          { text: '2021-09-13' },&#10;          { text: '2021-11-10' },&#10;          { text: '-¥149,055', textStyle: { color: '#C0392B', bold: true } },&#10;          { text: '约 7 个月' },&#10;        ],&#10;        [&#10;          { text: '中证红利' },&#10;          { text: '-13.40%' },&#10;          { text: '2020-03-05' },&#10;          { text: '2020-03-23' },&#10;          { text: '-¥65,173', textStyle: { color: '#C0392B', bold: true } },&#10;          { text: '约 3.5 个月' },&#10;        ],&#10;      ]}&#10;    /&gt;&#10;  &lt;/Box&gt;&#10;&#10;  &lt;Box style={{ height: 220, marginTop: 16, flexDirection: 'row', gap: 18 }}&gt;&#10;    &lt;Box style={{ flex: 1, background: '#EEF2F7', borderRadius: 14, padding: 22, justifyContent: 'space-between' }}&gt;&#10;      &lt;Text style={{ fontSize: 22, fontWeight: 'bold', color: '#1D2939' }}&gt;浮亏区间&lt;/Text&gt;&#10;      &lt;Text style={{ fontSize: 44, fontWeight: 'bold', color: '#C0392B' }}&gt;¥5.2万 ~ 14.9万&lt;/Text&gt;&#10;      &lt;Text style={{ fontSize: 16, color: '#3B4A5C', lineHeight: 1.6 }}&gt;最深的坑在 2018 熊市（指数口径 -23%~-27%）与 2021.09-11 红利回落&lt;/Text&gt;&#10;    &lt;/Box&gt;&#10;    &lt;Box style={{ flex: 1, background: '#EEF2F7', borderRadius: 14, padding: 22, justifyContent: 'space-between' }}&gt;&#10;      &lt;Text style={{ fontSize: 22, fontWeight: 'bold', color: '#1D2939' }}&gt;收复时间&lt;/Text&gt;&#10;      &lt;Text style={{ fontSize: 44, fontWeight: 'bold', color: '#C0392B' }}&gt;3 ~ 7 个月&lt;/Text&gt;&#10;      &lt;Text style={{ fontSize: 16, color: '#3B4A5C', lineHeight: 1.6 }}&gt;定投持续买入摊低成本，把坑填浅了一大半——回撤是策略固有属性，不是 bug&lt;/Text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真实回撤：你会实际浮亏多少、亏多久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534525" y="5905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组合市值口径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=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定投者的真实体验</a:t>
            </a:r>
            <a:endParaRPr/>
          </a:p>
        </p:txBody>
      </p:sp>
      <p:graphicFrame>
        <p:nvGraphicFramePr>
          <p:cNvPr id="107" name=""/>
          <p:cNvGraphicFramePr/>
          <p:nvPr/>
        </p:nvGraphicFramePr>
        <p:xfrm rot="0" flipH="0" flipV="0">
          <a:off x="609600" y="1219200"/>
          <a:ext cx="10972800" cy="2667000"/>
        </p:xfrm>
        <a:graphic>
          <a:graphicData uri="http://schemas.openxmlformats.org/drawingml/2006/table">
            <a:tbl>
              <a:tblGrid>
                <a:gridCol w="2029948">
                  <a:extLst>
                    <a:ext uri="{9D8B030D-6E8A-4147-A177-3AD203B41FA5}">
                      <a16:colId val="1"/>
                    </a:ext>
                  </a:extLst>
                </a:gridCol>
                <a:gridCol w="1456181">
                  <a:extLst>
                    <a:ext uri="{9D8B030D-6E8A-4147-A177-3AD203B41FA5}">
                      <a16:colId val="2"/>
                    </a:ext>
                  </a:extLst>
                </a:gridCol>
                <a:gridCol w="1950808">
                  <a:extLst>
                    <a:ext uri="{9D8B030D-6E8A-4147-A177-3AD203B41FA5}">
                      <a16:colId val="3"/>
                    </a:ext>
                  </a:extLst>
                </a:gridCol>
                <a:gridCol w="1950808">
                  <a:extLst>
                    <a:ext uri="{9D8B030D-6E8A-4147-A177-3AD203B41FA5}">
                      <a16:colId val="4"/>
                    </a:ext>
                  </a:extLst>
                </a:gridCol>
                <a:gridCol w="1792527">
                  <a:extLst>
                    <a:ext uri="{9D8B030D-6E8A-4147-A177-3AD203B41FA5}">
                      <a16:colId val="5"/>
                    </a:ext>
                  </a:extLst>
                </a:gridCol>
                <a:gridCol w="179252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峰值日期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谷底日期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最大浮亏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收复耗时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-14.79%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2021-09-13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2021-11-10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-¥129,309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约 5 个月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-11.53%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2020-01-07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2020-02-03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-¥52,411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约 5 个月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上证红利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-17.06%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2021-09-13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2021-11-10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-¥149,055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约 7 个月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中证红利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-13.40%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2020-03-05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2020-03-23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-¥65,173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约 3.5 个月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 rot="0" flipH="0" flipV="0">
            <a:off x="609600" y="4229100"/>
            <a:ext cx="5400675" cy="2095500"/>
          </a:xfrm>
          <a:prstGeom prst="roundRect">
            <a:avLst>
              <a:gd name="adj" fmla="val 636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9150" y="4438650"/>
            <a:ext cx="4981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浮亏区间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9150" y="4857750"/>
            <a:ext cx="49815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¥5.2</a:t>
            </a:r>
            <a:r>
              <a:rPr lang="zh-CN" sz="3300" b="1">
                <a:solidFill>
                  <a:srgbClr val="C0392B"/>
                </a:solidFill>
                <a:latin typeface="PingFang SC"/>
                <a:ea typeface="PingFang SC"/>
              </a:rPr>
              <a:t>万</a:t>
            </a: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 ~ 14.9</a:t>
            </a:r>
            <a:r>
              <a:rPr lang="zh-CN" sz="3300" b="1">
                <a:solidFill>
                  <a:srgbClr val="C0392B"/>
                </a:solidFill>
                <a:latin typeface="PingFang SC"/>
                <a:ea typeface="PingFang SC"/>
              </a:rPr>
              <a:t>万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4981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最深的坑在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2018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熊市（指数口径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-23%~-27%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）与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2021.09-11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红利回落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181725" y="4229100"/>
            <a:ext cx="5400675" cy="2095500"/>
          </a:xfrm>
          <a:prstGeom prst="roundRect">
            <a:avLst>
              <a:gd name="adj" fmla="val 636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91275" y="4438650"/>
            <a:ext cx="4981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收复时间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91275" y="4857750"/>
            <a:ext cx="49815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3 ~ 7 </a:t>
            </a:r>
            <a:r>
              <a:rPr lang="zh-CN" sz="3300" b="1">
                <a:solidFill>
                  <a:srgbClr val="C0392B"/>
                </a:solidFill>
                <a:latin typeface="PingFang SC"/>
                <a:ea typeface="PingFang SC"/>
              </a:rPr>
              <a:t>个月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391275" y="5524500"/>
            <a:ext cx="4981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定投持续买入摊低成本，把坑填浅了一大半——回撤是策略固有属性，不是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bug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172075" y="64960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一次真实的浮亏：2021 年 9-11 月&lt;/Text&gt;&#10;    &lt;Text style={{ fontSize: 14, color: '#6B7686' }}&gt;红利行情阶段性回落 · 定投者实际体验&lt;/Text&gt;&#10;  &lt;/Box&gt;&#10;&#10;  &lt;Box style={{ height: 460, marginTop: 12, flexDirection: 'row', gap: 18 }}&gt;&#10;    &lt;Box style={{ flex: 1.2, background: '#EEF2F7', borderRadius: 14, padding: 28 }}&gt;&#10;      &lt;Text style={{ fontSize: 22, fontWeight: 'bold', color: '#1D2939', marginBottom: 18 }}&gt;时间轴&lt;/Text&gt;&#10;      &lt;Box style={{ flexDirection: 'row', alignItems: 'center', justifyContent: 'space-between', marginTop: 8 }}&gt;&#10;        &lt;Box style={{ flex: 1, alignItems: 'center' }}&gt;&#10;          &lt;Box style={{ width: 18, height: 18, borderRadius: 9, background: '#C0392B' }} /&gt;&#10;          &lt;Text style={{ fontSize: 17, fontWeight: 'bold', color: '#1D2939', marginTop: 10 }}&gt;2021-09-13&lt;/Text&gt;&#10;          &lt;Text style={{ fontSize: 15, color: '#6B7686' }}&gt;组合峰值&lt;/Text&gt;&#10;        &lt;/Box&gt;&#10;        &lt;Box style={{ flex: 1.6, height: 3, background: '#C0392B', opacity: 0.35 }} /&gt;&#10;        &lt;Box style={{ flex: 1, alignItems: 'center' }}&gt;&#10;          &lt;Box style={{ width: 18, height: 18, borderRadius: 9, background: '#1D2939' }} /&gt;&#10;          &lt;Text style={{ fontSize: 17, fontWeight: 'bold', color: '#1D2939', marginTop: 10 }}&gt;2021-11-10&lt;/Text&gt;&#10;          &lt;Text style={{ fontSize: 15, color: '#6B7686' }}&gt;谷底 · 浮亏最大&lt;/Text&gt;&#10;        &lt;/Box&gt;&#10;        &lt;Box style={{ flex: 1.6, height: 3, background: '#1D2939', opacity: 0.35 }} /&gt;&#10;        &lt;Box style={{ flex: 1, alignItems: 'center' }}&gt;&#10;          &lt;Box style={{ width: 18, height: 18, borderRadius: 9, background: '#27AE60' }} /&gt;&#10;          &lt;Text style={{ fontSize: 17, fontWeight: 'bold', color: '#1D2939', marginTop: 10 }}&gt;2022-02-08&lt;/Text&gt;&#10;          &lt;Text style={{ fontSize: 15, color: '#6B7686' }}&gt;收复峰值&lt;/Text&gt;&#10;        &lt;/Box&gt;&#10;      &lt;/Box&gt;&#10;      &lt;Text style={{ fontSize: 16, color: '#6B7686', lineHeight: 1.7, marginTop: 30 }}&gt;&#10;        期间每月继续定投 ¥10,000 —— 正是这些&quot;下跌时的买入&quot;，让组合更快收复失地。&#10;      &lt;/Text&gt;&#10;    &lt;/Box&gt;&#10;&#10;    &lt;Box style={{ flex: 1, flexDirection: 'column', gap: 16 }}&gt;&#10;      &lt;Box style={{ flex: 1, background: '#EEF2F7', borderRadius: 14, padding: 22 }}&gt;&#10;        &lt;Text style={{ fontSize: 20, color: '#6B7686' }}&gt;红利低波&lt;/Text&gt;&#10;        &lt;Text style={{ fontSize: 38, fontWeight: 'bold', color: '#C0392B' }}&gt;-¥129,309&lt;/Text&gt;&#10;        &lt;Text style={{ fontSize: 15, color: '#6B7686' }}&gt;-14.79% · 2022-02-08 收复&lt;/Text&gt;&#10;      &lt;/Box&gt;&#10;      &lt;Box style={{ flex: 1, background: '#EEF2F7', borderRadius: 14, padding: 22 }}&gt;&#10;        &lt;Text style={{ fontSize: 20, color: '#6B7686' }}&gt;上证红利（同期最深）&lt;/Text&gt;&#10;        &lt;Text style={{ fontSize: 38, fontWeight: 'bold', color: '#C0392B' }}&gt;-¥149,055&lt;/Text&gt;&#10;        &lt;Text style={{ fontSize: 15, color: '#6B7686' }}&gt;-17.06% · 2022-04-06 收复&lt;/Text&gt;&#10;      &lt;/Box&gt;&#10;      &lt;Box style={{ flex: 1, background: '#FFF5F3', borderRadius: 14, padding: 22, border: '1px solid #F2D0CB' }}&gt;&#10;        &lt;Text style={{ fontSize: 17, color: '#8C2F28', lineHeight: 1.7, fontWeight: 600 }}&gt;&#10;          💡 此刻的选择决定收益：停止定投 = 把浮亏变实亏；继续定投 = 把坑填浅一半&#10;        &lt;/Text&gt;&#10;      &lt;/Box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一次真实的浮亏：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2021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年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9-11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月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334500" y="59055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红利行情阶段性回落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定投者实际体验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1257300"/>
            <a:ext cx="5895975" cy="438150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76300" y="1524000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时间轴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1228725" y="2114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2939"/>
                </a:solidFill>
                <a:latin typeface="PingFang SC"/>
                <a:ea typeface="PingFang SC"/>
              </a:rPr>
              <a:t>2021-09-13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28700" y="2581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组合峰值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476625" y="20288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086100" y="2295525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2939"/>
                </a:solidFill>
                <a:latin typeface="PingFang SC"/>
                <a:ea typeface="PingFang SC"/>
              </a:rPr>
              <a:t>2021-11-10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24200" y="2495550"/>
            <a:ext cx="8667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谷底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浮亏最大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724525" y="2114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334000" y="2381250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2939"/>
                </a:solidFill>
                <a:latin typeface="PingFang SC"/>
                <a:ea typeface="PingFang SC"/>
              </a:rPr>
              <a:t>2022-02-08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524500" y="2581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收复峰值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76300" y="3124200"/>
            <a:ext cx="53625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期间每月继续定投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¥10,000 ——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正是这些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下跌时的买入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，让组合更快收复失地。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677025" y="1257300"/>
            <a:ext cx="4905375" cy="1419225"/>
          </a:xfrm>
          <a:prstGeom prst="roundRect">
            <a:avLst>
              <a:gd name="adj" fmla="val 9396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886575" y="1466850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B7686"/>
                </a:solidFill>
                <a:latin typeface="PingFang SC"/>
                <a:ea typeface="PingFang SC"/>
              </a:rPr>
              <a:t>红利低波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86575" y="1695450"/>
            <a:ext cx="44862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C0392B"/>
                </a:solidFill>
                <a:latin typeface="PingFang SC"/>
                <a:ea typeface="PingFang SC"/>
              </a:rPr>
              <a:t>-¥129,309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86575" y="2133600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-14.79% · 2022-02-08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收复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677025" y="2828925"/>
            <a:ext cx="4905375" cy="1409700"/>
          </a:xfrm>
          <a:prstGeom prst="roundRect">
            <a:avLst>
              <a:gd name="adj" fmla="val 9459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86575" y="3038475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B7686"/>
                </a:solidFill>
                <a:latin typeface="PingFang SC"/>
                <a:ea typeface="PingFang SC"/>
              </a:rPr>
              <a:t>上证红利（同期最深）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86575" y="3267075"/>
            <a:ext cx="44862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C0392B"/>
                </a:solidFill>
                <a:latin typeface="PingFang SC"/>
                <a:ea typeface="PingFang SC"/>
              </a:rPr>
              <a:t>-¥149,055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86575" y="37052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-17.06% · 2022-04-06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收复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677025" y="4391025"/>
            <a:ext cx="4905375" cy="1247775"/>
          </a:xfrm>
          <a:prstGeom prst="roundRect">
            <a:avLst>
              <a:gd name="adj" fmla="val 10687"/>
            </a:avLst>
          </a:prstGeom>
          <a:solidFill>
            <a:srgbClr val="FFF5F3"/>
          </a:solidFill>
          <a:ln w="12700">
            <a:solidFill>
              <a:srgbClr val="F2D0CB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86575" y="4600575"/>
            <a:ext cx="4486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💡 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此刻的选择决定收益：停止定投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 = 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把浮亏变实亏；继续定投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 = 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把坑填浅一半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172075" y="58102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1743075" y="2419350"/>
            <a:ext cx="1381125" cy="28575"/>
          </a:xfrm>
          <a:prstGeom prst="rect">
            <a:avLst/>
          </a:prstGeom>
          <a:solidFill>
            <a:srgbClr val="C0392B">
              <a:alpha val="35000"/>
            </a:srgbClr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3990975" y="2419350"/>
            <a:ext cx="1381125" cy="28575"/>
          </a:xfrm>
          <a:prstGeom prst="rect">
            <a:avLst/>
          </a:prstGeom>
          <a:solidFill>
            <a:srgbClr val="1D2939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146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当前股息率：每年白拿 4%+ 的&quot;租金&quot;&lt;/Text&gt;&#10;    &lt;Text style={{ fontSize: 14, color: '#6B7686' }}&gt;最新股息率（截至 2026-08-26）&lt;/Text&gt;&#10;  &lt;/Box&gt;&#10;&#10;  &lt;Box style={{ height: 460, marginTop: 12, flexDirection: 'row', gap: 18 }}&gt;&#10;    &lt;Box style={{ flex: 1.4 }}&gt;&#10;      &lt;Chart&#10;        style={{ height: 440 }}&#10;        chartType='barChart'&#10;        title='股息率 vs 十年国债'&#10;        colors={['#C0392B', '#8FA0B5']}&#10;        data={[&#10;          ['指数', '股息率%', '十年国债%'],&#10;          ['红利低波', 4.72, 1.7],&#10;          ['红利低波100', 4.27, 1.7],&#10;          ['上证红利', 4.24, 1.7],&#10;          ['中证红利', 4.17, 1.7],&#10;        ]}&#10;      /&gt;&#10;    &lt;/Box&gt;&#10;    &lt;Box style={{ flex: 1, flexDirection: 'column', gap: 16 }}&gt;&#10;      &lt;Box style={{ flex: 1, background: '#1D2939', borderRadius: 14, padding: 24 }}&gt;&#10;        &lt;Text style={{ fontSize: 20, color: '#8FA0B5' }}&gt;红利&quot;租金&quot;是国债的&lt;/Text&gt;&#10;        &lt;Text style={{ fontSize: 64, fontWeight: 'bold', color: '#FF6B5E', lineHeight: 1.1 }}&gt;2.4~2.8 倍&lt;/Text&gt;&#10;        &lt;Text style={{ fontSize: 16, color: '#8FA0B5', marginTop: 8 }}&gt;十年国债约 1.7%，红利股息率 4.2%~4.7%&lt;/Text&gt;&#10;      &lt;/Box&gt;&#10;      &lt;Box style={{ flex: 1, background: '#EEF2F7', borderRadius: 14, padding: 22 }}&gt;&#10;        &lt;Text style={{ fontSize: 20, fontWeight: 'bold', color: '#1D2939' }}&gt;每年现金流&lt;/Text&gt;&#10;        &lt;Text style={{ fontSize: 30, fontWeight: 'bold', color: '#C0392B', marginTop: 6 }}&gt;¥120 万 × 4.5% ≈ ¥5.4 万/年&lt;/Text&gt;&#10;        &lt;Text style={{ fontSize: 15, color: '#6B7686', marginTop: 6 }}&gt;持仓 120 万，每年分红现金流约 5.4 万，远超利息&lt;/Text&gt;&#10;      &lt;/Box&gt;&#10;    &lt;/Box&gt;&#10;  &lt;/Box&gt;&#10;&#10;  &lt;Box style={{ height: 52, alignItems: 'center', justifyContent: 'center' }}&gt;&#10;    &lt;Text style={{ fontSize: 14, color: '#6B7686' }}&gt;股息率随价格波动：7 月红利大涨后已从高位回落，4%+ 的&quot;租金&quot;依然稀缺 · 四大红利全收益指数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5495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当前股息率：每年白拿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4%+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的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租金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601200" y="59055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最新股息率（截至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2026-08-26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graphicFrame>
        <p:nvGraphicFramePr>
          <p:cNvPr id="150" name="150"/>
          <p:cNvGraphicFramePr/>
          <p:nvPr/>
        </p:nvGraphicFramePr>
        <p:xfrm rot="0" flipH="0" flipV="0">
          <a:off x="609600" y="1257300"/>
          <a:ext cx="6305550" cy="41910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51" name=""/>
          <p:cNvSpPr/>
          <p:nvPr/>
        </p:nvSpPr>
        <p:spPr>
          <a:xfrm rot="0" flipH="0" flipV="0">
            <a:off x="7086600" y="1257300"/>
            <a:ext cx="4495800" cy="2362200"/>
          </a:xfrm>
          <a:prstGeom prst="roundRect">
            <a:avLst>
              <a:gd name="adj" fmla="val 5645"/>
            </a:avLst>
          </a:prstGeom>
          <a:solidFill>
            <a:srgbClr val="1D293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315200" y="14859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0B5"/>
                </a:solidFill>
                <a:latin typeface="PingFang SC"/>
                <a:ea typeface="PingFang SC"/>
              </a:rPr>
              <a:t>红利</a:t>
            </a:r>
            <a:r>
              <a:rPr lang="en-US" sz="1500">
                <a:solidFill>
                  <a:srgbClr val="8FA0B5"/>
                </a:solidFill>
                <a:latin typeface="PingFang SC"/>
                <a:ea typeface="PingFang SC"/>
              </a:rPr>
              <a:t>"</a:t>
            </a:r>
            <a:r>
              <a:rPr lang="zh-CN" sz="1500">
                <a:solidFill>
                  <a:srgbClr val="8FA0B5"/>
                </a:solidFill>
                <a:latin typeface="PingFang SC"/>
                <a:ea typeface="PingFang SC"/>
              </a:rPr>
              <a:t>租金</a:t>
            </a:r>
            <a:r>
              <a:rPr lang="en-US" sz="1500">
                <a:solidFill>
                  <a:srgbClr val="8FA0B5"/>
                </a:solidFill>
                <a:latin typeface="PingFang SC"/>
                <a:ea typeface="PingFang SC"/>
              </a:rPr>
              <a:t>"</a:t>
            </a:r>
            <a:r>
              <a:rPr lang="zh-CN" sz="1500">
                <a:solidFill>
                  <a:srgbClr val="8FA0B5"/>
                </a:solidFill>
                <a:latin typeface="PingFang SC"/>
                <a:ea typeface="PingFang SC"/>
              </a:rPr>
              <a:t>是国债的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315200" y="1714500"/>
            <a:ext cx="40386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6B5E"/>
                </a:solidFill>
                <a:latin typeface="PingFang SC"/>
                <a:ea typeface="PingFang SC"/>
              </a:rPr>
              <a:t>2.4~2.8 </a:t>
            </a:r>
            <a:r>
              <a:rPr lang="zh-CN" sz="4800" b="1">
                <a:solidFill>
                  <a:srgbClr val="FF6B5E"/>
                </a:solidFill>
                <a:latin typeface="PingFang SC"/>
                <a:ea typeface="PingFang SC"/>
              </a:rPr>
              <a:t>倍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315200" y="26003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十年国债约</a:t>
            </a:r>
            <a:r>
              <a:rPr lang="en-US" sz="1200">
                <a:solidFill>
                  <a:srgbClr val="8FA0B5"/>
                </a:solidFill>
                <a:latin typeface="PingFang SC"/>
                <a:ea typeface="PingFang SC"/>
              </a:rPr>
              <a:t> 1.7%</a:t>
            </a: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，红利股息率</a:t>
            </a:r>
            <a:r>
              <a:rPr lang="en-US" sz="1200">
                <a:solidFill>
                  <a:srgbClr val="8FA0B5"/>
                </a:solidFill>
                <a:latin typeface="PingFang SC"/>
                <a:ea typeface="PingFang SC"/>
              </a:rPr>
              <a:t> 4.2%~4.7%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086600" y="3771900"/>
            <a:ext cx="4495800" cy="1866900"/>
          </a:xfrm>
          <a:prstGeom prst="roundRect">
            <a:avLst>
              <a:gd name="adj" fmla="val 714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296150" y="3981450"/>
            <a:ext cx="407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2939"/>
                </a:solidFill>
                <a:latin typeface="PingFang SC"/>
                <a:ea typeface="PingFang SC"/>
              </a:rPr>
              <a:t>每年现金流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296150" y="4267200"/>
            <a:ext cx="4076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¥120 </a:t>
            </a:r>
            <a:r>
              <a:rPr lang="zh-CN" sz="2250" b="1">
                <a:solidFill>
                  <a:srgbClr val="C0392B"/>
                </a:solidFill>
                <a:latin typeface="PingFang SC"/>
                <a:ea typeface="PingFang SC"/>
              </a:rPr>
              <a:t>万</a:t>
            </a: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 × 4.5% ≈ ¥5.4 </a:t>
            </a:r>
            <a:r>
              <a:rPr lang="zh-CN" sz="2250" b="1">
                <a:solidFill>
                  <a:srgbClr val="C0392B"/>
                </a:solidFill>
                <a:latin typeface="PingFang SC"/>
                <a:ea typeface="PingFang SC"/>
              </a:rPr>
              <a:t>万</a:t>
            </a: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/</a:t>
            </a:r>
            <a:r>
              <a:rPr lang="zh-CN" sz="2250" b="1">
                <a:solidFill>
                  <a:srgbClr val="C0392B"/>
                </a:solidFill>
                <a:latin typeface="PingFang SC"/>
                <a:ea typeface="PingFang SC"/>
              </a:rPr>
              <a:t>年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296150" y="46672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持仓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120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万，每年分红现金流约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5.4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万，远超利息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219450" y="5810250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股息率随价格波动：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7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月红利大涨后已从高位回落，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4%+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的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"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租金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"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依然稀缺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0" name="" descr="&lt;Slide style={{ width: '1280px', height: '720px', background: '#FFFFFF', padding: '20px 64px', fontFamily: '&quot;PingFang SC&quot;,&quot;Microsoft YaHei&quot;,sans-serif', color: '#1A1A1A' }}&gt;&#10;  &lt;Box style={{ height: 100, flexDirection: 'row', alignItems: 'center', justifyContent: 'space-between' }}&gt;&#10;    &lt;Text style={{ fontSize: 34, fontWeight: 'bold', color: '#1D2939' }}&gt;年度表现：红利指数的波动真相&lt;/Text&gt;&#10;    &lt;Text style={{ fontSize: 14, color: '#6B7686' }}&gt;全收益口径 · 红涨绿跌&lt;/Text&gt;&#10;  &lt;/Box&gt;&#10;&#10;  &lt;Box style={{ height: 440, marginTop: 8 }}&gt;&#10;    &lt;Table&#10;      style={{ width: '100%', height: 420 }}&#10;      defaultTextStyle={{ fontSize: 16, textAlign: 'center', color: '#1A1A1A' }}&#10;      defaultCellStyle={{ border: { left: { width: 1, color: '#E3E8EF' }, right: { width: 1, color: '#E3E8EF' }, top: { width: 1, color: '#E3E8EF' }, bottom: { width: 1, color: '#E3E8EF' } }, padding: 9 }}&#10;      cells={[&#10;        [&#10;          { text: '年份', textStyle: { bold: true, color: '#FFFFFF' }, cellStyle: { background: { color: '#1D2939' } } },&#10;          { text: '红利低波', textStyle: { bold: true, color: '#FFFFFF' }, cellStyle: { background: { color: '#1D2939' } } },&#10;          { text: '中证红利', textStyle: { bold: true, color: '#FFFFFF' }, cellStyle: { background: { color: '#1D2939' } } },&#10;          { text: '红利低波100', textStyle: { bold: true, color: '#FFFFFF' }, cellStyle: { background: { color: '#1D2939' } } },&#10;          { text: '上证红利', textStyle: { bold: true, color: '#FFFFFF' }, cellStyle: { background: { color: '#1D2939' } } },&#10;        ],&#10;        [&#10;          { text: '2017', textStyle: { bold: true } },&#10;          { text: '+23.57%', textStyle: { color: '#C0392B' } },&#10;          { text: '+21.34%', textStyle: { color: '#C0392B' } },&#10;          { text: '+15.50%', textStyle: { color: '#C0392B' } },&#10;          { text: '+20.52%', textStyle: { color: '#C0392B' } },&#10;        ],&#10;        [&#10;          { text: '2018', textStyle: { bold: true } },&#10;          { text: '-16.39%', textStyle: { color: '#27AE60', bold: true } },&#10;          { text: '-16.15%', textStyle: { color: '#27AE60', bold: true } },&#10;          { text: '-14.12%', textStyle: { color: '#27AE60', bold: true } },&#10;          { text: '-13.59%', textStyle: { color: '#27AE60', bold: true } },&#10;        ],&#10;        [&#10;          { text: '2019', textStyle: { bold: true } },&#10;          { text: '+20.94%', textStyle: { color: '#C0392B' } },&#10;          { text: '+20.88%', textStyle: { color: '#C0392B' } },&#10;          { text: '+16.88%', textStyle: { color: '#C0392B' } },&#10;          { text: '+16.27%', textStyle: { color: '#C0392B' } },&#10;        ],&#10;        [&#10;          { text: '2020', textStyle: { bold: true } },&#10;          { text: '+1.99%', textStyle: { color: '#C0392B' } },&#10;          { text: '+8.18%', textStyle: { color: '#C0392B' } },&#10;          { text: '+2.34%', textStyle: { color: '#C0392B' } },&#10;          { text: '-1.05%', textStyle: { color: '#27AE60' } },&#10;        ],&#10;        [&#10;          { text: '2021', textStyle: { bold: true } },&#10;          { text: '+16.34%', textStyle: { color: '#C0392B' } },&#10;          { text: '+18.19%', textStyle: { color: '#C0392B' } },&#10;          { text: '+19.27%', textStyle: { color: '#C0392B' } },&#10;          { text: '+13.25%', textStyle: { color: '#C0392B' } },&#10;        ],&#10;        [&#10;          { text: '2022', textStyle: { bold: true } },&#10;          { text: '+3.46%', textStyle: { color: '#C0392B' } },&#10;          { text: '-0.37%', textStyle: { color: '#27AE60' } },&#10;          { text: '+0.77%', textStyle: { color: '#C0392B' } },&#10;          { text: '+3.46%', textStyle: { color: '#C0392B' } },&#10;        ],&#10;        [&#10;          { text: '2023', textStyle: { bold: true } },&#10;          { text: '+12.23%', textStyle: { color: '#C0392B' } },&#10;          { text: '+6.34%', textStyle: { color: '#C0392B' } },&#10;          { text: '+13.26%', textStyle: { color: '#C0392B' } },&#10;          { text: '+9.06%', textStyle: { color: '#C0392B' } },&#10;        ],&#10;        [&#10;          { text: '2024', textStyle: { bold: true } },&#10;          { text: '+24.82%', textStyle: { color: '#C0392B', bold: true } },&#10;          { text: '+18.76%', textStyle: { color: '#C0392B', bold: true } },&#10;          { text: '+18.64%', textStyle: { color: '#C0392B', bold: true } },&#10;          { text: '+21.30%', textStyle: { color: '#C0392B', bold: true } },&#10;        ],&#10;        [&#10;          { text: '2025', textStyle: { bold: true } },&#10;          { text: '+5.57%', textStyle: { color: '#C0392B' } },&#10;          { text: '+3.76%', textStyle: { color: '#C0392B' } },&#10;          { text: '+3.97%', textStyle: { color: '#C0392B' } },&#10;          { text: '+0.41%', textStyle: { color: '#C0392B' } },&#10;        ],&#10;      ]}&#10;    /&gt;&#10;  &lt;/Box&gt;&#10;&#10;  &lt;Box style={{ height: 80, flexDirection: 'row', gap: 18, marginTop: 6 }}&gt;&#10;    &lt;Box style={{ flex: 1, background: '#EEF2F7', borderRadius: 12, padding: '12px 18px' }}&gt;&#10;      &lt;Text style={{ fontSize: 16, color: '#3B4A5C' }}&gt;&lt;b&gt;2018&lt;/b&gt; 熊市四指数全跌 -13.6%~-16.4% → 正是摊低成本的黄金期&lt;/Text&gt;&#10;    &lt;/Box&gt;&#10;    &lt;Box style={{ flex: 1, background: '#EEF2F7', borderRadius: 12, padding: '12px 18px' }}&gt;&#10;      &lt;Text style={{ fontSize: 16, color: '#3B4A5C' }}&gt;&lt;b&gt;2024&lt;/b&gt; 红利大年 +18.6%~+24.8% → 当年盈亏 +31.6 万（红利低波）&lt;/Text&gt;&#10;    &lt;/Box&gt;&#10;  &lt;/Box&gt;&#10;&#10;  &lt;Box style={{ height: 52, alignItems: 'center', justifyContent: 'center' }}&gt;&#10;    &lt;Text style={{ fontSize: 14, color: '#6B7686' }}&gt;2016 年为定投起点（2016-08）至年末，其余为自然年；2026 截至 7 月末 · 四大红利全收益指数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4762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年度表现：红利指数的波动真相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267950" y="59055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全收益口径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红涨绿跌</a:t>
            </a:r>
            <a:endParaRPr/>
          </a:p>
        </p:txBody>
      </p:sp>
      <p:graphicFrame>
        <p:nvGraphicFramePr>
          <p:cNvPr id="164" name=""/>
          <p:cNvGraphicFramePr/>
          <p:nvPr/>
        </p:nvGraphicFramePr>
        <p:xfrm rot="0" flipH="0" flipV="0">
          <a:off x="609600" y="1219200"/>
          <a:ext cx="10972800" cy="4000500"/>
        </p:xfrm>
        <a:graphic>
          <a:graphicData uri="http://schemas.openxmlformats.org/drawingml/2006/table">
            <a:tbl>
              <a:tblGrid>
                <a:gridCol w="1367465">
                  <a:extLst>
                    <a:ext uri="{9D8B030D-6E8A-4147-A177-3AD203B41FA5}">
                      <a16:colId val="1"/>
                    </a:ext>
                  </a:extLst>
                </a:gridCol>
                <a:gridCol w="2249700">
                  <a:extLst>
                    <a:ext uri="{9D8B030D-6E8A-4147-A177-3AD203B41FA5}">
                      <a16:colId val="2"/>
                    </a:ext>
                  </a:extLst>
                </a:gridCol>
                <a:gridCol w="2249700">
                  <a:extLst>
                    <a:ext uri="{9D8B030D-6E8A-4147-A177-3AD203B41FA5}">
                      <a16:colId val="3"/>
                    </a:ext>
                  </a:extLst>
                </a:gridCol>
                <a:gridCol w="2856236">
                  <a:extLst>
                    <a:ext uri="{9D8B030D-6E8A-4147-A177-3AD203B41FA5}">
                      <a16:colId val="4"/>
                    </a:ext>
                  </a:extLst>
                </a:gridCol>
                <a:gridCol w="224970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红利低波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红利低波100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上证红利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+23.57%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+21.34%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+15.50%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+20.52%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-16.39%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-16.15%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-14.12%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-13.59%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+20.94%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+20.88%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+16.88%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+16.27%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+1.99%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+8.18%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-1.05%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+18.19%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+19.27%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+13.25%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+3.46%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-0.37%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+0.77%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+3.46%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+12.23%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+13.26%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+9.06%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+24.82%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+18.76%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+18.64%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+21.30%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+3.76%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+3.97%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+0.41%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165" name=""/>
          <p:cNvSpPr/>
          <p:nvPr/>
        </p:nvSpPr>
        <p:spPr>
          <a:xfrm rot="0" flipH="0" flipV="0">
            <a:off x="609600" y="5467350"/>
            <a:ext cx="5400675" cy="76200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1050" y="5581650"/>
            <a:ext cx="505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2018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熊市四指数全跌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-13.6%~-16.4% →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正是摊低成本的黄金期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181725" y="5467350"/>
            <a:ext cx="5400675" cy="76200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53175" y="5581650"/>
            <a:ext cx="505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2024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红利大年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+18.6%~+24.8% →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当年盈亏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+31.6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万（红利低波）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209925" y="6400800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2016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年为定投起点（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2016-08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）至年末，其余为自然年；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2026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7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月末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 '1280px', height: '720px', background: '#FFFFFF', padding: '14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定投 vs 一次性：频率决定了回撤深度&lt;/Text&gt;&#10;    &lt;Text style={{ fontSize: 14, color: '#6B7686' }}&gt;同样的 10 年、同样的总投入&lt;/Text&gt;&#10;  &lt;/Box&gt;&#10;&#10;  &lt;Box style={{ height: 452, marginTop: 10, flexDirection: 'row', gap: 18 }}&gt;&#10;    &lt;Box style={{ flex: 1, background: 'linear-gradient(135deg,#2B3A4A 0%,#1D2939 80%)', borderRadius: 16, padding: 30, justifyContent: 'space-between' }}&gt;&#10;      &lt;Text style={{ fontSize: 24, fontWeight: 'bold', color: '#FFFFFF' }}&gt;每月定投（本页方案）&lt;/Text&gt;&#10;      &lt;Box&gt;&#10;        &lt;Text style={{ fontSize: 20, color: '#8FA0B5' }}&gt;组合最大回撤&lt;/Text&gt;&#10;        &lt;Text style={{ fontSize: 64, fontWeight: 'bold', color: '#FF6B5E', lineHeight: 1.1 }}&gt;-11.5%&lt;/Text&gt;&#10;        &lt;Text style={{ fontSize: 18, color: '#8FA0B5', marginTop: 4 }}&gt;~ -17.1%&lt;/Text&gt;&#10;      &lt;/Box&gt;&#10;      &lt;Text style={{ fontSize: 16, color: '#8FA0B5', lineHeight: 1.7 }}&gt;&#10;        每月买入摊低成本，2018/2020 年市场下跌时反而买到更多份额——浮亏浅、恢复快。&#10;      &lt;/Text&gt;&#10;      &lt;Box style={{ background: 'rgba(255,255,255,0.1)', borderRadius: 10, padding: '10px 16px' }}&gt;&#10;        &lt;Text style={{ fontSize: 16, color: '#FFB37A', fontWeight: 600 }}&gt;跌时继续投 = 收益的主要来源&lt;/Text&gt;&#10;      &lt;/Box&gt;&#10;    &lt;/Box&gt;&#10;&#10;    &lt;Box style={{ flex: 1, background: '#EEF2F7', borderRadius: 16, padding: 30, justifyContent: 'space-between' }}&gt;&#10;      &lt;Text style={{ fontSize: 24, fontWeight: 'bold', color: '#1D2939' }}&gt;每年年初一次性（对比）&lt;/Text&gt;&#10;      &lt;Box&gt;&#10;        &lt;Text style={{ fontSize: 20, color: '#6B7686' }}&gt;组合最大回撤&lt;/Text&gt;&#10;        &lt;Text style={{ fontSize: 64, fontWeight: 'bold', color: '#1D2939', lineHeight: 1.1 }}&gt;-23.4%&lt;/Text&gt;&#10;        &lt;Text style={{ fontSize: 18, color: '#6B7686', marginTop: 4 }}&gt;~ -27.5%&lt;/Text&gt;&#10;      &lt;/Box&gt;&#10;      &lt;Text style={{ fontSize: 16, color: '#3B4A5C', lineHeight: 1.7 }}&gt;&#10;        年初一次性买入 12 万，2018 年初买在阶段高点后撞上熊市，浮亏 6.7~7.9 万，次年 1 月才收复。&#10;      &lt;/Text&gt;&#10;      &lt;Box style={{ background: '#FFFFFF', borderRadius: 10, padding: '10px 16px', border: '1px solid #E3E8EF' }}&gt;&#10;        &lt;Text style={{ fontSize: 16, color: '#6B7686', fontWeight: 600 }}&gt;回撤深度是月投的近 2 倍&lt;/Text&gt;&#10;      &lt;/Box&gt;&#10;    &lt;/Box&gt;&#10;  &lt;/Box&gt;&#10;&#10;  &lt;Box style={{ height: 74, marginTop: 6, background: '#FFF5F3', borderRadius: 12, padding: '12px 22px', border: '1px solid #F2D0CB' }}&gt;&#10;    &lt;Text style={{ fontSize: 17, color: '#8C2F28', fontWeight: 600 }}&gt;&#10;      💡 定投频率越高，成本摊薄越充分。月投把 10 年最大浮亏控制在 11%~17%，这就是&quot;纪律&quot;的量化价值。&#10;    &lt;/Text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400050"/>
            <a:ext cx="5400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定投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vs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一次性：频率决定了回撤深度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877425" y="514350"/>
            <a:ext cx="170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同样的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10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年、同样的总投入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1143000"/>
            <a:ext cx="5400675" cy="4305300"/>
          </a:xfrm>
          <a:prstGeom prst="roundRect">
            <a:avLst>
              <a:gd name="adj" fmla="val 3540"/>
            </a:avLst>
          </a:prstGeom>
          <a:gradFill>
            <a:gsLst>
              <a:gs pos="0">
                <a:srgbClr val="2B3A4A"/>
              </a:gs>
              <a:gs pos="80000">
                <a:srgbClr val="1D293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95350" y="1428750"/>
            <a:ext cx="4829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每月定投（本页方案）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95350" y="2095500"/>
            <a:ext cx="4829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0B5"/>
                </a:solidFill>
                <a:latin typeface="PingFang SC"/>
                <a:ea typeface="PingFang SC"/>
              </a:rPr>
              <a:t>组合最大回撤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95350" y="2324100"/>
            <a:ext cx="4829175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6B5E"/>
                </a:solidFill>
                <a:latin typeface="PingFang SC"/>
                <a:ea typeface="PingFang SC"/>
              </a:rPr>
              <a:t>-11.5%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95350" y="3171825"/>
            <a:ext cx="4829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0B5"/>
                </a:solidFill>
                <a:latin typeface="PingFang SC"/>
                <a:ea typeface="PingFang SC"/>
              </a:rPr>
              <a:t>~ -17.1%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95350" y="3762375"/>
            <a:ext cx="48291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每月买入摊低成本，</a:t>
            </a:r>
            <a:r>
              <a:rPr lang="en-US" sz="1200">
                <a:solidFill>
                  <a:srgbClr val="8FA0B5"/>
                </a:solidFill>
                <a:latin typeface="PingFang SC"/>
                <a:ea typeface="PingFang SC"/>
              </a:rPr>
              <a:t>2018/2020 </a:t>
            </a:r>
            <a:r>
              <a:rPr lang="zh-CN" sz="1200">
                <a:solidFill>
                  <a:srgbClr val="8FA0B5"/>
                </a:solidFill>
                <a:latin typeface="PingFang SC"/>
                <a:ea typeface="PingFang SC"/>
              </a:rPr>
              <a:t>年市场下跌时反而买到更多份额——浮亏浅、恢复快。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95350" y="4781550"/>
            <a:ext cx="4829175" cy="381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47750" y="4876800"/>
            <a:ext cx="4524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B37A"/>
                </a:solidFill>
                <a:latin typeface="PingFang SC"/>
                <a:ea typeface="PingFang SC"/>
              </a:rPr>
              <a:t>跌时继续投</a:t>
            </a:r>
            <a:r>
              <a:rPr lang="en-US" sz="1200" b="1">
                <a:solidFill>
                  <a:srgbClr val="FFB37A"/>
                </a:solidFill>
                <a:latin typeface="PingFang SC"/>
                <a:ea typeface="PingFang SC"/>
              </a:rPr>
              <a:t> = </a:t>
            </a:r>
            <a:r>
              <a:rPr lang="zh-CN" sz="1200" b="1">
                <a:solidFill>
                  <a:srgbClr val="FFB37A"/>
                </a:solidFill>
                <a:latin typeface="PingFang SC"/>
                <a:ea typeface="PingFang SC"/>
              </a:rPr>
              <a:t>收益的主要来源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181725" y="1143000"/>
            <a:ext cx="5400675" cy="4305300"/>
          </a:xfrm>
          <a:prstGeom prst="roundRect">
            <a:avLst>
              <a:gd name="adj" fmla="val 3540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467475" y="1428750"/>
            <a:ext cx="4829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2939"/>
                </a:solidFill>
                <a:latin typeface="PingFang SC"/>
                <a:ea typeface="PingFang SC"/>
              </a:rPr>
              <a:t>每年年初一次性（对比）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467475" y="2095500"/>
            <a:ext cx="4829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B7686"/>
                </a:solidFill>
                <a:latin typeface="PingFang SC"/>
                <a:ea typeface="PingFang SC"/>
              </a:rPr>
              <a:t>组合最大回撤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467475" y="2324100"/>
            <a:ext cx="4829175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1D2939"/>
                </a:solidFill>
                <a:latin typeface="PingFang SC"/>
                <a:ea typeface="PingFang SC"/>
              </a:rPr>
              <a:t>-23.4%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467475" y="3171825"/>
            <a:ext cx="4829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B7686"/>
                </a:solidFill>
                <a:latin typeface="PingFang SC"/>
                <a:ea typeface="PingFang SC"/>
              </a:rPr>
              <a:t>~ -27.5%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467475" y="3762375"/>
            <a:ext cx="48291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年初一次性买入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12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万，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2018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年初买在阶段高点后撞上熊市，浮亏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6.7~7.9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万，次年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月才收复。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467475" y="4781550"/>
            <a:ext cx="48291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619875" y="4876800"/>
            <a:ext cx="4524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B7686"/>
                </a:solidFill>
                <a:latin typeface="PingFang SC"/>
                <a:ea typeface="PingFang SC"/>
              </a:rPr>
              <a:t>回撤深度是月投的近</a:t>
            </a:r>
            <a:r>
              <a:rPr lang="en-US" sz="1200" b="1">
                <a:solidFill>
                  <a:srgbClr val="6B7686"/>
                </a:solidFill>
                <a:latin typeface="PingFang SC"/>
                <a:ea typeface="PingFang SC"/>
              </a:rPr>
              <a:t> 2 </a:t>
            </a:r>
            <a:r>
              <a:rPr lang="zh-CN" sz="1200" b="1">
                <a:solidFill>
                  <a:srgbClr val="6B7686"/>
                </a:solidFill>
                <a:latin typeface="PingFang SC"/>
                <a:ea typeface="PingFang SC"/>
              </a:rPr>
              <a:t>倍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55054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FF5F3"/>
          </a:solidFill>
          <a:ln w="12700">
            <a:solidFill>
              <a:srgbClr val="F2D0CB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9150" y="56197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💡 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定投频率越高，成本摊薄越充分。月投把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 10 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年最大浮亏控制在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 11%~17%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，这就是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"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纪律</a:t>
            </a:r>
            <a:r>
              <a:rPr lang="en-US" sz="1275" b="1">
                <a:solidFill>
                  <a:srgbClr val="8C2F28"/>
                </a:solidFill>
                <a:latin typeface="PingFang SC"/>
                <a:ea typeface="PingFang SC"/>
              </a:rPr>
              <a:t>"</a:t>
            </a:r>
            <a:r>
              <a:rPr lang="zh-CN" sz="1275" b="1">
                <a:solidFill>
                  <a:srgbClr val="8C2F28"/>
                </a:solidFill>
                <a:latin typeface="PingFang SC"/>
                <a:ea typeface="PingFang SC"/>
              </a:rPr>
              <a:t>的量化价值。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172075" y="63722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结论：怎么开始&lt;/Text&gt;&#10;    &lt;Text style={{ fontSize: 14, color: '#6B7686' }}&gt;数据 → 结论 → 行动&lt;/Text&gt;&#10;  &lt;/Box&gt;&#10;&#10;  &lt;Box style={{ height: 384, marginTop: 10, flexDirection: 'row', gap: 18 }}&gt;&#10;    &lt;Box style={{ flex: 1, background: '#EEF2F7', borderRadius: 14, padding: 26, justifyContent: 'space-between' }}&gt;&#10;      &lt;Box&gt;&#10;        &lt;Text style={{ fontSize: 26, fontWeight: 'bold', color: '#1D2939' }}&gt;① 选红利低波&lt;/Text&gt;&#10;        &lt;Text style={{ fontSize: 18, color: '#3B4A5C', lineHeight: 1.75, marginTop: 12 }}&gt;&#10;          10 年收益最高（+63.9%）、回撤可控（-14.8%）、股息率最高（4.72%）。场外 007466/007467 可月定投。&#10;        &lt;/Text&gt;&#10;      &lt;/Box&gt;&#10;      &lt;Text style={{ fontSize: 16, color: '#6B7686' }}&gt;收益 + 防御 + 现金流 三优&lt;/Text&gt;&#10;    &lt;/Box&gt;&#10;    &lt;Box style={{ flex: 1, background: '#EEF2F7', borderRadius: 14, padding: 26, justifyContent: 'space-between' }}&gt;&#10;      &lt;Box&gt;&#10;        &lt;Text style={{ fontSize: 26, fontWeight: 'bold', color: '#1D2939' }}&gt;② 坚持月投纪律&lt;/Text&gt;&#10;        &lt;Text style={{ fontSize: 18, color: '#3B4A5C', lineHeight: 1.75, marginTop: 12 }}&gt;&#10;          每月固定金额、雷打不动。回撤（-11%~-17%）是红利策略固有属性，跌时继续买，正是收益的来源。&#10;        &lt;/Text&gt;&#10;      &lt;/Box&gt;&#10;      &lt;Text style={{ fontSize: 16, color: '#6B7686' }}&gt;纪律优先于择时&lt;/Text&gt;&#10;    &lt;/Box&gt;&#10;    &lt;Box style={{ flex: 1, background: '#EEF2F7', borderRadius: 14, padding: 26, justifyContent: 'space-between' }}&gt;&#10;      &lt;Box&gt;&#10;        &lt;Text style={{ fontSize: 26, fontWeight: 'bold', color: '#1D2939' }}&gt;③ 现在股息率仍高&lt;/Text&gt;&#10;        &lt;Text style={{ fontSize: 18, color: '#3B4A5C', lineHeight: 1.75, marginTop: 12 }}&gt;&#10;          当前 4.2%~4.7%，是十年国债（1.7%）的 2.4~2.8 倍。长期持有每年还有 4%+ 现金分红。&#10;        &lt;/Text&gt;&#10;      &lt;/Box&gt;&#10;      &lt;Text style={{ fontSize: 16, color: '#6B7686' }}&gt;低位区域，越早开始越久复利&lt;/Text&gt;&#10;    &lt;/Box&gt;&#10;  &lt;/Box&gt;&#10;&#10;  &lt;Box style={{ height: 124, marginTop: 10, background: '#1D2939', borderRadius: 14, padding: '16px 26px', justifyContent: 'space-between', alignItems: 'center', flexDirection: 'row' }}&gt;&#10;    &lt;Box&gt;&#10;      &lt;Text style={{ fontSize: 20, fontWeight: 'bold', color: '#FFFFFF' }}&gt;风险提示&lt;/Text&gt;&#10;      &lt;Text style={{ fontSize: 15, color: '#8FA0B5', lineHeight: 1.6, marginTop: 6 }}&gt;&#10;        历史数据回测不代表未来收益；红利策略存在长期跑输与估值回归风险；投资有风险，入市需谨慎。&#10;      &lt;/Text&gt;&#10;    &lt;/Box&gt;&#10;    &lt;Box style={{ background: '#C0392B', borderRadius: 10, padding: '12px 24px' }}&gt;&#10;      &lt;Text style={{ fontSize: 17, fontWeight: 'bold', color: '#FFFFFF' }}&gt;定投从今天开始&lt;/Text&gt;&#10;    &lt;/Box&gt;&#10;  &lt;/Box&gt;&#10;&#10;  &lt;Box style={{ height: 52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结论：怎么开始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353675" y="5715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结论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200150"/>
            <a:ext cx="3543300" cy="36576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D2939"/>
                </a:solidFill>
                <a:latin typeface="PingFang SC"/>
                <a:ea typeface="PingFang SC"/>
              </a:rPr>
              <a:t>① </a:t>
            </a:r>
            <a:r>
              <a:rPr lang="zh-CN" sz="1950" b="1">
                <a:solidFill>
                  <a:srgbClr val="1D2939"/>
                </a:solidFill>
                <a:latin typeface="PingFang SC"/>
                <a:ea typeface="PingFang SC"/>
              </a:rPr>
              <a:t>选红利低波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1866900"/>
            <a:ext cx="3048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10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年收益最高（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+63.9%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）、回撤可控（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-14.8%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）、股息率最高（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4.72%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）。场外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007466/007467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可月定投。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57250" y="44196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收益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防御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现金流</a:t>
            </a:r>
            <a:r>
              <a:rPr lang="en-US" sz="1200">
                <a:solidFill>
                  <a:srgbClr val="6B7686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三优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324350" y="1200150"/>
            <a:ext cx="3543300" cy="36576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572000" y="14478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D2939"/>
                </a:solidFill>
                <a:latin typeface="PingFang SC"/>
                <a:ea typeface="PingFang SC"/>
              </a:rPr>
              <a:t>② </a:t>
            </a:r>
            <a:r>
              <a:rPr lang="zh-CN" sz="1950" b="1">
                <a:solidFill>
                  <a:srgbClr val="1D2939"/>
                </a:solidFill>
                <a:latin typeface="PingFang SC"/>
                <a:ea typeface="PingFang SC"/>
              </a:rPr>
              <a:t>坚持月投纪律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572000" y="1866900"/>
            <a:ext cx="3048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每月固定金额、雷打不动。回撤（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-11%~-17%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）是红利策略固有属性，跌时继续买，正是收益的来源。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572000" y="44196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纪律优先于择时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039100" y="1200150"/>
            <a:ext cx="3543300" cy="36576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286750" y="14478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D2939"/>
                </a:solidFill>
                <a:latin typeface="PingFang SC"/>
                <a:ea typeface="PingFang SC"/>
              </a:rPr>
              <a:t>③ </a:t>
            </a:r>
            <a:r>
              <a:rPr lang="zh-CN" sz="1950" b="1">
                <a:solidFill>
                  <a:srgbClr val="1D2939"/>
                </a:solidFill>
                <a:latin typeface="PingFang SC"/>
                <a:ea typeface="PingFang SC"/>
              </a:rPr>
              <a:t>现在股息率仍高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286750" y="1866900"/>
            <a:ext cx="3048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当前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4.2%~4.7%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，是十年国债（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1.7%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）的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2.4~2.8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倍。长期持有每年还有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4%+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现金分红。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286750" y="44196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686"/>
                </a:solidFill>
                <a:latin typeface="PingFang SC"/>
                <a:ea typeface="PingFang SC"/>
              </a:rPr>
              <a:t>低位区域，越早开始越久复利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4953000"/>
            <a:ext cx="10972800" cy="1181100"/>
          </a:xfrm>
          <a:prstGeom prst="roundRect">
            <a:avLst>
              <a:gd name="adj" fmla="val 11290"/>
            </a:avLst>
          </a:prstGeom>
          <a:solidFill>
            <a:srgbClr val="1D2939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7250" y="5267325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风险提示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57250" y="5553075"/>
            <a:ext cx="6286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0B5"/>
                </a:solidFill>
                <a:latin typeface="PingFang SC"/>
                <a:ea typeface="PingFang SC"/>
              </a:rPr>
              <a:t>历史数据回测不代表未来收益；红利策略存在长期跑输与估值回归风险；投资有风险，入市需谨慎。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744075" y="5334000"/>
            <a:ext cx="1590675" cy="428625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972675" y="54483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定投从今天开始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172075" y="630555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'1280px', height: '720px', background: 'linear-gradient(135deg,#2B3A4A 0%,#1D2939 60%,#3A2A2A 100%)', padding: '40px 72px', fontFamily: '&quot;PingFang SC&quot;,&quot;Microsoft YaHei&quot;,sans-serif', color: '#FFFFFF', justifyContent: 'space-between' }}&gt;&#10;  &lt;Box style={{ marginTop: 110, alignItems: 'center' }}&gt;&#10;    &lt;Text style={{ fontSize: 30, color: '#FFB37A', letterSpacing: 4, marginBottom: 26 }}&gt;十 年 定 投 的 答 案&lt;/Text&gt;&#10;    &lt;Text style={{ fontSize: 44, fontWeight: 'bold', lineHeight: 1.5, letterSpacing: 1 }}&gt;&#10;      「10 年定投的最大考验从来不是选哪个指数，&#10;      &lt;br /&gt;&#10;      而是在账面浮亏的那几个月里，&#10;      &lt;br /&gt;&#10;      你能不能继续投下去。」&#10;    &lt;/Text&gt;&#10;    &lt;Text style={{ fontSize: 18, color: '#8FA0B5', marginTop: 24 }}&gt;&#10;      回撤是权益策略的固有特征，坚持是关键&#10;    &lt;/Text&gt;&#10;  &lt;/Box&gt;&#10;&#10;  &lt;Box style={{ alignItems: 'center', marginBottom: 60 }}&gt;&#10;    &lt;Box style={{ background: 'rgba(255,255,255,0.12)', borderRadius: 16, padding: '26px 44px', alignItems: 'center' }}&gt;&#10;      &lt;Text style={{ fontSize: 20, color: '#FFFFFF', fontWeight: 600, textAlign: 'center', lineHeight: 1.7 }}&gt;&#10;        如需获取更多定投策略参考、同步市场变化相关观察，&#10;        &lt;br /&gt;&#10;        &lt;span style={{ color: '#FF6B5E', fontSize: 24, fontWeight: 'bold' }}&gt;欢迎和我进一步交流，落地你的定投计划&lt;/span&gt;&#10;      &lt;/Text&gt;&#10;      &lt;Text style={{ fontSize: 14, color: '#8FA0B5', marginTop: 14, textAlign: 'center' }}&gt;&#10;        以上内容仅供学习参考，不构成投资建议 · 投资有风险，入市需谨慎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3A4A"/>
              </a:gs>
              <a:gs pos="60000">
                <a:srgbClr val="1D2939"/>
              </a:gs>
              <a:gs pos="100000">
                <a:srgbClr val="3A2A2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91050" y="1428750"/>
            <a:ext cx="300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十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年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定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投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的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答</a:t>
            </a:r>
            <a:r>
              <a:rPr lang="en-US" sz="2250" spc="300">
                <a:solidFill>
                  <a:srgbClr val="FFB37A"/>
                </a:solidFill>
                <a:latin typeface="PingFang SC"/>
                <a:ea typeface="PingFang SC"/>
              </a:rPr>
              <a:t> </a:t>
            </a:r>
            <a:r>
              <a:rPr lang="zh-CN" sz="2250" spc="300">
                <a:solidFill>
                  <a:srgbClr val="FFB37A"/>
                </a:solidFill>
                <a:latin typeface="PingFang SC"/>
                <a:ea typeface="PingFang SC"/>
              </a:rPr>
              <a:t>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685925" y="2019300"/>
            <a:ext cx="8820150" cy="2266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300" b="1" spc="75">
                <a:solidFill>
                  <a:srgbClr val="FFFFFF"/>
                </a:solidFill>
                <a:latin typeface="PingFang SC"/>
                <a:ea typeface="PingFang SC"/>
              </a:rPr>
              <a:t>「</a:t>
            </a:r>
            <a:r>
              <a:rPr lang="en-US" sz="3300" b="1" spc="75">
                <a:solidFill>
                  <a:srgbClr val="FFFFFF"/>
                </a:solidFill>
                <a:latin typeface="PingFang SC"/>
                <a:ea typeface="PingFang SC"/>
              </a:rPr>
              <a:t>10 </a:t>
            </a:r>
            <a:r>
              <a:rPr lang="zh-CN" sz="3300" b="1" spc="75">
                <a:solidFill>
                  <a:srgbClr val="FFFFFF"/>
                </a:solidFill>
                <a:latin typeface="PingFang SC"/>
                <a:ea typeface="PingFang SC"/>
              </a:rPr>
              <a:t>年定投的最大考验从来不是选哪个指数，</a:t>
            </a:r>
            <a:endParaRPr/>
          </a:p>
          <a:p>
            <a:pPr>
              <a:lnSpc>
                <a:spcPct val="150000"/>
              </a:lnSpc>
            </a:pPr>
            <a:r>
              <a:rPr lang="zh-CN" sz="3300" b="1" spc="75">
                <a:solidFill>
                  <a:srgbClr val="FFFFFF"/>
                </a:solidFill>
                <a:latin typeface="PingFang SC"/>
                <a:ea typeface="PingFang SC"/>
              </a:rPr>
              <a:t>而是在账面浮亏的那几个月里，</a:t>
            </a:r>
            <a:endParaRPr/>
          </a:p>
          <a:p>
            <a:pPr>
              <a:lnSpc>
                <a:spcPct val="150000"/>
              </a:lnSpc>
            </a:pPr>
            <a:r>
              <a:rPr lang="zh-CN" sz="3300" b="1" spc="75">
                <a:solidFill>
                  <a:srgbClr val="FFFFFF"/>
                </a:solidFill>
                <a:latin typeface="PingFang SC"/>
                <a:ea typeface="PingFang SC"/>
              </a:rPr>
              <a:t>你能不能继续投下去。」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552950" y="451485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0B5"/>
                </a:solidFill>
                <a:latin typeface="PingFang SC"/>
                <a:ea typeface="PingFang SC"/>
              </a:rPr>
              <a:t>回撤是权益策略的固有特征，坚持是关键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390900" y="4724400"/>
            <a:ext cx="5410200" cy="1647825"/>
          </a:xfrm>
          <a:prstGeom prst="roundRect">
            <a:avLst>
              <a:gd name="adj" fmla="val 924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0" y="4972050"/>
            <a:ext cx="4572000" cy="8572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如需获取更多定投策略参考、同步市场变化相关观察，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800" b="1">
                <a:solidFill>
                  <a:srgbClr val="FF6B5E"/>
                </a:solidFill>
                <a:latin typeface="PingFang SC"/>
                <a:ea typeface="PingFang SC"/>
              </a:rPr>
              <a:t>欢迎和我进一步交流，落地你的定投计划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105275" y="5962650"/>
            <a:ext cx="3981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以上内容仅供学习参考，不构成投资建议</a:t>
            </a:r>
            <a:r>
              <a:rPr lang="en-US" sz="1050">
                <a:solidFill>
                  <a:srgbClr val="8FA0B5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投资有风险，入市需谨慎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2026-08-27T14:44:39Z</dcterms:created>
  <dcterms:modified xsi:type="dcterms:W3CDTF">2026-08-27T14:44:39Z</dcterms:modified>
</cp:coreProperties>
</file>