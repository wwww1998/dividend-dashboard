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s/slide9.xml" ContentType="application/vnd.openxmlformats-officedocument.presentationml.slide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presProps.xml" ContentType="application/vnd.openxmlformats-officedocument.presentationml.presProps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13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4" Type="http://schemas.openxmlformats.org/officeDocument/2006/relationships/presProps" Target="presProps.xml" /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10" Type="http://schemas.openxmlformats.org/officeDocument/2006/relationships/slide" Target="slides/slide10.xml" /><Relationship Id="rId9" Type="http://schemas.openxmlformats.org/officeDocument/2006/relationships/slide" Target="slides/slide9.xml" /><Relationship Id="rId11" Type="http://schemas.openxmlformats.org/officeDocument/2006/relationships/slide" Target="slides/slide11.xml" /><Relationship Id="rId15" Type="http://schemas.openxmlformats.org/officeDocument/2006/relationships/tableStyles" Target="tableStyles.xml" /><Relationship Id="rId6" Type="http://schemas.openxmlformats.org/officeDocument/2006/relationships/slide" Target="slides/slide6.xml" /><Relationship Id="rId12" Type="http://schemas.openxmlformats.org/officeDocument/2006/relationships/slide" Target="slides/slide12.xml" /><Relationship Id="rId13" Type="http://schemas.openxmlformats.org/officeDocument/2006/relationships/notesMaster" Target="notesMasters/notesMaster1.xml" /><Relationship Id="rId16" Type="http://schemas.openxmlformats.org/officeDocument/2006/relationships/viewProps" Target="viewProps.xml" /><Relationship Id="rId2" Type="http://schemas.openxmlformats.org/officeDocument/2006/relationships/slide" Target="slides/slide2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7" Type="http://schemas.openxmlformats.org/officeDocument/2006/relationships/slide" Target="slides/slide7.xml" /><Relationship Id="rId8" Type="http://schemas.openxmlformats.org/officeDocument/2006/relationships/slide" Target="slides/slide8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style={{ width: '1280px', height: '720px', background: 'linear-gradient(135deg,#2B3A4A 0%,#1D2939 60%,#3A2A2A 100%)', padding: '40px 72px', fontFamily: '&quot;PingFang SC&quot;,&quot;Microsoft YaHei&quot;,sans-serif', color: '#FFFFFF', justifyContent: 'space-between' }}&gt;&#10;  &lt;Box style={{ marginTop: 90 }}&gt;&#10;    &lt;Text style={{ fontSize: 64, fontWeight: 'bold', lineHeight: 1.3, letterSpacing: 1 }}&gt;&#10;      每月定投 &lt;span style={{ color: '#FF6B5E' }}&gt;10,000 元&lt;/span&gt; 红利指数&#10;      &lt;br /&gt;&#10;      10 年后能赚多少？&#10;    &lt;/Text&gt;&#10;    &lt;Text style={{ fontSize: 24, color: '#FFB37A', marginTop: 18 }}&gt;四大红利全收益指数 ·数据回测&lt;/Text&gt;&#10;    &lt;Text style={{ fontSize: 18, color: '#C8D4E0', lineHeight: 1.8, marginTop: 24, maxWidth: 1000 }}&gt;&#10;      基于中证指数官网全收益指数官方日线（csindex.com.cn），逐日复算 2016-08 至 2026-07 十年定投：&#10;      每月首个交易日买入 10,000 元，共 120 期、累计投入 ¥1,200,000。&#10;      重点还原每个指数的 &lt;span style={{ color: '#FFB37A', fontWeight: 'bold' }}&gt;真实回测&lt;/span&gt;——包括定投组合的实际浮亏与恢复耗时。&#10;    &lt;/Text&gt;&#10;  &lt;/Box&gt;&#10;&#10;  &lt;Box style={{ flexDirection: 'row', gap: 16, marginBottom: 70 }}&gt;&#10;    &lt;Box style={{ background: 'rgba(255,255,255,0.1)', borderRadius: 10, padding: '12px 22px', alignItems: 'center' }}&gt;&#10;      &lt;Text style={{ fontSize: 14, color: '#8FA0B5' }}&gt;周期&lt;/Text&gt;&#10;      &lt;Text style={{ fontSize: 18, fontWeight: 'bold', marginTop: 4 }}&gt;2016.08 - 2026.07&lt;/Text&gt;&#10;    &lt;/Box&gt;&#10;    &lt;Box style={{ background: 'rgba(255,255,255,0.1)', borderRadius: 10, padding: '12px 22px', alignItems: 'center' }}&gt;&#10;      &lt;Text style={{ fontSize: 14, color: '#8FA0B5' }}&gt;频率&lt;/Text&gt;&#10;      &lt;Text style={{ fontSize: 18, fontWeight: 'bold', marginTop: 4 }}&gt;每月首个交易日&lt;/Text&gt;&#10;    &lt;/Box&gt;&#10;    &lt;Box style={{ background: 'rgba(255,255,255,0.1)', borderRadius: 10, padding: '12px 22px', alignItems: 'center' }}&gt;&#10;      &lt;Text style={{ fontSize: 14, color: '#8FA0B5' }}&gt;每期&lt;/Text&gt;&#10;      &lt;Text style={{ fontSize: 18, fontWeight: 'bold', marginTop: 4 }}&gt;¥10,000&lt;/Text&gt;&#10;    &lt;/Box&gt;&#10;    &lt;Box style={{ background: 'rgba(255,255,255,0.1)', borderRadius: 10, padding: '12px 22px', alignItems: 'center' }}&gt;&#10;      &lt;Text style={{ fontSize: 14, color: '#8FA0B5' }}&gt;总投入&lt;/Text&gt;&#10;      &lt;Text style={{ fontSize: 18, fontWeight: 'bold', marginTop: 4 }}&gt;¥1,200,000（120 期）&lt;/Text&gt;&#10;    &lt;/Box&gt;&#10;    &lt;Box style={{ background: 'rgba(255,255,255,0.1)', borderRadius: 10, padding: '12px 22px', alignItems: 'center' }}&gt;&#10;      &lt;Text style={{ fontSize: 14, color: '#8FA0B5' }}&gt;口径&lt;/Text&gt;&#10;      &lt;Text style={{ fontSize: 18, fontWeight: 'bold', marginTop: 4 }}&gt;全收益指数（含分红再投）&lt;/Text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B3A4A"/>
              </a:gs>
              <a:gs pos="60000">
                <a:srgbClr val="1D2939"/>
              </a:gs>
              <a:gs pos="100000">
                <a:srgbClr val="3A2A2A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3" name="" descr="{&quot;isTemplate&quot;:true,&quot;type&quot;:&quot;text&quot;}"/>
          <p:cNvSpPr txBox="1"/>
          <p:nvPr/>
        </p:nvSpPr>
        <p:spPr>
          <a:xfrm rot="0" flipH="0" flipV="0">
            <a:off x="685800" y="1238250"/>
            <a:ext cx="10820400" cy="19050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4800" b="1" spc="75">
                <a:solidFill>
                  <a:srgbClr val="FFFFFF"/>
                </a:solidFill>
                <a:latin typeface="PingFang SC"/>
                <a:ea typeface="PingFang SC"/>
              </a:rPr>
              <a:t>每月定投</a:t>
            </a:r>
            <a:r>
              <a:rPr lang="en-US" sz="4800" b="1" spc="75">
                <a:solidFill>
                  <a:srgbClr val="FFFFFF"/>
                </a:solidFill>
                <a:latin typeface="PingFang SC"/>
                <a:ea typeface="PingFang SC"/>
              </a:rPr>
              <a:t> </a:t>
            </a:r>
            <a:r>
              <a:rPr lang="en-US" sz="4800" b="1" spc="75">
                <a:solidFill>
                  <a:srgbClr val="FF6B5E"/>
                </a:solidFill>
                <a:latin typeface="PingFang SC"/>
                <a:ea typeface="PingFang SC"/>
              </a:rPr>
              <a:t>10,000 </a:t>
            </a:r>
            <a:r>
              <a:rPr lang="zh-CN" sz="4800" b="1" spc="75">
                <a:solidFill>
                  <a:srgbClr val="FF6B5E"/>
                </a:solidFill>
                <a:latin typeface="PingFang SC"/>
                <a:ea typeface="PingFang SC"/>
              </a:rPr>
              <a:t>元</a:t>
            </a:r>
            <a:r>
              <a:rPr lang="en-US" sz="4800" b="1" spc="75">
                <a:solidFill>
                  <a:srgbClr val="FFFFFF"/>
                </a:solidFill>
                <a:latin typeface="PingFang SC"/>
                <a:ea typeface="PingFang SC"/>
              </a:rPr>
              <a:t> </a:t>
            </a:r>
            <a:r>
              <a:rPr lang="zh-CN" sz="4800" b="1" spc="75">
                <a:solidFill>
                  <a:srgbClr val="FFFFFF"/>
                </a:solidFill>
                <a:latin typeface="PingFang SC"/>
                <a:ea typeface="PingFang SC"/>
              </a:rPr>
              <a:t>红利指数</a:t>
            </a:r>
            <a:endParaRPr/>
          </a:p>
          <a:p>
            <a:pPr>
              <a:lnSpc>
                <a:spcPct val="130000"/>
              </a:lnSpc>
            </a:pPr>
            <a:r>
              <a:rPr lang="en-US" sz="4800" b="1" spc="75">
                <a:solidFill>
                  <a:srgbClr val="FFFFFF"/>
                </a:solidFill>
                <a:latin typeface="PingFang SC"/>
                <a:ea typeface="PingFang SC"/>
              </a:rPr>
              <a:t>10 </a:t>
            </a:r>
            <a:r>
              <a:rPr lang="zh-CN" sz="4800" b="1" spc="75">
                <a:solidFill>
                  <a:srgbClr val="FFFFFF"/>
                </a:solidFill>
                <a:latin typeface="PingFang SC"/>
                <a:ea typeface="PingFang SC"/>
              </a:rPr>
              <a:t>年后能赚多少？</a:t>
            </a:r>
            <a:endParaRPr/>
          </a:p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685800" y="3314700"/>
            <a:ext cx="108204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FFB37A"/>
                </a:solidFill>
                <a:latin typeface="PingFang SC"/>
                <a:ea typeface="PingFang SC"/>
              </a:rPr>
              <a:t>四大红利全收益指数</a:t>
            </a:r>
            <a:r>
              <a:rPr lang="en-US" sz="1800">
                <a:solidFill>
                  <a:srgbClr val="FFB37A"/>
                </a:solidFill>
                <a:latin typeface="PingFang SC"/>
                <a:ea typeface="PingFang SC"/>
              </a:rPr>
              <a:t> ·</a:t>
            </a:r>
            <a:r>
              <a:rPr lang="zh-CN" sz="1800">
                <a:solidFill>
                  <a:srgbClr val="FFB37A"/>
                </a:solidFill>
                <a:latin typeface="PingFang SC"/>
                <a:ea typeface="PingFang SC"/>
              </a:rPr>
              <a:t>数据回测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685800" y="3819525"/>
            <a:ext cx="10820400" cy="7429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350">
                <a:solidFill>
                  <a:srgbClr val="C8D4E0"/>
                </a:solidFill>
                <a:latin typeface="PingFang SC"/>
                <a:ea typeface="PingFang SC"/>
              </a:rPr>
              <a:t>基于中证指数官网全收益指数官方日线（</a:t>
            </a:r>
            <a:r>
              <a:rPr lang="en-US" sz="1350">
                <a:solidFill>
                  <a:srgbClr val="C8D4E0"/>
                </a:solidFill>
                <a:latin typeface="PingFang SC"/>
                <a:ea typeface="PingFang SC"/>
              </a:rPr>
              <a:t>csindex.com.cn</a:t>
            </a:r>
            <a:r>
              <a:rPr lang="zh-CN" sz="1350">
                <a:solidFill>
                  <a:srgbClr val="C8D4E0"/>
                </a:solidFill>
                <a:latin typeface="PingFang SC"/>
                <a:ea typeface="PingFang SC"/>
              </a:rPr>
              <a:t>），逐日复算</a:t>
            </a:r>
            <a:r>
              <a:rPr lang="en-US" sz="1350">
                <a:solidFill>
                  <a:srgbClr val="C8D4E0"/>
                </a:solidFill>
                <a:latin typeface="PingFang SC"/>
                <a:ea typeface="PingFang SC"/>
              </a:rPr>
              <a:t> 2016-08 </a:t>
            </a:r>
            <a:r>
              <a:rPr lang="zh-CN" sz="1350">
                <a:solidFill>
                  <a:srgbClr val="C8D4E0"/>
                </a:solidFill>
                <a:latin typeface="PingFang SC"/>
                <a:ea typeface="PingFang SC"/>
              </a:rPr>
              <a:t>至</a:t>
            </a:r>
            <a:r>
              <a:rPr lang="en-US" sz="1350">
                <a:solidFill>
                  <a:srgbClr val="C8D4E0"/>
                </a:solidFill>
                <a:latin typeface="PingFang SC"/>
                <a:ea typeface="PingFang SC"/>
              </a:rPr>
              <a:t> 2026-07 </a:t>
            </a:r>
            <a:r>
              <a:rPr lang="zh-CN" sz="1350">
                <a:solidFill>
                  <a:srgbClr val="C8D4E0"/>
                </a:solidFill>
                <a:latin typeface="PingFang SC"/>
                <a:ea typeface="PingFang SC"/>
              </a:rPr>
              <a:t>十年定投：</a:t>
            </a:r>
            <a:r>
              <a:rPr lang="en-US" sz="1350">
                <a:solidFill>
                  <a:srgbClr val="C8D4E0"/>
                </a:solidFill>
                <a:latin typeface="PingFang SC"/>
                <a:ea typeface="PingFang SC"/>
              </a:rPr>
              <a:t> </a:t>
            </a:r>
            <a:r>
              <a:rPr lang="zh-CN" sz="1350">
                <a:solidFill>
                  <a:srgbClr val="C8D4E0"/>
                </a:solidFill>
                <a:latin typeface="PingFang SC"/>
                <a:ea typeface="PingFang SC"/>
              </a:rPr>
              <a:t>每月首个交易日买入</a:t>
            </a:r>
            <a:r>
              <a:rPr lang="en-US" sz="1350">
                <a:solidFill>
                  <a:srgbClr val="C8D4E0"/>
                </a:solidFill>
                <a:latin typeface="PingFang SC"/>
                <a:ea typeface="PingFang SC"/>
              </a:rPr>
              <a:t> 10,000 </a:t>
            </a:r>
            <a:r>
              <a:rPr lang="zh-CN" sz="1350">
                <a:solidFill>
                  <a:srgbClr val="C8D4E0"/>
                </a:solidFill>
                <a:latin typeface="PingFang SC"/>
                <a:ea typeface="PingFang SC"/>
              </a:rPr>
              <a:t>元，共</a:t>
            </a:r>
            <a:r>
              <a:rPr lang="en-US" sz="1350">
                <a:solidFill>
                  <a:srgbClr val="C8D4E0"/>
                </a:solidFill>
                <a:latin typeface="PingFang SC"/>
                <a:ea typeface="PingFang SC"/>
              </a:rPr>
              <a:t> 120 </a:t>
            </a:r>
            <a:r>
              <a:rPr lang="zh-CN" sz="1350">
                <a:solidFill>
                  <a:srgbClr val="C8D4E0"/>
                </a:solidFill>
                <a:latin typeface="PingFang SC"/>
                <a:ea typeface="PingFang SC"/>
              </a:rPr>
              <a:t>期、累计投入</a:t>
            </a:r>
            <a:r>
              <a:rPr lang="en-US" sz="1350">
                <a:solidFill>
                  <a:srgbClr val="C8D4E0"/>
                </a:solidFill>
                <a:latin typeface="PingFang SC"/>
                <a:ea typeface="PingFang SC"/>
              </a:rPr>
              <a:t> ¥1,200,000</a:t>
            </a:r>
            <a:r>
              <a:rPr lang="zh-CN" sz="1350">
                <a:solidFill>
                  <a:srgbClr val="C8D4E0"/>
                </a:solidFill>
                <a:latin typeface="PingFang SC"/>
                <a:ea typeface="PingFang SC"/>
              </a:rPr>
              <a:t>。</a:t>
            </a:r>
            <a:r>
              <a:rPr lang="en-US" sz="1350">
                <a:solidFill>
                  <a:srgbClr val="C8D4E0"/>
                </a:solidFill>
                <a:latin typeface="PingFang SC"/>
                <a:ea typeface="PingFang SC"/>
              </a:rPr>
              <a:t> </a:t>
            </a:r>
            <a:r>
              <a:rPr lang="zh-CN" sz="1350">
                <a:solidFill>
                  <a:srgbClr val="C8D4E0"/>
                </a:solidFill>
                <a:latin typeface="PingFang SC"/>
                <a:ea typeface="PingFang SC"/>
              </a:rPr>
              <a:t>重点还原每个指数的</a:t>
            </a:r>
            <a:r>
              <a:rPr lang="en-US" sz="1350">
                <a:solidFill>
                  <a:srgbClr val="C8D4E0"/>
                </a:solidFill>
                <a:latin typeface="PingFang SC"/>
                <a:ea typeface="PingFang SC"/>
              </a:rPr>
              <a:t> </a:t>
            </a:r>
            <a:r>
              <a:rPr lang="zh-CN" sz="1350" b="1">
                <a:solidFill>
                  <a:srgbClr val="FFB37A"/>
                </a:solidFill>
                <a:latin typeface="PingFang SC"/>
                <a:ea typeface="PingFang SC"/>
              </a:rPr>
              <a:t>真实回测</a:t>
            </a:r>
            <a:r>
              <a:rPr lang="zh-CN" sz="1350">
                <a:solidFill>
                  <a:srgbClr val="C8D4E0"/>
                </a:solidFill>
                <a:latin typeface="PingFang SC"/>
                <a:ea typeface="PingFang SC"/>
              </a:rPr>
              <a:t>——包括定投组合的实际浮亏与恢复耗时。</a:t>
            </a:r>
            <a:endParaRPr/>
          </a:p>
        </p:txBody>
      </p:sp>
      <p:sp>
        <p:nvSpPr>
          <p:cNvPr id="6" name=""/>
          <p:cNvSpPr/>
          <p:nvPr/>
        </p:nvSpPr>
        <p:spPr>
          <a:xfrm rot="0" flipH="0" flipV="0">
            <a:off x="685800" y="5172075"/>
            <a:ext cx="1971675" cy="638175"/>
          </a:xfrm>
          <a:prstGeom prst="roundRect">
            <a:avLst>
              <a:gd name="adj" fmla="val 14925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p/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1543050" y="5286375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FA0B5"/>
                </a:solidFill>
                <a:latin typeface="PingFang SC"/>
                <a:ea typeface="PingFang SC"/>
              </a:rPr>
              <a:t>周期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895350" y="5486400"/>
            <a:ext cx="15525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PingFang SC"/>
                <a:ea typeface="PingFang SC"/>
              </a:rPr>
              <a:t>2016.08 - 2026.07</a:t>
            </a:r>
            <a:endParaRPr/>
          </a:p>
        </p:txBody>
      </p:sp>
      <p:sp>
        <p:nvSpPr>
          <p:cNvPr id="9" name=""/>
          <p:cNvSpPr/>
          <p:nvPr/>
        </p:nvSpPr>
        <p:spPr>
          <a:xfrm rot="0" flipH="0" flipV="0">
            <a:off x="2809875" y="5172075"/>
            <a:ext cx="1619250" cy="638175"/>
          </a:xfrm>
          <a:prstGeom prst="roundRect">
            <a:avLst>
              <a:gd name="adj" fmla="val 14925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p/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3486150" y="5286375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FA0B5"/>
                </a:solidFill>
                <a:latin typeface="PingFang SC"/>
                <a:ea typeface="PingFang SC"/>
              </a:rPr>
              <a:t>频率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3019425" y="5486400"/>
            <a:ext cx="1200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PingFang SC"/>
                <a:ea typeface="PingFang SC"/>
              </a:rPr>
              <a:t>每月首个交易日</a:t>
            </a:r>
            <a:endParaRPr/>
          </a:p>
        </p:txBody>
      </p:sp>
      <p:sp>
        <p:nvSpPr>
          <p:cNvPr id="12" name=""/>
          <p:cNvSpPr/>
          <p:nvPr/>
        </p:nvSpPr>
        <p:spPr>
          <a:xfrm rot="0" flipH="0" flipV="0">
            <a:off x="4581525" y="5172075"/>
            <a:ext cx="1104900" cy="638175"/>
          </a:xfrm>
          <a:prstGeom prst="roundRect">
            <a:avLst>
              <a:gd name="adj" fmla="val 14925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p/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5000625" y="5286375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FA0B5"/>
                </a:solidFill>
                <a:latin typeface="PingFang SC"/>
                <a:ea typeface="PingFang SC"/>
              </a:rPr>
              <a:t>每期</a:t>
            </a:r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4791075" y="5486400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PingFang SC"/>
                <a:ea typeface="PingFang SC"/>
              </a:rPr>
              <a:t>¥10,000</a:t>
            </a:r>
            <a:endParaRPr/>
          </a:p>
        </p:txBody>
      </p:sp>
      <p:sp>
        <p:nvSpPr>
          <p:cNvPr id="15" name=""/>
          <p:cNvSpPr/>
          <p:nvPr/>
        </p:nvSpPr>
        <p:spPr>
          <a:xfrm rot="0" flipH="0" flipV="0">
            <a:off x="5838825" y="5172075"/>
            <a:ext cx="2247900" cy="638175"/>
          </a:xfrm>
          <a:prstGeom prst="roundRect">
            <a:avLst>
              <a:gd name="adj" fmla="val 14925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p/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6762750" y="5286375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FA0B5"/>
                </a:solidFill>
                <a:latin typeface="PingFang SC"/>
                <a:ea typeface="PingFang SC"/>
              </a:rPr>
              <a:t>总投入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6048375" y="5486400"/>
            <a:ext cx="1828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PingFang SC"/>
                <a:ea typeface="PingFang SC"/>
              </a:rPr>
              <a:t>¥1,200,000</a:t>
            </a:r>
            <a:r>
              <a:rPr lang="zh-CN" sz="1350" b="1">
                <a:solidFill>
                  <a:srgbClr val="FFFFFF"/>
                </a:solidFill>
                <a:latin typeface="PingFang SC"/>
                <a:ea typeface="PingFang SC"/>
              </a:rPr>
              <a:t>（</a:t>
            </a:r>
            <a:r>
              <a:rPr lang="en-US" sz="1350" b="1">
                <a:solidFill>
                  <a:srgbClr val="FFFFFF"/>
                </a:solidFill>
                <a:latin typeface="PingFang SC"/>
                <a:ea typeface="PingFang SC"/>
              </a:rPr>
              <a:t>120 </a:t>
            </a:r>
            <a:r>
              <a:rPr lang="zh-CN" sz="1350" b="1">
                <a:solidFill>
                  <a:srgbClr val="FFFFFF"/>
                </a:solidFill>
                <a:latin typeface="PingFang SC"/>
                <a:ea typeface="PingFang SC"/>
              </a:rPr>
              <a:t>期）</a:t>
            </a:r>
            <a:endParaRPr/>
          </a:p>
        </p:txBody>
      </p:sp>
      <p:sp>
        <p:nvSpPr>
          <p:cNvPr id="18" name=""/>
          <p:cNvSpPr/>
          <p:nvPr/>
        </p:nvSpPr>
        <p:spPr>
          <a:xfrm rot="0" flipH="0" flipV="0">
            <a:off x="8239125" y="5172075"/>
            <a:ext cx="2476500" cy="638175"/>
          </a:xfrm>
          <a:prstGeom prst="roundRect">
            <a:avLst>
              <a:gd name="adj" fmla="val 14925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p/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9344025" y="5286375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FA0B5"/>
                </a:solidFill>
                <a:latin typeface="PingFang SC"/>
                <a:ea typeface="PingFang SC"/>
              </a:rPr>
              <a:t>口径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8448675" y="5486400"/>
            <a:ext cx="2057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PingFang SC"/>
                <a:ea typeface="PingFang SC"/>
              </a:rPr>
              <a:t>全收益指数（含分红再投）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74" name="" descr="&lt;Slide style={{ width: '1280px', height: '720px', background: '#FFFFFF', padding: '20px 64px', fontFamily: '&quot;PingFang SC&quot;,&quot;Microsoft YaHei&quot;,sans-serif', color: '#1A1A1A' }}&gt;&#13;&#10;  &lt;Box style={{ height: 96, flexDirection: 'row', alignItems: 'center', justifyContent: 'space-between' }}&gt;&#13;&#10;    &lt;Text style={{ fontSize: 34, fontWeight: 'bold', color: '#1D2939' }}&gt;① 是什么：一篮子&quot;爱分红的好公司&quot;&lt;/Text&gt;&#13;&#10;    &lt;Text style={{ fontSize: 14, color: '#6B7686' }}&gt;四大红利全收益指数 · 数据回测&lt;/Text&gt;&#13;&#10;  &lt;/Box&gt;&#13;&#10;&#13;&#10;  &lt;Box style={{ height: 398, marginTop: 6 }}&gt;&#13;&#10;    &lt;Text style={{ fontSize: 19, color: '#3B4A5C', lineHeight: 1.8 }}&gt;&#13;&#10;      红利指数基金＝跟踪&lt;span style={{ fontWeight: 'bold' }}&gt;红利指数&lt;/span&gt;的基金（场内 ETF 或场外联接基金）。&#13;&#10;      红利指数从股市里挑出一批&lt;span style={{ fontWeight: 'bold' }}&gt;股息率高、分红稳定&lt;/span&gt;的股票，按股息率加权——你买的不是一只股票，&#13;&#10;      而是&quot;高股息组合&quot;，每年收到成分公司的现金分红。四个主流红利指数的&lt;span style={{ fontWeight: 'bold' }}&gt;全收益代码&lt;/span&gt;：&#13;&#10;    &lt;/Text&gt;&#13;&#10;    &lt;Table&#13;&#10;      style={{ width: '100%', height: 292, marginTop: 10 }}&#13;&#10;      defaultTextStyle={{ fontSize: 15, textAlign: 'left', color: '#1A1A1A' }}&#13;&#10;      defaultCellStyle={{ border: { left: { width: 1, color: '#E3E8EF' }, right: { width: 1, color: '#E3E8EF' }, top: { width: 1, color: '#E3E8EF' }, bottom: { width: 1, color: '#E3E8EF' } }, padding: 12 }}&#13;&#10;      cells={[&#13;&#10;        [&#13;&#10;          { text: '指数', textStyle: { bold: true, color: '#FFFFFF' }, cellStyle: { background: { color: '#1D2939' } } },&#13;&#10;          { text: '全收益代码', textStyle: { bold: true, color: '#FFFFFF' }, cellStyle: { background: { color: '#1D2939' } } },&#13;&#10;          { text: '说明', textStyle: { bold: true, color: '#FFFFFF' }, cellStyle: { background: { color: '#1D2939' } } },&#13;&#10;        ],&#13;&#10;        [&#13;&#10;          { text: '上证红利全收益', textStyle: { bold: true } },&#13;&#10;          { text: 'H00015' },&#13;&#10;          { text: '沪市 50 只，老牌高股息大盘成分，每年 12 月调仓换股，当前央国企权重 75‑80%' },&#13;&#10;        ],&#13;&#10;        [&#13;&#10;          { text: '中证红利全收益', textStyle: { bold: true } },&#13;&#10;          { text: 'H00922' },&#13;&#10;          { text: '沪深 100 只，全市场主流红利成分，每年 12 月调仓换股，当前央国企权重 70‑75%' },&#13;&#10;        ],&#13;&#10;        [&#13;&#10;          { text: '红利低波全收益', textStyle: { bold: true } },&#13;&#10;          { text: 'H20269' },&#13;&#10;          { text: '沪深 50 只，红利低波双因子成分，每年 12 月调仓换股，当前央国企权重 70‑75%' },&#13;&#10;        ],&#13;&#10;        [&#13;&#10;          { text: '红利低波100全收益', textStyle: { bold: true } },&#13;&#10;          { text: 'H20955' },&#13;&#10;          { text: '沪深 100 只，双因子更分散的成分，季度调仓换股（3/6/9/12 月），当前央国企权重 65‑70%' },&#13;&#10;        ],&#13;&#10;      ]}&#13;&#10;    /&gt;&#13;&#10;  &lt;/Box&gt;&#13;&#10;&#13;&#10;  &lt;Box style={{ height: 118, marginTop: 6, background: '#FFF5F3', borderRadius: 12, padding: '12px 20px', border: '1px solid #F2D0CB' }}&gt;&#13;&#10;    &lt;Text style={{ fontSize: 16, color: '#8C2F28', lineHeight: 1.7 }}&gt;&#13;&#10;      注：指数规则不专门筛选国企，因高股息行业特征，国央企天然占比更高。&#13;&#10;    &lt;/Text&gt;&#13;&#10;  &lt;/Box&gt;&#13;&#10;&#13;&#10;  &lt;Box style={{ height: 50, alignItems: 'center', justifyContent: 'center' }}&gt;&#13;&#10;    &lt;Text style={{ fontSize: 14, color: '#6B7686' }}&gt;四大红利全收益指数 · 数据回测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609600" y="457200"/>
            <a:ext cx="52959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1D2939"/>
                </a:solidFill>
                <a:latin typeface="PingFang SC"/>
                <a:ea typeface="PingFang SC"/>
              </a:rPr>
              <a:t>① </a:t>
            </a:r>
            <a:r>
              <a:rPr lang="zh-CN" sz="2550" b="1">
                <a:solidFill>
                  <a:srgbClr val="1D2939"/>
                </a:solidFill>
                <a:latin typeface="PingFang SC"/>
                <a:ea typeface="PingFang SC"/>
              </a:rPr>
              <a:t>是什么：一篮子</a:t>
            </a:r>
            <a:r>
              <a:rPr lang="en-US" sz="2550" b="1">
                <a:solidFill>
                  <a:srgbClr val="1D2939"/>
                </a:solidFill>
                <a:latin typeface="PingFang SC"/>
                <a:ea typeface="PingFang SC"/>
              </a:rPr>
              <a:t>"</a:t>
            </a:r>
            <a:r>
              <a:rPr lang="zh-CN" sz="2550" b="1">
                <a:solidFill>
                  <a:srgbClr val="1D2939"/>
                </a:solidFill>
                <a:latin typeface="PingFang SC"/>
                <a:ea typeface="PingFang SC"/>
              </a:rPr>
              <a:t>爱分红的好公司</a:t>
            </a:r>
            <a:r>
              <a:rPr lang="en-US" sz="2550" b="1">
                <a:solidFill>
                  <a:srgbClr val="1D2939"/>
                </a:solidFill>
                <a:latin typeface="PingFang SC"/>
                <a:ea typeface="PingFang SC"/>
              </a:rPr>
              <a:t>"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9734550" y="571500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B7686"/>
                </a:solidFill>
                <a:latin typeface="PingFang SC"/>
                <a:ea typeface="PingFang SC"/>
              </a:rPr>
              <a:t>四大红利全收益指数</a:t>
            </a:r>
            <a:r>
              <a:rPr lang="en-US" sz="1050">
                <a:solidFill>
                  <a:srgbClr val="6B7686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B7686"/>
                </a:solidFill>
                <a:latin typeface="PingFang SC"/>
                <a:ea typeface="PingFang SC"/>
              </a:rPr>
              <a:t>数据回测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609600" y="1162050"/>
            <a:ext cx="10972800" cy="790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425">
                <a:solidFill>
                  <a:srgbClr val="3B4A5C"/>
                </a:solidFill>
                <a:latin typeface="PingFang SC"/>
                <a:ea typeface="PingFang SC"/>
              </a:rPr>
              <a:t>红利指数基金＝跟踪</a:t>
            </a:r>
            <a:r>
              <a:rPr lang="zh-CN" sz="1425" b="1">
                <a:solidFill>
                  <a:srgbClr val="3B4A5C"/>
                </a:solidFill>
                <a:latin typeface="PingFang SC"/>
                <a:ea typeface="PingFang SC"/>
              </a:rPr>
              <a:t>红利指数</a:t>
            </a:r>
            <a:r>
              <a:rPr lang="zh-CN" sz="1425">
                <a:solidFill>
                  <a:srgbClr val="3B4A5C"/>
                </a:solidFill>
                <a:latin typeface="PingFang SC"/>
                <a:ea typeface="PingFang SC"/>
              </a:rPr>
              <a:t>的基金（场内</a:t>
            </a:r>
            <a:r>
              <a:rPr lang="en-US" sz="1425">
                <a:solidFill>
                  <a:srgbClr val="3B4A5C"/>
                </a:solidFill>
                <a:latin typeface="PingFang SC"/>
                <a:ea typeface="PingFang SC"/>
              </a:rPr>
              <a:t> ETF </a:t>
            </a:r>
            <a:r>
              <a:rPr lang="zh-CN" sz="1425">
                <a:solidFill>
                  <a:srgbClr val="3B4A5C"/>
                </a:solidFill>
                <a:latin typeface="PingFang SC"/>
                <a:ea typeface="PingFang SC"/>
              </a:rPr>
              <a:t>或场外联接基金）。</a:t>
            </a:r>
            <a:r>
              <a:rPr lang="en-US" sz="1425">
                <a:solidFill>
                  <a:srgbClr val="3B4A5C"/>
                </a:solidFill>
                <a:latin typeface="PingFang SC"/>
                <a:ea typeface="PingFang SC"/>
              </a:rPr>
              <a:t> </a:t>
            </a:r>
            <a:r>
              <a:rPr lang="zh-CN" sz="1425">
                <a:solidFill>
                  <a:srgbClr val="3B4A5C"/>
                </a:solidFill>
                <a:latin typeface="PingFang SC"/>
                <a:ea typeface="PingFang SC"/>
              </a:rPr>
              <a:t>红利指数从股市里挑出一批</a:t>
            </a:r>
            <a:r>
              <a:rPr lang="zh-CN" sz="1425" b="1">
                <a:solidFill>
                  <a:srgbClr val="3B4A5C"/>
                </a:solidFill>
                <a:latin typeface="PingFang SC"/>
                <a:ea typeface="PingFang SC"/>
              </a:rPr>
              <a:t>股息率高、分红稳定</a:t>
            </a:r>
            <a:r>
              <a:rPr lang="zh-CN" sz="1425">
                <a:solidFill>
                  <a:srgbClr val="3B4A5C"/>
                </a:solidFill>
                <a:latin typeface="PingFang SC"/>
                <a:ea typeface="PingFang SC"/>
              </a:rPr>
              <a:t>的股票，按股息率加权——你买的不是一只股票，</a:t>
            </a:r>
            <a:r>
              <a:rPr lang="en-US" sz="1425">
                <a:solidFill>
                  <a:srgbClr val="3B4A5C"/>
                </a:solidFill>
                <a:latin typeface="PingFang SC"/>
                <a:ea typeface="PingFang SC"/>
              </a:rPr>
              <a:t> </a:t>
            </a:r>
            <a:r>
              <a:rPr lang="zh-CN" sz="1425">
                <a:solidFill>
                  <a:srgbClr val="3B4A5C"/>
                </a:solidFill>
                <a:latin typeface="PingFang SC"/>
                <a:ea typeface="PingFang SC"/>
              </a:rPr>
              <a:t>而是</a:t>
            </a:r>
            <a:r>
              <a:rPr lang="en-US" sz="1425">
                <a:solidFill>
                  <a:srgbClr val="3B4A5C"/>
                </a:solidFill>
                <a:latin typeface="PingFang SC"/>
                <a:ea typeface="PingFang SC"/>
              </a:rPr>
              <a:t>"</a:t>
            </a:r>
            <a:r>
              <a:rPr lang="zh-CN" sz="1425">
                <a:solidFill>
                  <a:srgbClr val="3B4A5C"/>
                </a:solidFill>
                <a:latin typeface="PingFang SC"/>
                <a:ea typeface="PingFang SC"/>
              </a:rPr>
              <a:t>高股息组合</a:t>
            </a:r>
            <a:r>
              <a:rPr lang="en-US" sz="1425">
                <a:solidFill>
                  <a:srgbClr val="3B4A5C"/>
                </a:solidFill>
                <a:latin typeface="PingFang SC"/>
                <a:ea typeface="PingFang SC"/>
              </a:rPr>
              <a:t>"</a:t>
            </a:r>
            <a:r>
              <a:rPr lang="zh-CN" sz="1425">
                <a:solidFill>
                  <a:srgbClr val="3B4A5C"/>
                </a:solidFill>
                <a:latin typeface="PingFang SC"/>
                <a:ea typeface="PingFang SC"/>
              </a:rPr>
              <a:t>，每年收到成分公司的现金分红。四个主流红利指数的</a:t>
            </a:r>
            <a:r>
              <a:rPr lang="zh-CN" sz="1425" b="1">
                <a:solidFill>
                  <a:srgbClr val="3B4A5C"/>
                </a:solidFill>
                <a:latin typeface="PingFang SC"/>
                <a:ea typeface="PingFang SC"/>
              </a:rPr>
              <a:t>全收益代码</a:t>
            </a:r>
            <a:r>
              <a:rPr lang="zh-CN" sz="1425">
                <a:solidFill>
                  <a:srgbClr val="3B4A5C"/>
                </a:solidFill>
                <a:latin typeface="PingFang SC"/>
                <a:ea typeface="PingFang SC"/>
              </a:rPr>
              <a:t>：</a:t>
            </a:r>
            <a:endParaRPr/>
          </a:p>
        </p:txBody>
      </p:sp>
      <p:graphicFrame>
        <p:nvGraphicFramePr>
          <p:cNvPr id="79" name=""/>
          <p:cNvGraphicFramePr/>
          <p:nvPr/>
        </p:nvGraphicFramePr>
        <p:xfrm rot="0" flipH="0" flipV="0">
          <a:off x="609600" y="2047875"/>
          <a:ext cx="10972800" cy="2781300"/>
        </p:xfrm>
        <a:graphic>
          <a:graphicData uri="http://schemas.openxmlformats.org/drawingml/2006/table">
            <a:tbl>
              <a:tblGrid>
                <a:gridCol w="1811439">
                  <a:extLst>
                    <a:ext uri="{9D8B030D-6E8A-4147-A177-3AD203B41FA5}">
                      <a16:colId val="1"/>
                    </a:ext>
                  </a:extLst>
                </a:gridCol>
                <a:gridCol w="1074669">
                  <a:extLst>
                    <a:ext uri="{9D8B030D-6E8A-4147-A177-3AD203B41FA5}">
                      <a16:colId val="2"/>
                    </a:ext>
                  </a:extLst>
                </a:gridCol>
                <a:gridCol w="8086692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55626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指数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D2939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全收益代码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D2939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说明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D2939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55626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上证红利全收益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H00015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沪市 50 只，老牌高股息大盘成分，每年 12 月调仓换股，当前央国企权重 75‑80%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55626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中证红利全收益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H00922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沪深 100 只，全市场主流红利成分，每年 12 月调仓换股，当前央国企权重 70‑75%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55626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红利低波全收益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H20269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沪深 50 只，红利低波双因子成分，每年 12 月调仓换股，当前央国企权重 70‑75%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55626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红利低波100全收益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H20955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沪深 100 只，双因子更分散的成分，季度调仓换股（3/6/9/12 月），当前央国企权重 65‑70%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</a:tbl>
          </a:graphicData>
        </a:graphic>
      </p:graphicFrame>
      <p:sp>
        <p:nvSpPr>
          <p:cNvPr id="80" name=""/>
          <p:cNvSpPr/>
          <p:nvPr/>
        </p:nvSpPr>
        <p:spPr>
          <a:xfrm rot="0" flipH="0" flipV="0">
            <a:off x="609600" y="5010150"/>
            <a:ext cx="10972800" cy="1123950"/>
          </a:xfrm>
          <a:prstGeom prst="roundRect">
            <a:avLst>
              <a:gd name="adj" fmla="val 10169"/>
            </a:avLst>
          </a:prstGeom>
          <a:solidFill>
            <a:srgbClr val="FFF5F3"/>
          </a:solidFill>
          <a:ln w="12700">
            <a:solidFill>
              <a:srgbClr val="F2D0CB"/>
            </a:solidFill>
            <a:prstDash val="solid"/>
          </a:ln>
        </p:spPr>
        <p:txBody>
          <a:bodyPr/>
          <a:p/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800100" y="5124450"/>
            <a:ext cx="10591800" cy="3143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00">
                <a:solidFill>
                  <a:srgbClr val="8C2F28"/>
                </a:solidFill>
                <a:latin typeface="PingFang SC"/>
                <a:ea typeface="PingFang SC"/>
              </a:rPr>
              <a:t>注：指数规则不专门筛选国企，因高股息行业特征，国央企天然占比更高。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5172075" y="6296025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B7686"/>
                </a:solidFill>
                <a:latin typeface="PingFang SC"/>
                <a:ea typeface="PingFang SC"/>
              </a:rPr>
              <a:t>四大红利全收益指数</a:t>
            </a:r>
            <a:r>
              <a:rPr lang="en-US" sz="1050">
                <a:solidFill>
                  <a:srgbClr val="6B7686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B7686"/>
                </a:solidFill>
                <a:latin typeface="PingFang SC"/>
                <a:ea typeface="PingFang SC"/>
              </a:rPr>
              <a:t>数据回测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83" name="" descr="&lt;Slide style={{ width: '1280px', height: '720px', background: '#FFFFFF', padding: '20px 64px', fontFamily: '&quot;PingFang SC&quot;,&quot;Microsoft YaHei&quot;,sans-serif', color: '#1A1A1A' }}&gt;&#13;&#10;  &lt;Box style={{ height: 96, flexDirection: 'row', alignItems: 'center', justifyContent: 'space-between' }}&gt;&#13;&#10;    &lt;Text style={{ fontSize: 34, fontWeight: 'bold', color: '#1D2939' }}&gt;② 为什么买：三条获利逻辑&lt;/Text&gt;&#13;&#10;    &lt;Text style={{ fontSize: 14, color: '#6B7686' }}&gt;四大红利全收益指数 · 数据回测&lt;/Text&gt;&#13;&#10;  &lt;/Box&gt;&#13;&#10;&#13;&#10;  &lt;Box style={{ height: 420, marginTop: 6, flexDirection: 'row', gap: 18 }}&gt;&#13;&#10;    &lt;Box style={{ flex: 1, background: '#EEF2F7', borderRadius: 14, padding: 24, justifyContent: 'space-between' }}&gt;&#13;&#10;      &lt;Box&gt;&#13;&#10;        &lt;Text style={{ fontSize: 22, fontWeight: 'bold', color: '#1D2939' }}&gt;每年收&quot;租&quot;&lt;/Text&gt;&#13;&#10;        &lt;Text style={{ fontSize: 17, color: '#3B4A5C', lineHeight: 1.8, marginTop: 10 }}&gt;&#13;&#10;          现金分红：当前股息率约 4%-5%，1 万本金每年约 400-500 元现金分红，远超十年国债（约 1.7%）与银行理财。&#13;&#10;        &lt;/Text&gt;&#13;&#10;      &lt;/Box&gt;&#13;&#10;      &lt;Text style={{ fontSize: 15, color: '#6B7686' }}&gt;分红现金流 = 每年落袋&lt;/Text&gt;&#13;&#10;    &lt;/Box&gt;&#13;&#10;    &lt;Box style={{ flex: 1, background: '#EEF2F7', borderRadius: 14, padding: 24, justifyContent: 'space-between' }}&gt;&#13;&#10;      &lt;Box&gt;&#13;&#10;        &lt;Text style={{ fontSize: 22, fontWeight: 'bold', color: '#1D2939' }}&gt;复利滚雪球&lt;/Text&gt;&#13;&#10;        &lt;Text style={{ fontSize: 17, color: '#3B4A5C', lineHeight: 1.8, marginTop: 10 }}&gt;&#13;&#10;          分红再投资＋定投：分红再买份额、跌时定投买更多份额，份额越滚越多。回测里 10 年 120 万 变 196.7 万（红利低波），一半收益来自&quot;低点坚持买入积累的份额&quot;。&#13;&#10;        &lt;/Text&gt;&#13;&#10;      &lt;/Box&gt;&#13;&#10;      &lt;Text style={{ fontSize: 15, color: '#6B7686' }}&gt;份额越滚越多&lt;/Text&gt;&#13;&#10;    &lt;/Box&gt;&#13;&#10;    &lt;Box style={{ flex: 1, background: '#EEF2F7', borderRadius: 14, padding: 24, justifyContent: 'space-between' }}&gt;&#13;&#10;      &lt;Box&gt;&#13;&#10;        &lt;Text style={{ fontSize: 22, fontWeight: 'bold', color: '#1D2939' }}&gt;防御性（低波动抗跌）&lt;/Text&gt;&#13;&#10;        &lt;Text style={{ fontSize: 17, color: '#3B4A5C', lineHeight: 1.8, marginTop: 10 }}&gt;&#13;&#10;          成分股多为银行、煤炭、石化、交运龙头，盈利稳定。10 年定投最大回撤仅 -11.6%~-17.1%，比大盘温和。&#13;&#10;        &lt;/Text&gt;&#13;&#10;      &lt;/Box&gt;&#13;&#10;      &lt;Text style={{ fontSize: 15, color: '#6B7686' }}&gt;跌得少，拿得住&lt;/Text&gt;&#13;&#10;    &lt;/Box&gt;&#13;&#10;  &lt;/Box&gt;&#13;&#10;&#13;&#10;  &lt;Box style={{ height: 110, marginTop: 6, background: '#1D2939', borderRadius: 14, padding: '16px 24px' }}&gt;&#13;&#10;    &lt;Text style={{ fontSize: 22, fontWeight: 'bold', color: '#FFB37A' }}&gt;总回报 ≈ 股息收益（4-5%）＋盈利增长（稳健）＋估值变化（小）&lt;/Text&gt;&#13;&#10;    &lt;Text style={{ fontSize: 17, color: '#C8D4E0', lineHeight: 1.7, marginTop: 10 }}&gt;&#13;&#10;      红利策略赚的是&quot;确定性现金流&quot;，不赌估值。&#13;&#10;    &lt;/Text&gt;&#13;&#10;  &lt;/Box&gt;&#13;&#10;&#13;&#10;  &lt;Box style={{ height: 50, alignItems: 'center', justifyContent: 'center' }}&gt;&#13;&#10;    &lt;Text style={{ fontSize: 14, color: '#6B7686' }}&gt;四大红利全收益指数 · 数据回测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609600" y="457200"/>
            <a:ext cx="39909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1D2939"/>
                </a:solidFill>
                <a:latin typeface="PingFang SC"/>
                <a:ea typeface="PingFang SC"/>
              </a:rPr>
              <a:t>② </a:t>
            </a:r>
            <a:r>
              <a:rPr lang="zh-CN" sz="2550" b="1">
                <a:solidFill>
                  <a:srgbClr val="1D2939"/>
                </a:solidFill>
                <a:latin typeface="PingFang SC"/>
                <a:ea typeface="PingFang SC"/>
              </a:rPr>
              <a:t>为什么买：三条获利逻辑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9734550" y="571500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B7686"/>
                </a:solidFill>
                <a:latin typeface="PingFang SC"/>
                <a:ea typeface="PingFang SC"/>
              </a:rPr>
              <a:t>四大红利全收益指数</a:t>
            </a:r>
            <a:r>
              <a:rPr lang="en-US" sz="1050">
                <a:solidFill>
                  <a:srgbClr val="6B7686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B7686"/>
                </a:solidFill>
                <a:latin typeface="PingFang SC"/>
                <a:ea typeface="PingFang SC"/>
              </a:rPr>
              <a:t>数据回测</a:t>
            </a:r>
            <a:endParaRPr/>
          </a:p>
        </p:txBody>
      </p:sp>
      <p:sp>
        <p:nvSpPr>
          <p:cNvPr id="87" name=""/>
          <p:cNvSpPr/>
          <p:nvPr/>
        </p:nvSpPr>
        <p:spPr>
          <a:xfrm rot="0" flipH="0" flipV="0">
            <a:off x="609600" y="1162050"/>
            <a:ext cx="3543300" cy="4000500"/>
          </a:xfrm>
          <a:prstGeom prst="roundRect">
            <a:avLst>
              <a:gd name="adj" fmla="val 3763"/>
            </a:avLst>
          </a:prstGeom>
          <a:solidFill>
            <a:srgbClr val="EEF2F7"/>
          </a:solidFill>
          <a:ln/>
        </p:spPr>
        <p:txBody>
          <a:bodyPr/>
          <a:p/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838200" y="1390650"/>
            <a:ext cx="3086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D2939"/>
                </a:solidFill>
                <a:latin typeface="PingFang SC"/>
                <a:ea typeface="PingFang SC"/>
              </a:rPr>
              <a:t>每年收</a:t>
            </a:r>
            <a:r>
              <a:rPr lang="en-US" sz="1650" b="1">
                <a:solidFill>
                  <a:srgbClr val="1D2939"/>
                </a:solidFill>
                <a:latin typeface="PingFang SC"/>
                <a:ea typeface="PingFang SC"/>
              </a:rPr>
              <a:t>"</a:t>
            </a:r>
            <a:r>
              <a:rPr lang="zh-CN" sz="1650" b="1">
                <a:solidFill>
                  <a:srgbClr val="1D2939"/>
                </a:solidFill>
                <a:latin typeface="PingFang SC"/>
                <a:ea typeface="PingFang SC"/>
              </a:rPr>
              <a:t>租</a:t>
            </a:r>
            <a:r>
              <a:rPr lang="en-US" sz="1650" b="1">
                <a:solidFill>
                  <a:srgbClr val="1D2939"/>
                </a:solidFill>
                <a:latin typeface="PingFang SC"/>
                <a:ea typeface="PingFang SC"/>
              </a:rPr>
              <a:t>"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838200" y="1743075"/>
            <a:ext cx="3086100" cy="1057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275">
                <a:solidFill>
                  <a:srgbClr val="3B4A5C"/>
                </a:solidFill>
                <a:latin typeface="PingFang SC"/>
                <a:ea typeface="PingFang SC"/>
              </a:rPr>
              <a:t>现金分红：当前股息率约</a:t>
            </a:r>
            <a:r>
              <a:rPr lang="en-US" sz="1275">
                <a:solidFill>
                  <a:srgbClr val="3B4A5C"/>
                </a:solidFill>
                <a:latin typeface="PingFang SC"/>
                <a:ea typeface="PingFang SC"/>
              </a:rPr>
              <a:t> 4%-5%</a:t>
            </a:r>
            <a:r>
              <a:rPr lang="zh-CN" sz="1275">
                <a:solidFill>
                  <a:srgbClr val="3B4A5C"/>
                </a:solidFill>
                <a:latin typeface="PingFang SC"/>
                <a:ea typeface="PingFang SC"/>
              </a:rPr>
              <a:t>，</a:t>
            </a:r>
            <a:r>
              <a:rPr lang="en-US" sz="1275">
                <a:solidFill>
                  <a:srgbClr val="3B4A5C"/>
                </a:solidFill>
                <a:latin typeface="PingFang SC"/>
                <a:ea typeface="PingFang SC"/>
              </a:rPr>
              <a:t>1 </a:t>
            </a:r>
            <a:r>
              <a:rPr lang="zh-CN" sz="1275">
                <a:solidFill>
                  <a:srgbClr val="3B4A5C"/>
                </a:solidFill>
                <a:latin typeface="PingFang SC"/>
                <a:ea typeface="PingFang SC"/>
              </a:rPr>
              <a:t>万本金每年约</a:t>
            </a:r>
            <a:r>
              <a:rPr lang="en-US" sz="1275">
                <a:solidFill>
                  <a:srgbClr val="3B4A5C"/>
                </a:solidFill>
                <a:latin typeface="PingFang SC"/>
                <a:ea typeface="PingFang SC"/>
              </a:rPr>
              <a:t> 400-500 </a:t>
            </a:r>
            <a:r>
              <a:rPr lang="zh-CN" sz="1275">
                <a:solidFill>
                  <a:srgbClr val="3B4A5C"/>
                </a:solidFill>
                <a:latin typeface="PingFang SC"/>
                <a:ea typeface="PingFang SC"/>
              </a:rPr>
              <a:t>元现金分红，远超十年国债（约</a:t>
            </a:r>
            <a:r>
              <a:rPr lang="en-US" sz="1275">
                <a:solidFill>
                  <a:srgbClr val="3B4A5C"/>
                </a:solidFill>
                <a:latin typeface="PingFang SC"/>
                <a:ea typeface="PingFang SC"/>
              </a:rPr>
              <a:t> 1.7%</a:t>
            </a:r>
            <a:r>
              <a:rPr lang="zh-CN" sz="1275">
                <a:solidFill>
                  <a:srgbClr val="3B4A5C"/>
                </a:solidFill>
                <a:latin typeface="PingFang SC"/>
                <a:ea typeface="PingFang SC"/>
              </a:rPr>
              <a:t>）与银行理财。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838200" y="4762500"/>
            <a:ext cx="3086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B7686"/>
                </a:solidFill>
                <a:latin typeface="PingFang SC"/>
                <a:ea typeface="PingFang SC"/>
              </a:rPr>
              <a:t>分红现金流</a:t>
            </a:r>
            <a:r>
              <a:rPr lang="en-US" sz="1125">
                <a:solidFill>
                  <a:srgbClr val="6B7686"/>
                </a:solidFill>
                <a:latin typeface="PingFang SC"/>
                <a:ea typeface="PingFang SC"/>
              </a:rPr>
              <a:t> = </a:t>
            </a:r>
            <a:r>
              <a:rPr lang="zh-CN" sz="1125">
                <a:solidFill>
                  <a:srgbClr val="6B7686"/>
                </a:solidFill>
                <a:latin typeface="PingFang SC"/>
                <a:ea typeface="PingFang SC"/>
              </a:rPr>
              <a:t>每年落袋</a:t>
            </a:r>
            <a:endParaRPr/>
          </a:p>
        </p:txBody>
      </p:sp>
      <p:sp>
        <p:nvSpPr>
          <p:cNvPr id="91" name=""/>
          <p:cNvSpPr/>
          <p:nvPr/>
        </p:nvSpPr>
        <p:spPr>
          <a:xfrm rot="0" flipH="0" flipV="0">
            <a:off x="4324350" y="1162050"/>
            <a:ext cx="3543300" cy="4000500"/>
          </a:xfrm>
          <a:prstGeom prst="roundRect">
            <a:avLst>
              <a:gd name="adj" fmla="val 3763"/>
            </a:avLst>
          </a:prstGeom>
          <a:solidFill>
            <a:srgbClr val="EEF2F7"/>
          </a:solidFill>
          <a:ln/>
        </p:spPr>
        <p:txBody>
          <a:bodyPr/>
          <a:p/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4552950" y="1390650"/>
            <a:ext cx="3086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D2939"/>
                </a:solidFill>
                <a:latin typeface="PingFang SC"/>
                <a:ea typeface="PingFang SC"/>
              </a:rPr>
              <a:t>复利滚雪球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4552950" y="1743075"/>
            <a:ext cx="3086100" cy="1400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275">
                <a:solidFill>
                  <a:srgbClr val="3B4A5C"/>
                </a:solidFill>
                <a:latin typeface="PingFang SC"/>
                <a:ea typeface="PingFang SC"/>
              </a:rPr>
              <a:t>分红再投资＋定投：分红再买份额、跌时定投买更多份额，份额越滚越多。回测里</a:t>
            </a:r>
            <a:r>
              <a:rPr lang="en-US" sz="1275">
                <a:solidFill>
                  <a:srgbClr val="3B4A5C"/>
                </a:solidFill>
                <a:latin typeface="PingFang SC"/>
                <a:ea typeface="PingFang SC"/>
              </a:rPr>
              <a:t> 10 </a:t>
            </a:r>
            <a:r>
              <a:rPr lang="zh-CN" sz="1275">
                <a:solidFill>
                  <a:srgbClr val="3B4A5C"/>
                </a:solidFill>
                <a:latin typeface="PingFang SC"/>
                <a:ea typeface="PingFang SC"/>
              </a:rPr>
              <a:t>年</a:t>
            </a:r>
            <a:r>
              <a:rPr lang="en-US" sz="1275">
                <a:solidFill>
                  <a:srgbClr val="3B4A5C"/>
                </a:solidFill>
                <a:latin typeface="PingFang SC"/>
                <a:ea typeface="PingFang SC"/>
              </a:rPr>
              <a:t> 120 </a:t>
            </a:r>
            <a:r>
              <a:rPr lang="zh-CN" sz="1275">
                <a:solidFill>
                  <a:srgbClr val="3B4A5C"/>
                </a:solidFill>
                <a:latin typeface="PingFang SC"/>
                <a:ea typeface="PingFang SC"/>
              </a:rPr>
              <a:t>万</a:t>
            </a:r>
            <a:r>
              <a:rPr lang="en-US" sz="1275">
                <a:solidFill>
                  <a:srgbClr val="3B4A5C"/>
                </a:solidFill>
                <a:latin typeface="PingFang SC"/>
                <a:ea typeface="PingFang SC"/>
              </a:rPr>
              <a:t> </a:t>
            </a:r>
            <a:r>
              <a:rPr lang="zh-CN" sz="1275">
                <a:solidFill>
                  <a:srgbClr val="3B4A5C"/>
                </a:solidFill>
                <a:latin typeface="PingFang SC"/>
                <a:ea typeface="PingFang SC"/>
              </a:rPr>
              <a:t>变</a:t>
            </a:r>
            <a:r>
              <a:rPr lang="en-US" sz="1275">
                <a:solidFill>
                  <a:srgbClr val="3B4A5C"/>
                </a:solidFill>
                <a:latin typeface="PingFang SC"/>
                <a:ea typeface="PingFang SC"/>
              </a:rPr>
              <a:t> 196.7 </a:t>
            </a:r>
            <a:r>
              <a:rPr lang="zh-CN" sz="1275">
                <a:solidFill>
                  <a:srgbClr val="3B4A5C"/>
                </a:solidFill>
                <a:latin typeface="PingFang SC"/>
                <a:ea typeface="PingFang SC"/>
              </a:rPr>
              <a:t>万（红利低波），一半收益来自</a:t>
            </a:r>
            <a:r>
              <a:rPr lang="en-US" sz="1275">
                <a:solidFill>
                  <a:srgbClr val="3B4A5C"/>
                </a:solidFill>
                <a:latin typeface="PingFang SC"/>
                <a:ea typeface="PingFang SC"/>
              </a:rPr>
              <a:t>"</a:t>
            </a:r>
            <a:r>
              <a:rPr lang="zh-CN" sz="1275">
                <a:solidFill>
                  <a:srgbClr val="3B4A5C"/>
                </a:solidFill>
                <a:latin typeface="PingFang SC"/>
                <a:ea typeface="PingFang SC"/>
              </a:rPr>
              <a:t>低点坚持买入积累的份额</a:t>
            </a:r>
            <a:r>
              <a:rPr lang="en-US" sz="1275">
                <a:solidFill>
                  <a:srgbClr val="3B4A5C"/>
                </a:solidFill>
                <a:latin typeface="PingFang SC"/>
                <a:ea typeface="PingFang SC"/>
              </a:rPr>
              <a:t>"</a:t>
            </a:r>
            <a:r>
              <a:rPr lang="zh-CN" sz="1275">
                <a:solidFill>
                  <a:srgbClr val="3B4A5C"/>
                </a:solidFill>
                <a:latin typeface="PingFang SC"/>
                <a:ea typeface="PingFang SC"/>
              </a:rPr>
              <a:t>。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4552950" y="4762500"/>
            <a:ext cx="3086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B7686"/>
                </a:solidFill>
                <a:latin typeface="PingFang SC"/>
                <a:ea typeface="PingFang SC"/>
              </a:rPr>
              <a:t>份额越滚越多</a:t>
            </a:r>
            <a:endParaRPr/>
          </a:p>
        </p:txBody>
      </p:sp>
      <p:sp>
        <p:nvSpPr>
          <p:cNvPr id="95" name=""/>
          <p:cNvSpPr/>
          <p:nvPr/>
        </p:nvSpPr>
        <p:spPr>
          <a:xfrm rot="0" flipH="0" flipV="0">
            <a:off x="8039100" y="1162050"/>
            <a:ext cx="3543300" cy="4000500"/>
          </a:xfrm>
          <a:prstGeom prst="roundRect">
            <a:avLst>
              <a:gd name="adj" fmla="val 3763"/>
            </a:avLst>
          </a:prstGeom>
          <a:solidFill>
            <a:srgbClr val="EEF2F7"/>
          </a:solidFill>
          <a:ln/>
        </p:spPr>
        <p:txBody>
          <a:bodyPr/>
          <a:p/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8267700" y="1390650"/>
            <a:ext cx="3086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D2939"/>
                </a:solidFill>
                <a:latin typeface="PingFang SC"/>
                <a:ea typeface="PingFang SC"/>
              </a:rPr>
              <a:t>防御性（低波动抗跌）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8267700" y="1743075"/>
            <a:ext cx="3086100" cy="1057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275">
                <a:solidFill>
                  <a:srgbClr val="3B4A5C"/>
                </a:solidFill>
                <a:latin typeface="PingFang SC"/>
                <a:ea typeface="PingFang SC"/>
              </a:rPr>
              <a:t>成分股多为银行、煤炭、石化、交运龙头，盈利稳定。</a:t>
            </a:r>
            <a:r>
              <a:rPr lang="en-US" sz="1275">
                <a:solidFill>
                  <a:srgbClr val="3B4A5C"/>
                </a:solidFill>
                <a:latin typeface="PingFang SC"/>
                <a:ea typeface="PingFang SC"/>
              </a:rPr>
              <a:t>10 </a:t>
            </a:r>
            <a:r>
              <a:rPr lang="zh-CN" sz="1275">
                <a:solidFill>
                  <a:srgbClr val="3B4A5C"/>
                </a:solidFill>
                <a:latin typeface="PingFang SC"/>
                <a:ea typeface="PingFang SC"/>
              </a:rPr>
              <a:t>年定投最大回撤仅</a:t>
            </a:r>
            <a:r>
              <a:rPr lang="en-US" sz="1275">
                <a:solidFill>
                  <a:srgbClr val="3B4A5C"/>
                </a:solidFill>
                <a:latin typeface="PingFang SC"/>
                <a:ea typeface="PingFang SC"/>
              </a:rPr>
              <a:t> -11.6%~-17.1%</a:t>
            </a:r>
            <a:r>
              <a:rPr lang="zh-CN" sz="1275">
                <a:solidFill>
                  <a:srgbClr val="3B4A5C"/>
                </a:solidFill>
                <a:latin typeface="PingFang SC"/>
                <a:ea typeface="PingFang SC"/>
              </a:rPr>
              <a:t>，比大盘温和。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8267700" y="4762500"/>
            <a:ext cx="3086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B7686"/>
                </a:solidFill>
                <a:latin typeface="PingFang SC"/>
                <a:ea typeface="PingFang SC"/>
              </a:rPr>
              <a:t>跌得少，拿得住</a:t>
            </a:r>
            <a:endParaRPr/>
          </a:p>
        </p:txBody>
      </p:sp>
      <p:sp>
        <p:nvSpPr>
          <p:cNvPr id="99" name=""/>
          <p:cNvSpPr/>
          <p:nvPr/>
        </p:nvSpPr>
        <p:spPr>
          <a:xfrm rot="0" flipH="0" flipV="0">
            <a:off x="609600" y="5219700"/>
            <a:ext cx="10972800" cy="1047750"/>
          </a:xfrm>
          <a:prstGeom prst="roundRect">
            <a:avLst>
              <a:gd name="adj" fmla="val 12727"/>
            </a:avLst>
          </a:prstGeom>
          <a:solidFill>
            <a:srgbClr val="1D2939"/>
          </a:solidFill>
          <a:ln/>
        </p:spPr>
        <p:txBody>
          <a:bodyPr/>
          <a:p/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838200" y="5372100"/>
            <a:ext cx="105156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B37A"/>
                </a:solidFill>
                <a:latin typeface="PingFang SC"/>
                <a:ea typeface="PingFang SC"/>
              </a:rPr>
              <a:t>总回报</a:t>
            </a:r>
            <a:r>
              <a:rPr lang="en-US" sz="1650" b="1">
                <a:solidFill>
                  <a:srgbClr val="FFB37A"/>
                </a:solidFill>
                <a:latin typeface="PingFang SC"/>
                <a:ea typeface="PingFang SC"/>
              </a:rPr>
              <a:t> ≈ </a:t>
            </a:r>
            <a:r>
              <a:rPr lang="zh-CN" sz="1650" b="1">
                <a:solidFill>
                  <a:srgbClr val="FFB37A"/>
                </a:solidFill>
                <a:latin typeface="PingFang SC"/>
                <a:ea typeface="PingFang SC"/>
              </a:rPr>
              <a:t>股息收益（</a:t>
            </a:r>
            <a:r>
              <a:rPr lang="en-US" sz="1650" b="1">
                <a:solidFill>
                  <a:srgbClr val="FFB37A"/>
                </a:solidFill>
                <a:latin typeface="PingFang SC"/>
                <a:ea typeface="PingFang SC"/>
              </a:rPr>
              <a:t>4-5%</a:t>
            </a:r>
            <a:r>
              <a:rPr lang="zh-CN" sz="1650" b="1">
                <a:solidFill>
                  <a:srgbClr val="FFB37A"/>
                </a:solidFill>
                <a:latin typeface="PingFang SC"/>
                <a:ea typeface="PingFang SC"/>
              </a:rPr>
              <a:t>）＋盈利增长（稳健）＋估值变化（小）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838200" y="5724525"/>
            <a:ext cx="10515600" cy="3333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75">
                <a:solidFill>
                  <a:srgbClr val="C8D4E0"/>
                </a:solidFill>
                <a:latin typeface="PingFang SC"/>
                <a:ea typeface="PingFang SC"/>
              </a:rPr>
              <a:t>红利策略赚的是</a:t>
            </a:r>
            <a:r>
              <a:rPr lang="en-US" sz="1275">
                <a:solidFill>
                  <a:srgbClr val="C8D4E0"/>
                </a:solidFill>
                <a:latin typeface="PingFang SC"/>
                <a:ea typeface="PingFang SC"/>
              </a:rPr>
              <a:t>"</a:t>
            </a:r>
            <a:r>
              <a:rPr lang="zh-CN" sz="1275">
                <a:solidFill>
                  <a:srgbClr val="C8D4E0"/>
                </a:solidFill>
                <a:latin typeface="PingFang SC"/>
                <a:ea typeface="PingFang SC"/>
              </a:rPr>
              <a:t>确定性现金流</a:t>
            </a:r>
            <a:r>
              <a:rPr lang="en-US" sz="1275">
                <a:solidFill>
                  <a:srgbClr val="C8D4E0"/>
                </a:solidFill>
                <a:latin typeface="PingFang SC"/>
                <a:ea typeface="PingFang SC"/>
              </a:rPr>
              <a:t>"</a:t>
            </a:r>
            <a:r>
              <a:rPr lang="zh-CN" sz="1275">
                <a:solidFill>
                  <a:srgbClr val="C8D4E0"/>
                </a:solidFill>
                <a:latin typeface="PingFang SC"/>
                <a:ea typeface="PingFang SC"/>
              </a:rPr>
              <a:t>，不赌估值。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5172075" y="6429375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B7686"/>
                </a:solidFill>
                <a:latin typeface="PingFang SC"/>
                <a:ea typeface="PingFang SC"/>
              </a:rPr>
              <a:t>四大红利全收益指数</a:t>
            </a:r>
            <a:r>
              <a:rPr lang="en-US" sz="1050">
                <a:solidFill>
                  <a:srgbClr val="6B7686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B7686"/>
                </a:solidFill>
                <a:latin typeface="PingFang SC"/>
                <a:ea typeface="PingFang SC"/>
              </a:rPr>
              <a:t>数据回测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03" name="" descr="&lt;Slide style={{ width: '1280px', height: '720px', background: '#FFFFFF', padding: '20px 64px', fontFamily: '&quot;PingFang SC&quot;,&quot;Microsoft YaHei&quot;,sans-serif', color: '#1A1A1A' }}&gt;&#13;&#10;  &lt;Box style={{ height: 96, flexDirection: 'row', alignItems: 'center', justifyContent: 'space-between' }}&gt;&#13;&#10;    &lt;Text style={{ fontSize: 34, fontWeight: 'bold', color: '#1D2939' }}&gt;③ 当前股息率：仍是国债的 2.4 倍+&lt;/Text&gt;&#13;&#10;    &lt;Text style={{ fontSize: 14, color: '#6B7686' }}&gt;四大红利全收益指数 · 数据回测&lt;/Text&gt;&#13;&#10;  &lt;/Box&gt;&#13;&#10;&#13;&#10;  &lt;Box style={{ height: 72, marginTop: 4 }}&gt;&#13;&#10;    &lt;Text style={{ fontSize: 17, color: '#3B4A5C', lineHeight: 1.7 }}&gt;&#13;&#10;      下表为四个指数&lt;span style={{ fontWeight: 'bold' }}&gt;近 12 个月实际分红收益率&lt;/span&gt;（用官方全收益指数与价格指数价差计算，真实数据；Wind 同口径 2026-07-31 中证红利 4.24%，交叉验证一致）。&#13;&#10;    &lt;/Text&gt;&#13;&#10;  &lt;/Box&gt;&#13;&#10;&#13;&#10;  &lt;Box style={{ height: 330, flexDirection: 'row', gap: 16 }}&gt;&#13;&#10;    &lt;Box style={{ flex: 1, background: '#EEF2F7', borderRadius: 14, padding: 22 }}&gt;&#13;&#10;      &lt;Text style={{ fontSize: 20, fontWeight: 'bold', color: '#1D2939' }}&gt;红利低波 &lt;span style={{ fontSize: 15, color: '#6B7686' }}&gt;H20269&lt;/span&gt;&lt;/Text&gt;&#13;&#10;      &lt;Text style={{ fontSize: 44, fontWeight: 'bold', color: '#C0392B', marginTop: 10 }}&gt;4.78%&lt;/Text&gt;&#13;&#10;      &lt;Text style={{ fontSize: 14, color: '#6B7686' }}&gt;最新 4.72%（截至 2026-08-26）&lt;/Text&gt;&#13;&#10;      &lt;Text style={{ fontSize: 14, color: '#6B7686', marginTop: 8 }}&gt;同期全收益 +3.1% ｜ 价格 -1.7%&lt;/Text&gt;&#13;&#10;    &lt;/Box&gt;&#13;&#10;    &lt;Box style={{ flex: 1, background: '#EEF2F7', borderRadius: 14, padding: 22 }}&gt;&#13;&#10;      &lt;Text style={{ fontSize: 20, fontWeight: 'bold', color: '#1D2939' }}&gt;红利低波100 &lt;span style={{ fontSize: 15, color: '#6B7686' }}&gt;H20955&lt;/span&gt;&lt;/Text&gt;&#13;&#10;      &lt;Text style={{ fontSize: 44, fontWeight: 'bold', color: '#C0392B', marginTop: 10 }}&gt;4.24%&lt;/Text&gt;&#13;&#10;      &lt;Text style={{ fontSize: 14, color: '#6B7686' }}&gt;最新 4.27%（截至 2026-08-26）&lt;/Text&gt;&#13;&#10;      &lt;Text style={{ fontSize: 14, color: '#6B7686', marginTop: 8 }}&gt;同期全收益 +4.6% ｜ 价格 +0.3%&lt;/Text&gt;&#13;&#10;    &lt;/Box&gt;&#13;&#10;    &lt;Box style={{ flex: 1, background: '#EEF2F7', borderRadius: 14, padding: 22 }}&gt;&#13;&#10;      &lt;Text style={{ fontSize: 20, fontWeight: 'bold', color: '#1D2939' }}&gt;上证红利 &lt;span style={{ fontSize: 15, color: '#6B7686' }}&gt;H00015&lt;/span&gt;&lt;/Text&gt;&#13;&#10;      &lt;Text style={{ fontSize: 44, fontWeight: 'bold', color: '#C0392B', marginTop: 10 }}&gt;4.28%&lt;/Text&gt;&#13;&#10;      &lt;Text style={{ fontSize: 14, color: '#6B7686' }}&gt;最新 4.24%（截至 2026-08-26）&lt;/Text&gt;&#13;&#10;      &lt;Text style={{ fontSize: 14, color: '#6B7686', marginTop: 8 }}&gt;同期全收益 +9.8% ｜ 价格 +5.5%&lt;/Text&gt;&#13;&#10;    &lt;/Box&gt;&#13;&#10;    &lt;Box style={{ flex: 1, background: '#EEF2F7', borderRadius: 14, padding: 22 }}&gt;&#13;&#10;      &lt;Text style={{ fontSize: 20, fontWeight: 'bold', color: '#1D2939' }}&gt;中证红利 &lt;span style={{ fontSize: 15, color: '#6B7686' }}&gt;H00922&lt;/span&gt;&lt;/Text&gt;&#13;&#10;      &lt;Text style={{ fontSize: 44, fontWeight: 'bold', color: '#C0392B', marginTop: 10 }}&gt;4.12%&lt;/Text&gt;&#13;&#10;      &lt;Text style={{ fontSize: 14, color: '#6B7686' }}&gt;最新 4.17%（截至 2026-08-26）&lt;/Text&gt;&#13;&#10;      &lt;Text style={{ fontSize: 14, color: '#6B7686', marginTop: 8 }}&gt;同期全收益 +6.6% ｜ 价格 +2.5%&lt;/Text&gt;&#13;&#10;    &lt;/Box&gt;&#13;&#10;  &lt;/Box&gt;&#13;&#10;&#13;&#10;  &lt;Box style={{ height: 112, marginTop: 6, background: '#FFF5F3', borderRadius: 12, padding: '16px 24px', border: '1px solid #F2D0CB' }}&gt;&#13;&#10;    &lt;Text style={{ fontSize: 18, color: '#8C2F28', lineHeight: 1.8, fontWeight: 600 }}&gt;&#13;&#10;      对比：十年期国债收益率约 1.7%，红利股息率是其 2.4-2.8 倍。注意股息率随价格波动：7 月红利大涨后股息率已从高位回落，4%+ 的&quot;租金&quot;依然稀缺。&#13;&#10;    &lt;/Text&gt;&#13;&#10;  &lt;/Box&gt;&#13;&#10;&#13;&#10;  &lt;Box style={{ height: 50, alignItems: 'center', justifyContent: 'center' }}&gt;&#13;&#10;    &lt;Text style={{ fontSize: 14, color: '#6B7686' }}&gt;四大红利全收益指数 · 数据回测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609600" y="457200"/>
            <a:ext cx="52387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1D2939"/>
                </a:solidFill>
                <a:latin typeface="PingFang SC"/>
                <a:ea typeface="PingFang SC"/>
              </a:rPr>
              <a:t>③ </a:t>
            </a:r>
            <a:r>
              <a:rPr lang="zh-CN" sz="2550" b="1">
                <a:solidFill>
                  <a:srgbClr val="1D2939"/>
                </a:solidFill>
                <a:latin typeface="PingFang SC"/>
                <a:ea typeface="PingFang SC"/>
              </a:rPr>
              <a:t>当前股息率：仍是国债的</a:t>
            </a:r>
            <a:r>
              <a:rPr lang="en-US" sz="2550" b="1">
                <a:solidFill>
                  <a:srgbClr val="1D2939"/>
                </a:solidFill>
                <a:latin typeface="PingFang SC"/>
                <a:ea typeface="PingFang SC"/>
              </a:rPr>
              <a:t> 2.4 </a:t>
            </a:r>
            <a:r>
              <a:rPr lang="zh-CN" sz="2550" b="1">
                <a:solidFill>
                  <a:srgbClr val="1D2939"/>
                </a:solidFill>
                <a:latin typeface="PingFang SC"/>
                <a:ea typeface="PingFang SC"/>
              </a:rPr>
              <a:t>倍</a:t>
            </a:r>
            <a:r>
              <a:rPr lang="en-US" sz="2550" b="1">
                <a:solidFill>
                  <a:srgbClr val="1D2939"/>
                </a:solidFill>
                <a:latin typeface="PingFang SC"/>
                <a:ea typeface="PingFang SC"/>
              </a:rPr>
              <a:t>+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9734550" y="571500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B7686"/>
                </a:solidFill>
                <a:latin typeface="PingFang SC"/>
                <a:ea typeface="PingFang SC"/>
              </a:rPr>
              <a:t>四大红利全收益指数</a:t>
            </a:r>
            <a:r>
              <a:rPr lang="en-US" sz="1050">
                <a:solidFill>
                  <a:srgbClr val="6B7686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B7686"/>
                </a:solidFill>
                <a:latin typeface="PingFang SC"/>
                <a:ea typeface="PingFang SC"/>
              </a:rPr>
              <a:t>数据回测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609600" y="1143000"/>
            <a:ext cx="109728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75">
                <a:solidFill>
                  <a:srgbClr val="3B4A5C"/>
                </a:solidFill>
                <a:latin typeface="PingFang SC"/>
                <a:ea typeface="PingFang SC"/>
              </a:rPr>
              <a:t>下表为四个指数</a:t>
            </a:r>
            <a:r>
              <a:rPr lang="zh-CN" sz="1275" b="1">
                <a:solidFill>
                  <a:srgbClr val="3B4A5C"/>
                </a:solidFill>
                <a:latin typeface="PingFang SC"/>
                <a:ea typeface="PingFang SC"/>
              </a:rPr>
              <a:t>近</a:t>
            </a:r>
            <a:r>
              <a:rPr lang="en-US" sz="1275" b="1">
                <a:solidFill>
                  <a:srgbClr val="3B4A5C"/>
                </a:solidFill>
                <a:latin typeface="PingFang SC"/>
                <a:ea typeface="PingFang SC"/>
              </a:rPr>
              <a:t> 12 </a:t>
            </a:r>
            <a:r>
              <a:rPr lang="zh-CN" sz="1275" b="1">
                <a:solidFill>
                  <a:srgbClr val="3B4A5C"/>
                </a:solidFill>
                <a:latin typeface="PingFang SC"/>
                <a:ea typeface="PingFang SC"/>
              </a:rPr>
              <a:t>个月实际分红收益率</a:t>
            </a:r>
            <a:r>
              <a:rPr lang="zh-CN" sz="1275">
                <a:solidFill>
                  <a:srgbClr val="3B4A5C"/>
                </a:solidFill>
                <a:latin typeface="PingFang SC"/>
                <a:ea typeface="PingFang SC"/>
              </a:rPr>
              <a:t>（用官方全收益指数与价格指数价差计算，真实数据；</a:t>
            </a:r>
            <a:r>
              <a:rPr lang="en-US" sz="1275">
                <a:solidFill>
                  <a:srgbClr val="3B4A5C"/>
                </a:solidFill>
                <a:latin typeface="PingFang SC"/>
                <a:ea typeface="PingFang SC"/>
              </a:rPr>
              <a:t>Wind </a:t>
            </a:r>
            <a:r>
              <a:rPr lang="zh-CN" sz="1275">
                <a:solidFill>
                  <a:srgbClr val="3B4A5C"/>
                </a:solidFill>
                <a:latin typeface="PingFang SC"/>
                <a:ea typeface="PingFang SC"/>
              </a:rPr>
              <a:t>同口径</a:t>
            </a:r>
            <a:r>
              <a:rPr lang="en-US" sz="1275">
                <a:solidFill>
                  <a:srgbClr val="3B4A5C"/>
                </a:solidFill>
                <a:latin typeface="PingFang SC"/>
                <a:ea typeface="PingFang SC"/>
              </a:rPr>
              <a:t> 2026-07-31 </a:t>
            </a:r>
            <a:r>
              <a:rPr lang="zh-CN" sz="1275">
                <a:solidFill>
                  <a:srgbClr val="3B4A5C"/>
                </a:solidFill>
                <a:latin typeface="PingFang SC"/>
                <a:ea typeface="PingFang SC"/>
              </a:rPr>
              <a:t>中证红利</a:t>
            </a:r>
            <a:r>
              <a:rPr lang="en-US" sz="1275">
                <a:solidFill>
                  <a:srgbClr val="3B4A5C"/>
                </a:solidFill>
                <a:latin typeface="PingFang SC"/>
                <a:ea typeface="PingFang SC"/>
              </a:rPr>
              <a:t> 4.24%</a:t>
            </a:r>
            <a:r>
              <a:rPr lang="zh-CN" sz="1275">
                <a:solidFill>
                  <a:srgbClr val="3B4A5C"/>
                </a:solidFill>
                <a:latin typeface="PingFang SC"/>
                <a:ea typeface="PingFang SC"/>
              </a:rPr>
              <a:t>，交叉验证一致）。</a:t>
            </a:r>
            <a:endParaRPr/>
          </a:p>
        </p:txBody>
      </p:sp>
      <p:sp>
        <p:nvSpPr>
          <p:cNvPr id="108" name=""/>
          <p:cNvSpPr/>
          <p:nvPr/>
        </p:nvSpPr>
        <p:spPr>
          <a:xfrm rot="0" flipH="0" flipV="0">
            <a:off x="609600" y="1828800"/>
            <a:ext cx="2628900" cy="3143250"/>
          </a:xfrm>
          <a:prstGeom prst="roundRect">
            <a:avLst>
              <a:gd name="adj" fmla="val 5072"/>
            </a:avLst>
          </a:prstGeom>
          <a:solidFill>
            <a:srgbClr val="EEF2F7"/>
          </a:solidFill>
          <a:ln/>
        </p:spPr>
        <p:txBody>
          <a:bodyPr/>
          <a:p/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819150" y="2038350"/>
            <a:ext cx="2209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D2939"/>
                </a:solidFill>
                <a:latin typeface="PingFang SC"/>
                <a:ea typeface="PingFang SC"/>
              </a:rPr>
              <a:t>红利低波</a:t>
            </a:r>
            <a:r>
              <a:rPr lang="en-US" sz="1500" b="1">
                <a:solidFill>
                  <a:srgbClr val="1D2939"/>
                </a:solidFill>
                <a:latin typeface="PingFang SC"/>
                <a:ea typeface="PingFang SC"/>
              </a:rPr>
              <a:t> </a:t>
            </a:r>
            <a:r>
              <a:rPr lang="en-US" sz="1125" b="1">
                <a:solidFill>
                  <a:srgbClr val="6B7686"/>
                </a:solidFill>
                <a:latin typeface="PingFang SC"/>
                <a:ea typeface="PingFang SC"/>
              </a:rPr>
              <a:t>H20269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819150" y="2362200"/>
            <a:ext cx="220980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C0392B"/>
                </a:solidFill>
                <a:latin typeface="PingFang SC"/>
                <a:ea typeface="PingFang SC"/>
              </a:rPr>
              <a:t>4.78%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819150" y="2867025"/>
            <a:ext cx="2209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B7686"/>
                </a:solidFill>
                <a:latin typeface="PingFang SC"/>
                <a:ea typeface="PingFang SC"/>
              </a:rPr>
              <a:t>最新</a:t>
            </a:r>
            <a:r>
              <a:rPr lang="en-US" sz="1050">
                <a:solidFill>
                  <a:srgbClr val="6B7686"/>
                </a:solidFill>
                <a:latin typeface="PingFang SC"/>
                <a:ea typeface="PingFang SC"/>
              </a:rPr>
              <a:t> 4.72%</a:t>
            </a:r>
            <a:r>
              <a:rPr lang="zh-CN" sz="1050">
                <a:solidFill>
                  <a:srgbClr val="6B7686"/>
                </a:solidFill>
                <a:latin typeface="PingFang SC"/>
                <a:ea typeface="PingFang SC"/>
              </a:rPr>
              <a:t>（截至</a:t>
            </a:r>
            <a:r>
              <a:rPr lang="en-US" sz="1050">
                <a:solidFill>
                  <a:srgbClr val="6B7686"/>
                </a:solidFill>
                <a:latin typeface="PingFang SC"/>
                <a:ea typeface="PingFang SC"/>
              </a:rPr>
              <a:t> 2026-08-26</a:t>
            </a:r>
            <a:r>
              <a:rPr lang="zh-CN" sz="1050">
                <a:solidFill>
                  <a:srgbClr val="6B7686"/>
                </a:solidFill>
                <a:latin typeface="PingFang SC"/>
                <a:ea typeface="PingFang SC"/>
              </a:rPr>
              <a:t>）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819150" y="3105150"/>
            <a:ext cx="2209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B7686"/>
                </a:solidFill>
                <a:latin typeface="PingFang SC"/>
                <a:ea typeface="PingFang SC"/>
              </a:rPr>
              <a:t>同期全收益</a:t>
            </a:r>
            <a:r>
              <a:rPr lang="en-US" sz="1050">
                <a:solidFill>
                  <a:srgbClr val="6B7686"/>
                </a:solidFill>
                <a:latin typeface="PingFang SC"/>
                <a:ea typeface="PingFang SC"/>
              </a:rPr>
              <a:t> +3.1% </a:t>
            </a:r>
            <a:r>
              <a:rPr lang="zh-CN" sz="1050">
                <a:solidFill>
                  <a:srgbClr val="6B7686"/>
                </a:solidFill>
                <a:latin typeface="PingFang SC"/>
                <a:ea typeface="PingFang SC"/>
              </a:rPr>
              <a:t>｜</a:t>
            </a:r>
            <a:r>
              <a:rPr lang="en-US" sz="1050">
                <a:solidFill>
                  <a:srgbClr val="6B7686"/>
                </a:solidFill>
                <a:latin typeface="PingFang SC"/>
                <a:ea typeface="PingFang SC"/>
              </a:rPr>
              <a:t> </a:t>
            </a:r>
            <a:r>
              <a:rPr lang="zh-CN" sz="1050">
                <a:solidFill>
                  <a:srgbClr val="6B7686"/>
                </a:solidFill>
                <a:latin typeface="PingFang SC"/>
                <a:ea typeface="PingFang SC"/>
              </a:rPr>
              <a:t>价格</a:t>
            </a:r>
            <a:r>
              <a:rPr lang="en-US" sz="1050">
                <a:solidFill>
                  <a:srgbClr val="6B7686"/>
                </a:solidFill>
                <a:latin typeface="PingFang SC"/>
                <a:ea typeface="PingFang SC"/>
              </a:rPr>
              <a:t> -1.7%</a:t>
            </a:r>
            <a:endParaRPr/>
          </a:p>
        </p:txBody>
      </p:sp>
      <p:sp>
        <p:nvSpPr>
          <p:cNvPr id="113" name=""/>
          <p:cNvSpPr/>
          <p:nvPr/>
        </p:nvSpPr>
        <p:spPr>
          <a:xfrm rot="0" flipH="0" flipV="0">
            <a:off x="3390900" y="1828800"/>
            <a:ext cx="2628900" cy="3143250"/>
          </a:xfrm>
          <a:prstGeom prst="roundRect">
            <a:avLst>
              <a:gd name="adj" fmla="val 5072"/>
            </a:avLst>
          </a:prstGeom>
          <a:solidFill>
            <a:srgbClr val="EEF2F7"/>
          </a:solidFill>
          <a:ln/>
        </p:spPr>
        <p:txBody>
          <a:bodyPr/>
          <a:p/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3600450" y="2038350"/>
            <a:ext cx="2209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D2939"/>
                </a:solidFill>
                <a:latin typeface="PingFang SC"/>
                <a:ea typeface="PingFang SC"/>
              </a:rPr>
              <a:t>红利低波</a:t>
            </a:r>
            <a:r>
              <a:rPr lang="en-US" sz="1500" b="1">
                <a:solidFill>
                  <a:srgbClr val="1D2939"/>
                </a:solidFill>
                <a:latin typeface="PingFang SC"/>
                <a:ea typeface="PingFang SC"/>
              </a:rPr>
              <a:t>100 </a:t>
            </a:r>
            <a:r>
              <a:rPr lang="en-US" sz="1125" b="1">
                <a:solidFill>
                  <a:srgbClr val="6B7686"/>
                </a:solidFill>
                <a:latin typeface="PingFang SC"/>
                <a:ea typeface="PingFang SC"/>
              </a:rPr>
              <a:t>H20955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3600450" y="2362200"/>
            <a:ext cx="220980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C0392B"/>
                </a:solidFill>
                <a:latin typeface="PingFang SC"/>
                <a:ea typeface="PingFang SC"/>
              </a:rPr>
              <a:t>4.24%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3600450" y="2867025"/>
            <a:ext cx="2209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B7686"/>
                </a:solidFill>
                <a:latin typeface="PingFang SC"/>
                <a:ea typeface="PingFang SC"/>
              </a:rPr>
              <a:t>最新</a:t>
            </a:r>
            <a:r>
              <a:rPr lang="en-US" sz="1050">
                <a:solidFill>
                  <a:srgbClr val="6B7686"/>
                </a:solidFill>
                <a:latin typeface="PingFang SC"/>
                <a:ea typeface="PingFang SC"/>
              </a:rPr>
              <a:t> 4.27%</a:t>
            </a:r>
            <a:r>
              <a:rPr lang="zh-CN" sz="1050">
                <a:solidFill>
                  <a:srgbClr val="6B7686"/>
                </a:solidFill>
                <a:latin typeface="PingFang SC"/>
                <a:ea typeface="PingFang SC"/>
              </a:rPr>
              <a:t>（截至</a:t>
            </a:r>
            <a:r>
              <a:rPr lang="en-US" sz="1050">
                <a:solidFill>
                  <a:srgbClr val="6B7686"/>
                </a:solidFill>
                <a:latin typeface="PingFang SC"/>
                <a:ea typeface="PingFang SC"/>
              </a:rPr>
              <a:t> 2026-08-26</a:t>
            </a:r>
            <a:r>
              <a:rPr lang="zh-CN" sz="1050">
                <a:solidFill>
                  <a:srgbClr val="6B7686"/>
                </a:solidFill>
                <a:latin typeface="PingFang SC"/>
                <a:ea typeface="PingFang SC"/>
              </a:rPr>
              <a:t>）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3600450" y="3105150"/>
            <a:ext cx="2209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B7686"/>
                </a:solidFill>
                <a:latin typeface="PingFang SC"/>
                <a:ea typeface="PingFang SC"/>
              </a:rPr>
              <a:t>同期全收益</a:t>
            </a:r>
            <a:r>
              <a:rPr lang="en-US" sz="1050">
                <a:solidFill>
                  <a:srgbClr val="6B7686"/>
                </a:solidFill>
                <a:latin typeface="PingFang SC"/>
                <a:ea typeface="PingFang SC"/>
              </a:rPr>
              <a:t> +4.6% </a:t>
            </a:r>
            <a:r>
              <a:rPr lang="zh-CN" sz="1050">
                <a:solidFill>
                  <a:srgbClr val="6B7686"/>
                </a:solidFill>
                <a:latin typeface="PingFang SC"/>
                <a:ea typeface="PingFang SC"/>
              </a:rPr>
              <a:t>｜</a:t>
            </a:r>
            <a:r>
              <a:rPr lang="en-US" sz="1050">
                <a:solidFill>
                  <a:srgbClr val="6B7686"/>
                </a:solidFill>
                <a:latin typeface="PingFang SC"/>
                <a:ea typeface="PingFang SC"/>
              </a:rPr>
              <a:t> </a:t>
            </a:r>
            <a:r>
              <a:rPr lang="zh-CN" sz="1050">
                <a:solidFill>
                  <a:srgbClr val="6B7686"/>
                </a:solidFill>
                <a:latin typeface="PingFang SC"/>
                <a:ea typeface="PingFang SC"/>
              </a:rPr>
              <a:t>价格</a:t>
            </a:r>
            <a:r>
              <a:rPr lang="en-US" sz="1050">
                <a:solidFill>
                  <a:srgbClr val="6B7686"/>
                </a:solidFill>
                <a:latin typeface="PingFang SC"/>
                <a:ea typeface="PingFang SC"/>
              </a:rPr>
              <a:t> +0.3%</a:t>
            </a:r>
            <a:endParaRPr/>
          </a:p>
        </p:txBody>
      </p:sp>
      <p:sp>
        <p:nvSpPr>
          <p:cNvPr id="118" name=""/>
          <p:cNvSpPr/>
          <p:nvPr/>
        </p:nvSpPr>
        <p:spPr>
          <a:xfrm rot="0" flipH="0" flipV="0">
            <a:off x="6172200" y="1828800"/>
            <a:ext cx="2628900" cy="3143250"/>
          </a:xfrm>
          <a:prstGeom prst="roundRect">
            <a:avLst>
              <a:gd name="adj" fmla="val 5072"/>
            </a:avLst>
          </a:prstGeom>
          <a:solidFill>
            <a:srgbClr val="EEF2F7"/>
          </a:solidFill>
          <a:ln/>
        </p:spPr>
        <p:txBody>
          <a:bodyPr/>
          <a:p/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6381750" y="2038350"/>
            <a:ext cx="2209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D2939"/>
                </a:solidFill>
                <a:latin typeface="PingFang SC"/>
                <a:ea typeface="PingFang SC"/>
              </a:rPr>
              <a:t>上证红利</a:t>
            </a:r>
            <a:r>
              <a:rPr lang="en-US" sz="1500" b="1">
                <a:solidFill>
                  <a:srgbClr val="1D2939"/>
                </a:solidFill>
                <a:latin typeface="PingFang SC"/>
                <a:ea typeface="PingFang SC"/>
              </a:rPr>
              <a:t> </a:t>
            </a:r>
            <a:r>
              <a:rPr lang="en-US" sz="1125" b="1">
                <a:solidFill>
                  <a:srgbClr val="6B7686"/>
                </a:solidFill>
                <a:latin typeface="PingFang SC"/>
                <a:ea typeface="PingFang SC"/>
              </a:rPr>
              <a:t>H00015</a:t>
            </a:r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6381750" y="2362200"/>
            <a:ext cx="220980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C0392B"/>
                </a:solidFill>
                <a:latin typeface="PingFang SC"/>
                <a:ea typeface="PingFang SC"/>
              </a:rPr>
              <a:t>4.28%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6381750" y="2867025"/>
            <a:ext cx="2209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B7686"/>
                </a:solidFill>
                <a:latin typeface="PingFang SC"/>
                <a:ea typeface="PingFang SC"/>
              </a:rPr>
              <a:t>最新</a:t>
            </a:r>
            <a:r>
              <a:rPr lang="en-US" sz="1050">
                <a:solidFill>
                  <a:srgbClr val="6B7686"/>
                </a:solidFill>
                <a:latin typeface="PingFang SC"/>
                <a:ea typeface="PingFang SC"/>
              </a:rPr>
              <a:t> 4.24%</a:t>
            </a:r>
            <a:r>
              <a:rPr lang="zh-CN" sz="1050">
                <a:solidFill>
                  <a:srgbClr val="6B7686"/>
                </a:solidFill>
                <a:latin typeface="PingFang SC"/>
                <a:ea typeface="PingFang SC"/>
              </a:rPr>
              <a:t>（截至</a:t>
            </a:r>
            <a:r>
              <a:rPr lang="en-US" sz="1050">
                <a:solidFill>
                  <a:srgbClr val="6B7686"/>
                </a:solidFill>
                <a:latin typeface="PingFang SC"/>
                <a:ea typeface="PingFang SC"/>
              </a:rPr>
              <a:t> 2026-08-26</a:t>
            </a:r>
            <a:r>
              <a:rPr lang="zh-CN" sz="1050">
                <a:solidFill>
                  <a:srgbClr val="6B7686"/>
                </a:solidFill>
                <a:latin typeface="PingFang SC"/>
                <a:ea typeface="PingFang SC"/>
              </a:rPr>
              <a:t>）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6381750" y="3105150"/>
            <a:ext cx="2209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B7686"/>
                </a:solidFill>
                <a:latin typeface="PingFang SC"/>
                <a:ea typeface="PingFang SC"/>
              </a:rPr>
              <a:t>同期全收益</a:t>
            </a:r>
            <a:r>
              <a:rPr lang="en-US" sz="1050">
                <a:solidFill>
                  <a:srgbClr val="6B7686"/>
                </a:solidFill>
                <a:latin typeface="PingFang SC"/>
                <a:ea typeface="PingFang SC"/>
              </a:rPr>
              <a:t> +9.8% </a:t>
            </a:r>
            <a:r>
              <a:rPr lang="zh-CN" sz="1050">
                <a:solidFill>
                  <a:srgbClr val="6B7686"/>
                </a:solidFill>
                <a:latin typeface="PingFang SC"/>
                <a:ea typeface="PingFang SC"/>
              </a:rPr>
              <a:t>｜</a:t>
            </a:r>
            <a:r>
              <a:rPr lang="en-US" sz="1050">
                <a:solidFill>
                  <a:srgbClr val="6B7686"/>
                </a:solidFill>
                <a:latin typeface="PingFang SC"/>
                <a:ea typeface="PingFang SC"/>
              </a:rPr>
              <a:t> </a:t>
            </a:r>
            <a:r>
              <a:rPr lang="zh-CN" sz="1050">
                <a:solidFill>
                  <a:srgbClr val="6B7686"/>
                </a:solidFill>
                <a:latin typeface="PingFang SC"/>
                <a:ea typeface="PingFang SC"/>
              </a:rPr>
              <a:t>价格</a:t>
            </a:r>
            <a:r>
              <a:rPr lang="en-US" sz="1050">
                <a:solidFill>
                  <a:srgbClr val="6B7686"/>
                </a:solidFill>
                <a:latin typeface="PingFang SC"/>
                <a:ea typeface="PingFang SC"/>
              </a:rPr>
              <a:t> +5.5%</a:t>
            </a:r>
            <a:endParaRPr/>
          </a:p>
        </p:txBody>
      </p:sp>
      <p:sp>
        <p:nvSpPr>
          <p:cNvPr id="123" name=""/>
          <p:cNvSpPr/>
          <p:nvPr/>
        </p:nvSpPr>
        <p:spPr>
          <a:xfrm rot="0" flipH="0" flipV="0">
            <a:off x="8953500" y="1828800"/>
            <a:ext cx="2628900" cy="3143250"/>
          </a:xfrm>
          <a:prstGeom prst="roundRect">
            <a:avLst>
              <a:gd name="adj" fmla="val 5072"/>
            </a:avLst>
          </a:prstGeom>
          <a:solidFill>
            <a:srgbClr val="EEF2F7"/>
          </a:solidFill>
          <a:ln/>
        </p:spPr>
        <p:txBody>
          <a:bodyPr/>
          <a:p/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9163050" y="2038350"/>
            <a:ext cx="2209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D2939"/>
                </a:solidFill>
                <a:latin typeface="PingFang SC"/>
                <a:ea typeface="PingFang SC"/>
              </a:rPr>
              <a:t>中证红利</a:t>
            </a:r>
            <a:r>
              <a:rPr lang="en-US" sz="1500" b="1">
                <a:solidFill>
                  <a:srgbClr val="1D2939"/>
                </a:solidFill>
                <a:latin typeface="PingFang SC"/>
                <a:ea typeface="PingFang SC"/>
              </a:rPr>
              <a:t> </a:t>
            </a:r>
            <a:r>
              <a:rPr lang="en-US" sz="1125" b="1">
                <a:solidFill>
                  <a:srgbClr val="6B7686"/>
                </a:solidFill>
                <a:latin typeface="PingFang SC"/>
                <a:ea typeface="PingFang SC"/>
              </a:rPr>
              <a:t>H00922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9163050" y="2362200"/>
            <a:ext cx="220980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C0392B"/>
                </a:solidFill>
                <a:latin typeface="PingFang SC"/>
                <a:ea typeface="PingFang SC"/>
              </a:rPr>
              <a:t>4.12%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9163050" y="2867025"/>
            <a:ext cx="2209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B7686"/>
                </a:solidFill>
                <a:latin typeface="PingFang SC"/>
                <a:ea typeface="PingFang SC"/>
              </a:rPr>
              <a:t>最新</a:t>
            </a:r>
            <a:r>
              <a:rPr lang="en-US" sz="1050">
                <a:solidFill>
                  <a:srgbClr val="6B7686"/>
                </a:solidFill>
                <a:latin typeface="PingFang SC"/>
                <a:ea typeface="PingFang SC"/>
              </a:rPr>
              <a:t> 4.17%</a:t>
            </a:r>
            <a:r>
              <a:rPr lang="zh-CN" sz="1050">
                <a:solidFill>
                  <a:srgbClr val="6B7686"/>
                </a:solidFill>
                <a:latin typeface="PingFang SC"/>
                <a:ea typeface="PingFang SC"/>
              </a:rPr>
              <a:t>（截至</a:t>
            </a:r>
            <a:r>
              <a:rPr lang="en-US" sz="1050">
                <a:solidFill>
                  <a:srgbClr val="6B7686"/>
                </a:solidFill>
                <a:latin typeface="PingFang SC"/>
                <a:ea typeface="PingFang SC"/>
              </a:rPr>
              <a:t> 2026-08-26</a:t>
            </a:r>
            <a:r>
              <a:rPr lang="zh-CN" sz="1050">
                <a:solidFill>
                  <a:srgbClr val="6B7686"/>
                </a:solidFill>
                <a:latin typeface="PingFang SC"/>
                <a:ea typeface="PingFang SC"/>
              </a:rPr>
              <a:t>）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9163050" y="3105150"/>
            <a:ext cx="2209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B7686"/>
                </a:solidFill>
                <a:latin typeface="PingFang SC"/>
                <a:ea typeface="PingFang SC"/>
              </a:rPr>
              <a:t>同期全收益</a:t>
            </a:r>
            <a:r>
              <a:rPr lang="en-US" sz="1050">
                <a:solidFill>
                  <a:srgbClr val="6B7686"/>
                </a:solidFill>
                <a:latin typeface="PingFang SC"/>
                <a:ea typeface="PingFang SC"/>
              </a:rPr>
              <a:t> +6.6% </a:t>
            </a:r>
            <a:r>
              <a:rPr lang="zh-CN" sz="1050">
                <a:solidFill>
                  <a:srgbClr val="6B7686"/>
                </a:solidFill>
                <a:latin typeface="PingFang SC"/>
                <a:ea typeface="PingFang SC"/>
              </a:rPr>
              <a:t>｜</a:t>
            </a:r>
            <a:r>
              <a:rPr lang="en-US" sz="1050">
                <a:solidFill>
                  <a:srgbClr val="6B7686"/>
                </a:solidFill>
                <a:latin typeface="PingFang SC"/>
                <a:ea typeface="PingFang SC"/>
              </a:rPr>
              <a:t> </a:t>
            </a:r>
            <a:r>
              <a:rPr lang="zh-CN" sz="1050">
                <a:solidFill>
                  <a:srgbClr val="6B7686"/>
                </a:solidFill>
                <a:latin typeface="PingFang SC"/>
                <a:ea typeface="PingFang SC"/>
              </a:rPr>
              <a:t>价格</a:t>
            </a:r>
            <a:r>
              <a:rPr lang="en-US" sz="1050">
                <a:solidFill>
                  <a:srgbClr val="6B7686"/>
                </a:solidFill>
                <a:latin typeface="PingFang SC"/>
                <a:ea typeface="PingFang SC"/>
              </a:rPr>
              <a:t> +2.5%</a:t>
            </a:r>
            <a:endParaRPr/>
          </a:p>
        </p:txBody>
      </p:sp>
      <p:sp>
        <p:nvSpPr>
          <p:cNvPr id="128" name=""/>
          <p:cNvSpPr/>
          <p:nvPr/>
        </p:nvSpPr>
        <p:spPr>
          <a:xfrm rot="0" flipH="0" flipV="0">
            <a:off x="609600" y="5029200"/>
            <a:ext cx="10972800" cy="1066800"/>
          </a:xfrm>
          <a:prstGeom prst="roundRect">
            <a:avLst>
              <a:gd name="adj" fmla="val 10714"/>
            </a:avLst>
          </a:prstGeom>
          <a:solidFill>
            <a:srgbClr val="FFF5F3"/>
          </a:solidFill>
          <a:ln w="12700">
            <a:solidFill>
              <a:srgbClr val="F2D0CB"/>
            </a:solidFill>
            <a:prstDash val="solid"/>
          </a:ln>
        </p:spPr>
        <p:txBody>
          <a:bodyPr/>
          <a:p/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838200" y="5181600"/>
            <a:ext cx="10515600" cy="7429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350" b="1">
                <a:solidFill>
                  <a:srgbClr val="8C2F28"/>
                </a:solidFill>
                <a:latin typeface="PingFang SC"/>
                <a:ea typeface="PingFang SC"/>
              </a:rPr>
              <a:t>对比：十年期国债收益率约</a:t>
            </a:r>
            <a:r>
              <a:rPr lang="en-US" sz="1350" b="1">
                <a:solidFill>
                  <a:srgbClr val="8C2F28"/>
                </a:solidFill>
                <a:latin typeface="PingFang SC"/>
                <a:ea typeface="PingFang SC"/>
              </a:rPr>
              <a:t> 1.7%</a:t>
            </a:r>
            <a:r>
              <a:rPr lang="zh-CN" sz="1350" b="1">
                <a:solidFill>
                  <a:srgbClr val="8C2F28"/>
                </a:solidFill>
                <a:latin typeface="PingFang SC"/>
                <a:ea typeface="PingFang SC"/>
              </a:rPr>
              <a:t>，红利股息率是其</a:t>
            </a:r>
            <a:r>
              <a:rPr lang="en-US" sz="1350" b="1">
                <a:solidFill>
                  <a:srgbClr val="8C2F28"/>
                </a:solidFill>
                <a:latin typeface="PingFang SC"/>
                <a:ea typeface="PingFang SC"/>
              </a:rPr>
              <a:t> 2.4-2.8 </a:t>
            </a:r>
            <a:r>
              <a:rPr lang="zh-CN" sz="1350" b="1">
                <a:solidFill>
                  <a:srgbClr val="8C2F28"/>
                </a:solidFill>
                <a:latin typeface="PingFang SC"/>
                <a:ea typeface="PingFang SC"/>
              </a:rPr>
              <a:t>倍。注意股息率随价格波动：</a:t>
            </a:r>
            <a:r>
              <a:rPr lang="en-US" sz="1350" b="1">
                <a:solidFill>
                  <a:srgbClr val="8C2F28"/>
                </a:solidFill>
                <a:latin typeface="PingFang SC"/>
                <a:ea typeface="PingFang SC"/>
              </a:rPr>
              <a:t>7 </a:t>
            </a:r>
            <a:r>
              <a:rPr lang="zh-CN" sz="1350" b="1">
                <a:solidFill>
                  <a:srgbClr val="8C2F28"/>
                </a:solidFill>
                <a:latin typeface="PingFang SC"/>
                <a:ea typeface="PingFang SC"/>
              </a:rPr>
              <a:t>月红利大涨后股息率已从高位回落，</a:t>
            </a:r>
            <a:r>
              <a:rPr lang="en-US" sz="1350" b="1">
                <a:solidFill>
                  <a:srgbClr val="8C2F28"/>
                </a:solidFill>
                <a:latin typeface="PingFang SC"/>
                <a:ea typeface="PingFang SC"/>
              </a:rPr>
              <a:t>4%+ </a:t>
            </a:r>
            <a:r>
              <a:rPr lang="zh-CN" sz="1350" b="1">
                <a:solidFill>
                  <a:srgbClr val="8C2F28"/>
                </a:solidFill>
                <a:latin typeface="PingFang SC"/>
                <a:ea typeface="PingFang SC"/>
              </a:rPr>
              <a:t>的</a:t>
            </a:r>
            <a:r>
              <a:rPr lang="en-US" sz="1350" b="1">
                <a:solidFill>
                  <a:srgbClr val="8C2F28"/>
                </a:solidFill>
                <a:latin typeface="PingFang SC"/>
                <a:ea typeface="PingFang SC"/>
              </a:rPr>
              <a:t>"</a:t>
            </a:r>
            <a:r>
              <a:rPr lang="zh-CN" sz="1350" b="1">
                <a:solidFill>
                  <a:srgbClr val="8C2F28"/>
                </a:solidFill>
                <a:latin typeface="PingFang SC"/>
                <a:ea typeface="PingFang SC"/>
              </a:rPr>
              <a:t>租金</a:t>
            </a:r>
            <a:r>
              <a:rPr lang="en-US" sz="1350" b="1">
                <a:solidFill>
                  <a:srgbClr val="8C2F28"/>
                </a:solidFill>
                <a:latin typeface="PingFang SC"/>
                <a:ea typeface="PingFang SC"/>
              </a:rPr>
              <a:t>"</a:t>
            </a:r>
            <a:r>
              <a:rPr lang="zh-CN" sz="1350" b="1">
                <a:solidFill>
                  <a:srgbClr val="8C2F28"/>
                </a:solidFill>
                <a:latin typeface="PingFang SC"/>
                <a:ea typeface="PingFang SC"/>
              </a:rPr>
              <a:t>依然稀缺。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5172075" y="6257925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B7686"/>
                </a:solidFill>
                <a:latin typeface="PingFang SC"/>
                <a:ea typeface="PingFang SC"/>
              </a:rPr>
              <a:t>四大红利全收益指数</a:t>
            </a:r>
            <a:r>
              <a:rPr lang="en-US" sz="1050">
                <a:solidFill>
                  <a:srgbClr val="6B7686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B7686"/>
                </a:solidFill>
                <a:latin typeface="PingFang SC"/>
                <a:ea typeface="PingFang SC"/>
              </a:rPr>
              <a:t>数据回测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31" name="" descr="&lt;Slide style={{ width: '1280px', height: '720px', background: '#FFFFFF', padding: '20px 64px', fontFamily: '&quot;PingFang SC&quot;,&quot;Microsoft YaHei&quot;,sans-serif', color: '#1A1A1A' }}&gt;&#10;  &lt;Box style={{ height: 96, flexDirection: 'row', alignItems: 'center', justifyContent: 'space-between' }}&gt;&#10;    &lt;Text style={{ fontSize: 34, fontWeight: 'bold', color: '#1D2939' }}&gt;1 总账：四个指数全部盈利&lt;/Text&gt;&#10;    &lt;Text style={{ fontSize: 14, color: '#6B7686' }}&gt;四大红利全收益指数 · 数据回测&lt;/Text&gt;&#10;  &lt;/Box&gt;&#10;&#10;  &lt;Box style={{ height: 120, marginTop: 6 }}&gt;&#10;    &lt;Text style={{ fontSize: 18, color: '#3B4A5C', lineHeight: 1.8 }}&gt;&#10;      年化 8.24% - 9.56% 不等，最低也跑赢银行理财。但回撤差异显著——最大回撤（定投组合市值口径）从 -11.53% 到 -17.06% 不等，这正是持有体验的分水岭。&#10;      &lt;span style={{ color: '#6B7686' }}&gt;（* 股息率为近 12 个月实际分红收益率，价差法计算，Wind 同口径交叉验证一致）&lt;/span&gt;&#10;    &lt;/Text&gt;&#10;  &lt;/Box&gt;&#10;&#10;  &lt;Box style={{ height: 380, flexDirection: 'row', gap: 16 }}&gt;&#10;    &lt;Box style={{ flex: 1, background: '#EEF2F7', borderRadius: 14, padding: 20 }}&gt;&#10;      &lt;Text style={{ fontSize: 19, fontWeight: 'bold', color: '#1D2939' }}&gt;红利低波 &lt;span style={{ fontSize: 14, color: '#6B7686' }}&gt;H20269&lt;/span&gt;&lt;/Text&gt;&#10;      &lt;Text style={{ fontSize: 15, color: '#6B7686', marginTop: 8 }}&gt;10年终值&lt;/Text&gt;&#10;      &lt;Text style={{ fontSize: 30, fontWeight: 'bold', color: '#C0392B' }}&gt;¥1,967,153&lt;/Text&gt;&#10;      &lt;Text style={{ fontSize: 15, color: '#3B4A5C', marginTop: 8 }}&gt;总收益 &lt;b style={{color:'#C0392B'}}&gt;+63.9%&lt;/b&gt; ｜ 年化 &lt;b style={{color:'#C0392B'}}&gt;9.56%&lt;/b&gt;&lt;/Text&gt;&#10;      &lt;Text style={{ fontSize: 15, color: '#3B4A5C', marginTop: 8 }}&gt;组合最大回撤 &lt;b&gt;-14.79%&lt;/b&gt;&lt;/Text&gt;&#10;      &lt;Text style={{ fontSize: 15, color: '#3B4A5C', marginTop: 8 }}&gt;当前股息率 &lt;b style={{color:'#C0392B'}}&gt;4.72%&lt;/b&gt;&lt;/Text&gt;&#10;      &lt;Text style={{ fontSize: 13.5, color: '#6B7686', marginTop: 10, lineHeight: 1.6 }}&gt;场外：华泰柏瑞中证红利低波动ETF联接 007466/007467&lt;/Text&gt;&#10;    &lt;/Box&gt;&#10;    &lt;Box style={{ flex: 1, background: '#EEF2F7', borderRadius: 14, padding: 20 }}&gt;&#10;      &lt;Text style={{ fontSize: 19, fontWeight: 'bold', color: '#1D2939' }}&gt;红利低波100 &lt;span style={{ fontSize: 14, color: '#6B7686' }}&gt;H20955&lt;/span&gt;&lt;/Text&gt;&#10;      &lt;Text style={{ fontSize: 15, color: '#6B7686', marginTop: 8 }}&gt;10年终值&lt;/Text&gt;&#10;      &lt;Text style={{ fontSize: 30, fontWeight: 'bold', color: '#C0392B' }}&gt;¥1,848,858&lt;/Text&gt;&#10;      &lt;Text style={{ fontSize: 15, color: '#3B4A5C', marginTop: 8 }}&gt;总收益 &lt;b style={{color:'#C0392B'}}&gt;+54.1%&lt;/b&gt; ｜ 年化 &lt;b style={{color:'#C0392B'}}&gt;8.39%&lt;/b&gt;&lt;/Text&gt;&#10;      &lt;Text style={{ fontSize: 15, color: '#3B4A5C', marginTop: 8 }}&gt;组合最大回撤 &lt;b&gt;-11.53%&lt;/b&gt;&lt;/Text&gt;&#10;      &lt;Text style={{ fontSize: 15, color: '#3B4A5C', marginTop: 8 }}&gt;当前股息率 &lt;b style={{color:'#C0392B'}}&gt;4.27%&lt;/b&gt;&lt;/Text&gt;&#10;      &lt;Text style={{ fontSize: 13.5, color: '#6B7686', marginTop: 10, lineHeight: 1.6 }}&gt;场外：景顺长城中证红利低波动100ETF联接 016128/016129&lt;/Text&gt;&#10;    &lt;/Box&gt;&#10;    &lt;Box style={{ flex: 1, background: '#EEF2F7', borderRadius: 14, padding: 20 }}&gt;&#10;      &lt;Text style={{ fontSize: 19, fontWeight: 'bold', color: '#1D2939' }}&gt;上证红利 &lt;span style={{ fontSize: 14, color: '#6B7686' }}&gt;H00015&lt;/span&gt;&lt;/Text&gt;&#10;      &lt;Text style={{ fontSize: 15, color: '#6B7686', marginTop: 8 }}&gt;10年终值&lt;/Text&gt;&#10;      &lt;Text style={{ fontSize: 30, fontWeight: 'bold', color: '#C0392B' }}&gt;¥1,837,767&lt;/Text&gt;&#10;      &lt;Text style={{ fontSize: 15, color: '#3B4A5C', marginTop: 8 }}&gt;总收益 &lt;b style={{color:'#C0392B'}}&gt;+53.1%&lt;/b&gt; ｜ 年化 &lt;b style={{color:'#C0392B'}}&gt;8.27%&lt;/b&gt;&lt;/Text&gt;&#10;      &lt;Text style={{ fontSize: 15, color: '#3B4A5C', marginTop: 8 }}&gt;组合最大回撤 &lt;b&gt;-17.06%&lt;/b&gt;&lt;/Text&gt;&#10;      &lt;Text style={{ fontSize: 15, color: '#3B4A5C', marginTop: 8 }}&gt;当前股息率 &lt;b style={{color:'#C0392B'}}&gt;4.24%&lt;/b&gt;&lt;/Text&gt;&#10;      &lt;Text style={{ fontSize: 13.5, color: '#6B7686', marginTop: 10, lineHeight: 1.6 }}&gt;场外：华泰柏瑞红利ETF联接 012761/012762&lt;/Text&gt;&#10;    &lt;/Box&gt;&#10;    &lt;Box style={{ flex: 1, background: '#EEF2F7', borderRadius: 14, padding: 20 }}&gt;&#10;      &lt;Text style={{ fontSize: 19, fontWeight: 'bold', color: '#1D2939' }}&gt;中证红利 &lt;span style={{ fontSize: 14, color: '#6B7686' }}&gt;H00922&lt;/span&gt;&lt;/Text&gt;&#10;      &lt;Text style={{ fontSize: 15, color: '#6B7686', marginTop: 8 }}&gt;10年终值&lt;/Text&gt;&#10;      &lt;Text style={{ fontSize: 30, fontWeight: 'bold', color: '#C0392B' }}&gt;¥1,834,922&lt;/Text&gt;&#10;      &lt;Text style={{ fontSize: 15, color: '#3B4A5C', marginTop: 8 }}&gt;总收益 &lt;b style={{color:'#C0392B'}}&gt;+52.9%&lt;/b&gt; ｜ 年化 &lt;b style={{color:'#C0392B'}}&gt;8.24%&lt;/b&gt;&lt;/Text&gt;&#10;      &lt;Text style={{ fontSize: 15, color: '#3B4A5C', marginTop: 8 }}&gt;组合最大回撤 &lt;b&gt;-13.40%&lt;/b&gt;&lt;/Text&gt;&#10;      &lt;Text style={{ fontSize: 15, color: '#3B4A5C', marginTop: 8 }}&gt;当前股息率 &lt;b style={{color:'#C0392B'}}&gt;4.17%&lt;/b&gt;&lt;/Text&gt;&#10;      &lt;Text style={{ fontSize: 13.5, color: '#6B7686', marginTop: 10, lineHeight: 1.6 }}&gt;场外：易方达中证红利ETF联接发起式A/C 009051/009052&lt;/Text&gt;&#10;    &lt;/Box&gt;&#10;  &lt;/Box&gt;&#10;&#10;  &lt;Box style={{ height: 50, alignItems: 'center', justifyContent: 'center' }}&gt;&#10;    &lt;Text style={{ fontSize: 14, color: '#6B7686' }}&gt;四大红利全收益指数 · 数据回测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609600" y="457200"/>
            <a:ext cx="38671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1D2939"/>
                </a:solidFill>
                <a:latin typeface="PingFang SC"/>
                <a:ea typeface="PingFang SC"/>
              </a:rPr>
              <a:t>1 </a:t>
            </a:r>
            <a:r>
              <a:rPr lang="zh-CN" sz="2550" b="1">
                <a:solidFill>
                  <a:srgbClr val="1D2939"/>
                </a:solidFill>
                <a:latin typeface="PingFang SC"/>
                <a:ea typeface="PingFang SC"/>
              </a:rPr>
              <a:t>总账：四个指数全部盈利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9734550" y="571500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B7686"/>
                </a:solidFill>
                <a:latin typeface="PingFang SC"/>
                <a:ea typeface="PingFang SC"/>
              </a:rPr>
              <a:t>四大红利全收益指数</a:t>
            </a:r>
            <a:r>
              <a:rPr lang="en-US" sz="1050">
                <a:solidFill>
                  <a:srgbClr val="6B7686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B7686"/>
                </a:solidFill>
                <a:latin typeface="PingFang SC"/>
                <a:ea typeface="PingFang SC"/>
              </a:rPr>
              <a:t>数据回测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609600" y="1162050"/>
            <a:ext cx="10972800" cy="7429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350">
                <a:solidFill>
                  <a:srgbClr val="3B4A5C"/>
                </a:solidFill>
                <a:latin typeface="PingFang SC"/>
                <a:ea typeface="PingFang SC"/>
              </a:rPr>
              <a:t>年化</a:t>
            </a:r>
            <a:r>
              <a:rPr lang="en-US" sz="1350">
                <a:solidFill>
                  <a:srgbClr val="3B4A5C"/>
                </a:solidFill>
                <a:latin typeface="PingFang SC"/>
                <a:ea typeface="PingFang SC"/>
              </a:rPr>
              <a:t> 8.24% - 9.56% </a:t>
            </a:r>
            <a:r>
              <a:rPr lang="zh-CN" sz="1350">
                <a:solidFill>
                  <a:srgbClr val="3B4A5C"/>
                </a:solidFill>
                <a:latin typeface="PingFang SC"/>
                <a:ea typeface="PingFang SC"/>
              </a:rPr>
              <a:t>不等，最低也跑赢银行理财。但回撤差异显著——最大回撤（定投组合市值口径）从</a:t>
            </a:r>
            <a:r>
              <a:rPr lang="en-US" sz="1350">
                <a:solidFill>
                  <a:srgbClr val="3B4A5C"/>
                </a:solidFill>
                <a:latin typeface="PingFang SC"/>
                <a:ea typeface="PingFang SC"/>
              </a:rPr>
              <a:t> -11.53% </a:t>
            </a:r>
            <a:r>
              <a:rPr lang="zh-CN" sz="1350">
                <a:solidFill>
                  <a:srgbClr val="3B4A5C"/>
                </a:solidFill>
                <a:latin typeface="PingFang SC"/>
                <a:ea typeface="PingFang SC"/>
              </a:rPr>
              <a:t>到</a:t>
            </a:r>
            <a:r>
              <a:rPr lang="en-US" sz="1350">
                <a:solidFill>
                  <a:srgbClr val="3B4A5C"/>
                </a:solidFill>
                <a:latin typeface="PingFang SC"/>
                <a:ea typeface="PingFang SC"/>
              </a:rPr>
              <a:t> -17.06% </a:t>
            </a:r>
            <a:r>
              <a:rPr lang="zh-CN" sz="1350">
                <a:solidFill>
                  <a:srgbClr val="3B4A5C"/>
                </a:solidFill>
                <a:latin typeface="PingFang SC"/>
                <a:ea typeface="PingFang SC"/>
              </a:rPr>
              <a:t>不等，这正是持有体验的分水岭。</a:t>
            </a:r>
            <a:r>
              <a:rPr lang="zh-CN" sz="1350">
                <a:solidFill>
                  <a:srgbClr val="6B7686"/>
                </a:solidFill>
                <a:latin typeface="PingFang SC"/>
                <a:ea typeface="PingFang SC"/>
              </a:rPr>
              <a:t>（</a:t>
            </a:r>
            <a:r>
              <a:rPr lang="en-US" sz="1350">
                <a:solidFill>
                  <a:srgbClr val="6B7686"/>
                </a:solidFill>
                <a:latin typeface="PingFang SC"/>
                <a:ea typeface="PingFang SC"/>
              </a:rPr>
              <a:t>* </a:t>
            </a:r>
            <a:r>
              <a:rPr lang="zh-CN" sz="1350">
                <a:solidFill>
                  <a:srgbClr val="6B7686"/>
                </a:solidFill>
                <a:latin typeface="PingFang SC"/>
                <a:ea typeface="PingFang SC"/>
              </a:rPr>
              <a:t>股息率为近</a:t>
            </a:r>
            <a:r>
              <a:rPr lang="en-US" sz="1350">
                <a:solidFill>
                  <a:srgbClr val="6B7686"/>
                </a:solidFill>
                <a:latin typeface="PingFang SC"/>
                <a:ea typeface="PingFang SC"/>
              </a:rPr>
              <a:t> 12 </a:t>
            </a:r>
            <a:r>
              <a:rPr lang="zh-CN" sz="1350">
                <a:solidFill>
                  <a:srgbClr val="6B7686"/>
                </a:solidFill>
                <a:latin typeface="PingFang SC"/>
                <a:ea typeface="PingFang SC"/>
              </a:rPr>
              <a:t>个月实际分红收益率，价差法计算，</a:t>
            </a:r>
            <a:r>
              <a:rPr lang="en-US" sz="1350">
                <a:solidFill>
                  <a:srgbClr val="6B7686"/>
                </a:solidFill>
                <a:latin typeface="PingFang SC"/>
                <a:ea typeface="PingFang SC"/>
              </a:rPr>
              <a:t>Wind </a:t>
            </a:r>
            <a:r>
              <a:rPr lang="zh-CN" sz="1350">
                <a:solidFill>
                  <a:srgbClr val="6B7686"/>
                </a:solidFill>
                <a:latin typeface="PingFang SC"/>
                <a:ea typeface="PingFang SC"/>
              </a:rPr>
              <a:t>同口径交叉验证一致）</a:t>
            </a:r>
            <a:endParaRPr/>
          </a:p>
        </p:txBody>
      </p:sp>
      <p:sp>
        <p:nvSpPr>
          <p:cNvPr id="136" name=""/>
          <p:cNvSpPr/>
          <p:nvPr/>
        </p:nvSpPr>
        <p:spPr>
          <a:xfrm rot="0" flipH="0" flipV="0">
            <a:off x="609600" y="2305050"/>
            <a:ext cx="2628900" cy="3619500"/>
          </a:xfrm>
          <a:prstGeom prst="roundRect">
            <a:avLst>
              <a:gd name="adj" fmla="val 5072"/>
            </a:avLst>
          </a:prstGeom>
          <a:solidFill>
            <a:srgbClr val="EEF2F7"/>
          </a:solidFill>
          <a:ln/>
        </p:spPr>
        <p:txBody>
          <a:bodyPr/>
          <a:p/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800100" y="2495550"/>
            <a:ext cx="2247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D2939"/>
                </a:solidFill>
                <a:latin typeface="PingFang SC"/>
                <a:ea typeface="PingFang SC"/>
              </a:rPr>
              <a:t>红利低波</a:t>
            </a:r>
            <a:r>
              <a:rPr lang="en-US" sz="1425" b="1">
                <a:solidFill>
                  <a:srgbClr val="1D2939"/>
                </a:solidFill>
                <a:latin typeface="PingFang SC"/>
                <a:ea typeface="PingFang SC"/>
              </a:rPr>
              <a:t> </a:t>
            </a:r>
            <a:r>
              <a:rPr lang="en-US" sz="1050" b="1">
                <a:solidFill>
                  <a:srgbClr val="6B7686"/>
                </a:solidFill>
                <a:latin typeface="PingFang SC"/>
                <a:ea typeface="PingFang SC"/>
              </a:rPr>
              <a:t>H20269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800100" y="2790825"/>
            <a:ext cx="2247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6B7686"/>
                </a:solidFill>
                <a:latin typeface="PingFang SC"/>
                <a:ea typeface="PingFang SC"/>
              </a:rPr>
              <a:t>10</a:t>
            </a:r>
            <a:r>
              <a:rPr lang="zh-CN" sz="1125">
                <a:solidFill>
                  <a:srgbClr val="6B7686"/>
                </a:solidFill>
                <a:latin typeface="PingFang SC"/>
                <a:ea typeface="PingFang SC"/>
              </a:rPr>
              <a:t>年终值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800100" y="2962275"/>
            <a:ext cx="22479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C0392B"/>
                </a:solidFill>
                <a:latin typeface="PingFang SC"/>
                <a:ea typeface="PingFang SC"/>
              </a:rPr>
              <a:t>¥1,967,153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800100" y="3381375"/>
            <a:ext cx="2247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3B4A5C"/>
                </a:solidFill>
                <a:latin typeface="PingFang SC"/>
                <a:ea typeface="PingFang SC"/>
              </a:rPr>
              <a:t>总收益</a:t>
            </a:r>
            <a:r>
              <a:rPr lang="en-US" sz="1125">
                <a:solidFill>
                  <a:srgbClr val="3B4A5C"/>
                </a:solidFill>
                <a:latin typeface="PingFang SC"/>
                <a:ea typeface="PingFang SC"/>
              </a:rPr>
              <a:t> </a:t>
            </a:r>
            <a:r>
              <a:rPr lang="en-US" sz="1125">
                <a:solidFill>
                  <a:srgbClr val="3B4A5C"/>
                </a:solidFill>
                <a:latin typeface="PingFang SC"/>
                <a:ea typeface="PingFang SC"/>
              </a:rPr>
              <a:t>+63.9%</a:t>
            </a:r>
            <a:r>
              <a:rPr lang="en-US" sz="1125">
                <a:solidFill>
                  <a:srgbClr val="3B4A5C"/>
                </a:solidFill>
                <a:latin typeface="PingFang SC"/>
                <a:ea typeface="PingFang SC"/>
              </a:rPr>
              <a:t> </a:t>
            </a:r>
            <a:r>
              <a:rPr lang="zh-CN" sz="1125">
                <a:solidFill>
                  <a:srgbClr val="3B4A5C"/>
                </a:solidFill>
                <a:latin typeface="PingFang SC"/>
                <a:ea typeface="PingFang SC"/>
              </a:rPr>
              <a:t>｜</a:t>
            </a:r>
            <a:r>
              <a:rPr lang="en-US" sz="1125">
                <a:solidFill>
                  <a:srgbClr val="3B4A5C"/>
                </a:solidFill>
                <a:latin typeface="PingFang SC"/>
                <a:ea typeface="PingFang SC"/>
              </a:rPr>
              <a:t> </a:t>
            </a:r>
            <a:r>
              <a:rPr lang="zh-CN" sz="1125">
                <a:solidFill>
                  <a:srgbClr val="3B4A5C"/>
                </a:solidFill>
                <a:latin typeface="PingFang SC"/>
                <a:ea typeface="PingFang SC"/>
              </a:rPr>
              <a:t>年化</a:t>
            </a:r>
            <a:r>
              <a:rPr lang="en-US" sz="1125">
                <a:solidFill>
                  <a:srgbClr val="3B4A5C"/>
                </a:solidFill>
                <a:latin typeface="PingFang SC"/>
                <a:ea typeface="PingFang SC"/>
              </a:rPr>
              <a:t> </a:t>
            </a:r>
            <a:r>
              <a:rPr lang="en-US" sz="1125">
                <a:solidFill>
                  <a:srgbClr val="3B4A5C"/>
                </a:solidFill>
                <a:latin typeface="PingFang SC"/>
                <a:ea typeface="PingFang SC"/>
              </a:rPr>
              <a:t>9.56%</a:t>
            </a:r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800100" y="3629025"/>
            <a:ext cx="2247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3B4A5C"/>
                </a:solidFill>
                <a:latin typeface="PingFang SC"/>
                <a:ea typeface="PingFang SC"/>
              </a:rPr>
              <a:t>组合最大回撤</a:t>
            </a:r>
            <a:r>
              <a:rPr lang="en-US" sz="1125">
                <a:solidFill>
                  <a:srgbClr val="3B4A5C"/>
                </a:solidFill>
                <a:latin typeface="PingFang SC"/>
                <a:ea typeface="PingFang SC"/>
              </a:rPr>
              <a:t> </a:t>
            </a:r>
            <a:r>
              <a:rPr lang="en-US" sz="1125">
                <a:solidFill>
                  <a:srgbClr val="3B4A5C"/>
                </a:solidFill>
                <a:latin typeface="PingFang SC"/>
                <a:ea typeface="PingFang SC"/>
              </a:rPr>
              <a:t>-14.79%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800100" y="3876675"/>
            <a:ext cx="2247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3B4A5C"/>
                </a:solidFill>
                <a:latin typeface="PingFang SC"/>
                <a:ea typeface="PingFang SC"/>
              </a:rPr>
              <a:t>当前股息率</a:t>
            </a:r>
            <a:r>
              <a:rPr lang="en-US" sz="1125">
                <a:solidFill>
                  <a:srgbClr val="3B4A5C"/>
                </a:solidFill>
                <a:latin typeface="PingFang SC"/>
                <a:ea typeface="PingFang SC"/>
              </a:rPr>
              <a:t> </a:t>
            </a:r>
            <a:r>
              <a:rPr lang="en-US" sz="1125">
                <a:solidFill>
                  <a:srgbClr val="3B4A5C"/>
                </a:solidFill>
                <a:latin typeface="PingFang SC"/>
                <a:ea typeface="PingFang SC"/>
              </a:rPr>
              <a:t>4.72%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800100" y="4143375"/>
            <a:ext cx="2247900" cy="495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13">
                <a:solidFill>
                  <a:srgbClr val="6B7686"/>
                </a:solidFill>
                <a:latin typeface="PingFang SC"/>
                <a:ea typeface="PingFang SC"/>
              </a:rPr>
              <a:t>场外：华泰柏瑞中证红利低波动</a:t>
            </a:r>
            <a:r>
              <a:rPr lang="en-US" sz="1013">
                <a:solidFill>
                  <a:srgbClr val="6B7686"/>
                </a:solidFill>
                <a:latin typeface="PingFang SC"/>
                <a:ea typeface="PingFang SC"/>
              </a:rPr>
              <a:t>ETF</a:t>
            </a:r>
            <a:r>
              <a:rPr lang="zh-CN" sz="1013">
                <a:solidFill>
                  <a:srgbClr val="6B7686"/>
                </a:solidFill>
                <a:latin typeface="PingFang SC"/>
                <a:ea typeface="PingFang SC"/>
              </a:rPr>
              <a:t>联接</a:t>
            </a:r>
            <a:r>
              <a:rPr lang="en-US" sz="1013">
                <a:solidFill>
                  <a:srgbClr val="6B7686"/>
                </a:solidFill>
                <a:latin typeface="PingFang SC"/>
                <a:ea typeface="PingFang SC"/>
              </a:rPr>
              <a:t> 007466/007467</a:t>
            </a:r>
            <a:endParaRPr/>
          </a:p>
        </p:txBody>
      </p:sp>
      <p:sp>
        <p:nvSpPr>
          <p:cNvPr id="144" name=""/>
          <p:cNvSpPr/>
          <p:nvPr/>
        </p:nvSpPr>
        <p:spPr>
          <a:xfrm rot="0" flipH="0" flipV="0">
            <a:off x="3390900" y="2305050"/>
            <a:ext cx="2628900" cy="3619500"/>
          </a:xfrm>
          <a:prstGeom prst="roundRect">
            <a:avLst>
              <a:gd name="adj" fmla="val 5072"/>
            </a:avLst>
          </a:prstGeom>
          <a:solidFill>
            <a:srgbClr val="EEF2F7"/>
          </a:solidFill>
          <a:ln/>
        </p:spPr>
        <p:txBody>
          <a:bodyPr/>
          <a:p/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3581400" y="2495550"/>
            <a:ext cx="2247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D2939"/>
                </a:solidFill>
                <a:latin typeface="PingFang SC"/>
                <a:ea typeface="PingFang SC"/>
              </a:rPr>
              <a:t>红利低波</a:t>
            </a:r>
            <a:r>
              <a:rPr lang="en-US" sz="1425" b="1">
                <a:solidFill>
                  <a:srgbClr val="1D2939"/>
                </a:solidFill>
                <a:latin typeface="PingFang SC"/>
                <a:ea typeface="PingFang SC"/>
              </a:rPr>
              <a:t>100 </a:t>
            </a:r>
            <a:r>
              <a:rPr lang="en-US" sz="1050" b="1">
                <a:solidFill>
                  <a:srgbClr val="6B7686"/>
                </a:solidFill>
                <a:latin typeface="PingFang SC"/>
                <a:ea typeface="PingFang SC"/>
              </a:rPr>
              <a:t>H20955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3581400" y="2790825"/>
            <a:ext cx="2247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6B7686"/>
                </a:solidFill>
                <a:latin typeface="PingFang SC"/>
                <a:ea typeface="PingFang SC"/>
              </a:rPr>
              <a:t>10</a:t>
            </a:r>
            <a:r>
              <a:rPr lang="zh-CN" sz="1125">
                <a:solidFill>
                  <a:srgbClr val="6B7686"/>
                </a:solidFill>
                <a:latin typeface="PingFang SC"/>
                <a:ea typeface="PingFang SC"/>
              </a:rPr>
              <a:t>年终值</a:t>
            </a:r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3581400" y="2962275"/>
            <a:ext cx="22479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C0392B"/>
                </a:solidFill>
                <a:latin typeface="PingFang SC"/>
                <a:ea typeface="PingFang SC"/>
              </a:rPr>
              <a:t>¥1,848,858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3581400" y="3381375"/>
            <a:ext cx="2247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3B4A5C"/>
                </a:solidFill>
                <a:latin typeface="PingFang SC"/>
                <a:ea typeface="PingFang SC"/>
              </a:rPr>
              <a:t>总收益</a:t>
            </a:r>
            <a:r>
              <a:rPr lang="en-US" sz="1125">
                <a:solidFill>
                  <a:srgbClr val="3B4A5C"/>
                </a:solidFill>
                <a:latin typeface="PingFang SC"/>
                <a:ea typeface="PingFang SC"/>
              </a:rPr>
              <a:t> </a:t>
            </a:r>
            <a:r>
              <a:rPr lang="en-US" sz="1125">
                <a:solidFill>
                  <a:srgbClr val="3B4A5C"/>
                </a:solidFill>
                <a:latin typeface="PingFang SC"/>
                <a:ea typeface="PingFang SC"/>
              </a:rPr>
              <a:t>+54.1%</a:t>
            </a:r>
            <a:r>
              <a:rPr lang="en-US" sz="1125">
                <a:solidFill>
                  <a:srgbClr val="3B4A5C"/>
                </a:solidFill>
                <a:latin typeface="PingFang SC"/>
                <a:ea typeface="PingFang SC"/>
              </a:rPr>
              <a:t> </a:t>
            </a:r>
            <a:r>
              <a:rPr lang="zh-CN" sz="1125">
                <a:solidFill>
                  <a:srgbClr val="3B4A5C"/>
                </a:solidFill>
                <a:latin typeface="PingFang SC"/>
                <a:ea typeface="PingFang SC"/>
              </a:rPr>
              <a:t>｜</a:t>
            </a:r>
            <a:r>
              <a:rPr lang="en-US" sz="1125">
                <a:solidFill>
                  <a:srgbClr val="3B4A5C"/>
                </a:solidFill>
                <a:latin typeface="PingFang SC"/>
                <a:ea typeface="PingFang SC"/>
              </a:rPr>
              <a:t> </a:t>
            </a:r>
            <a:r>
              <a:rPr lang="zh-CN" sz="1125">
                <a:solidFill>
                  <a:srgbClr val="3B4A5C"/>
                </a:solidFill>
                <a:latin typeface="PingFang SC"/>
                <a:ea typeface="PingFang SC"/>
              </a:rPr>
              <a:t>年化</a:t>
            </a:r>
            <a:r>
              <a:rPr lang="en-US" sz="1125">
                <a:solidFill>
                  <a:srgbClr val="3B4A5C"/>
                </a:solidFill>
                <a:latin typeface="PingFang SC"/>
                <a:ea typeface="PingFang SC"/>
              </a:rPr>
              <a:t> </a:t>
            </a:r>
            <a:r>
              <a:rPr lang="en-US" sz="1125">
                <a:solidFill>
                  <a:srgbClr val="3B4A5C"/>
                </a:solidFill>
                <a:latin typeface="PingFang SC"/>
                <a:ea typeface="PingFang SC"/>
              </a:rPr>
              <a:t>8.39%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3581400" y="3629025"/>
            <a:ext cx="2247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3B4A5C"/>
                </a:solidFill>
                <a:latin typeface="PingFang SC"/>
                <a:ea typeface="PingFang SC"/>
              </a:rPr>
              <a:t>组合最大回撤</a:t>
            </a:r>
            <a:r>
              <a:rPr lang="en-US" sz="1125">
                <a:solidFill>
                  <a:srgbClr val="3B4A5C"/>
                </a:solidFill>
                <a:latin typeface="PingFang SC"/>
                <a:ea typeface="PingFang SC"/>
              </a:rPr>
              <a:t> </a:t>
            </a:r>
            <a:r>
              <a:rPr lang="en-US" sz="1125">
                <a:solidFill>
                  <a:srgbClr val="3B4A5C"/>
                </a:solidFill>
                <a:latin typeface="PingFang SC"/>
                <a:ea typeface="PingFang SC"/>
              </a:rPr>
              <a:t>-11.53%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3581400" y="3876675"/>
            <a:ext cx="2247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3B4A5C"/>
                </a:solidFill>
                <a:latin typeface="PingFang SC"/>
                <a:ea typeface="PingFang SC"/>
              </a:rPr>
              <a:t>当前股息率</a:t>
            </a:r>
            <a:r>
              <a:rPr lang="en-US" sz="1125">
                <a:solidFill>
                  <a:srgbClr val="3B4A5C"/>
                </a:solidFill>
                <a:latin typeface="PingFang SC"/>
                <a:ea typeface="PingFang SC"/>
              </a:rPr>
              <a:t> </a:t>
            </a:r>
            <a:r>
              <a:rPr lang="en-US" sz="1125">
                <a:solidFill>
                  <a:srgbClr val="3B4A5C"/>
                </a:solidFill>
                <a:latin typeface="PingFang SC"/>
                <a:ea typeface="PingFang SC"/>
              </a:rPr>
              <a:t>4.27%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3581400" y="4143375"/>
            <a:ext cx="2247900" cy="495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13">
                <a:solidFill>
                  <a:srgbClr val="6B7686"/>
                </a:solidFill>
                <a:latin typeface="PingFang SC"/>
                <a:ea typeface="PingFang SC"/>
              </a:rPr>
              <a:t>场外：景顺长城中证红利低波动</a:t>
            </a:r>
            <a:r>
              <a:rPr lang="en-US" sz="1013">
                <a:solidFill>
                  <a:srgbClr val="6B7686"/>
                </a:solidFill>
                <a:latin typeface="PingFang SC"/>
                <a:ea typeface="PingFang SC"/>
              </a:rPr>
              <a:t>100ETF</a:t>
            </a:r>
            <a:r>
              <a:rPr lang="zh-CN" sz="1013">
                <a:solidFill>
                  <a:srgbClr val="6B7686"/>
                </a:solidFill>
                <a:latin typeface="PingFang SC"/>
                <a:ea typeface="PingFang SC"/>
              </a:rPr>
              <a:t>联接</a:t>
            </a:r>
            <a:r>
              <a:rPr lang="en-US" sz="1013">
                <a:solidFill>
                  <a:srgbClr val="6B7686"/>
                </a:solidFill>
                <a:latin typeface="PingFang SC"/>
                <a:ea typeface="PingFang SC"/>
              </a:rPr>
              <a:t> 016128/016129</a:t>
            </a:r>
            <a:endParaRPr/>
          </a:p>
        </p:txBody>
      </p:sp>
      <p:sp>
        <p:nvSpPr>
          <p:cNvPr id="152" name=""/>
          <p:cNvSpPr/>
          <p:nvPr/>
        </p:nvSpPr>
        <p:spPr>
          <a:xfrm rot="0" flipH="0" flipV="0">
            <a:off x="6172200" y="2305050"/>
            <a:ext cx="2628900" cy="3619500"/>
          </a:xfrm>
          <a:prstGeom prst="roundRect">
            <a:avLst>
              <a:gd name="adj" fmla="val 5072"/>
            </a:avLst>
          </a:prstGeom>
          <a:solidFill>
            <a:srgbClr val="EEF2F7"/>
          </a:solidFill>
          <a:ln/>
        </p:spPr>
        <p:txBody>
          <a:bodyPr/>
          <a:p/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6362700" y="2495550"/>
            <a:ext cx="2247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D2939"/>
                </a:solidFill>
                <a:latin typeface="PingFang SC"/>
                <a:ea typeface="PingFang SC"/>
              </a:rPr>
              <a:t>上证红利</a:t>
            </a:r>
            <a:r>
              <a:rPr lang="en-US" sz="1425" b="1">
                <a:solidFill>
                  <a:srgbClr val="1D2939"/>
                </a:solidFill>
                <a:latin typeface="PingFang SC"/>
                <a:ea typeface="PingFang SC"/>
              </a:rPr>
              <a:t> </a:t>
            </a:r>
            <a:r>
              <a:rPr lang="en-US" sz="1050" b="1">
                <a:solidFill>
                  <a:srgbClr val="6B7686"/>
                </a:solidFill>
                <a:latin typeface="PingFang SC"/>
                <a:ea typeface="PingFang SC"/>
              </a:rPr>
              <a:t>H00015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6362700" y="2790825"/>
            <a:ext cx="2247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6B7686"/>
                </a:solidFill>
                <a:latin typeface="PingFang SC"/>
                <a:ea typeface="PingFang SC"/>
              </a:rPr>
              <a:t>10</a:t>
            </a:r>
            <a:r>
              <a:rPr lang="zh-CN" sz="1125">
                <a:solidFill>
                  <a:srgbClr val="6B7686"/>
                </a:solidFill>
                <a:latin typeface="PingFang SC"/>
                <a:ea typeface="PingFang SC"/>
              </a:rPr>
              <a:t>年终值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6362700" y="2962275"/>
            <a:ext cx="22479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C0392B"/>
                </a:solidFill>
                <a:latin typeface="PingFang SC"/>
                <a:ea typeface="PingFang SC"/>
              </a:rPr>
              <a:t>¥1,837,767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6362700" y="3381375"/>
            <a:ext cx="2247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3B4A5C"/>
                </a:solidFill>
                <a:latin typeface="PingFang SC"/>
                <a:ea typeface="PingFang SC"/>
              </a:rPr>
              <a:t>总收益</a:t>
            </a:r>
            <a:r>
              <a:rPr lang="en-US" sz="1125">
                <a:solidFill>
                  <a:srgbClr val="3B4A5C"/>
                </a:solidFill>
                <a:latin typeface="PingFang SC"/>
                <a:ea typeface="PingFang SC"/>
              </a:rPr>
              <a:t> </a:t>
            </a:r>
            <a:r>
              <a:rPr lang="en-US" sz="1125">
                <a:solidFill>
                  <a:srgbClr val="3B4A5C"/>
                </a:solidFill>
                <a:latin typeface="PingFang SC"/>
                <a:ea typeface="PingFang SC"/>
              </a:rPr>
              <a:t>+53.1%</a:t>
            </a:r>
            <a:r>
              <a:rPr lang="en-US" sz="1125">
                <a:solidFill>
                  <a:srgbClr val="3B4A5C"/>
                </a:solidFill>
                <a:latin typeface="PingFang SC"/>
                <a:ea typeface="PingFang SC"/>
              </a:rPr>
              <a:t> </a:t>
            </a:r>
            <a:r>
              <a:rPr lang="zh-CN" sz="1125">
                <a:solidFill>
                  <a:srgbClr val="3B4A5C"/>
                </a:solidFill>
                <a:latin typeface="PingFang SC"/>
                <a:ea typeface="PingFang SC"/>
              </a:rPr>
              <a:t>｜</a:t>
            </a:r>
            <a:r>
              <a:rPr lang="en-US" sz="1125">
                <a:solidFill>
                  <a:srgbClr val="3B4A5C"/>
                </a:solidFill>
                <a:latin typeface="PingFang SC"/>
                <a:ea typeface="PingFang SC"/>
              </a:rPr>
              <a:t> </a:t>
            </a:r>
            <a:r>
              <a:rPr lang="zh-CN" sz="1125">
                <a:solidFill>
                  <a:srgbClr val="3B4A5C"/>
                </a:solidFill>
                <a:latin typeface="PingFang SC"/>
                <a:ea typeface="PingFang SC"/>
              </a:rPr>
              <a:t>年化</a:t>
            </a:r>
            <a:r>
              <a:rPr lang="en-US" sz="1125">
                <a:solidFill>
                  <a:srgbClr val="3B4A5C"/>
                </a:solidFill>
                <a:latin typeface="PingFang SC"/>
                <a:ea typeface="PingFang SC"/>
              </a:rPr>
              <a:t> </a:t>
            </a:r>
            <a:r>
              <a:rPr lang="en-US" sz="1125">
                <a:solidFill>
                  <a:srgbClr val="3B4A5C"/>
                </a:solidFill>
                <a:latin typeface="PingFang SC"/>
                <a:ea typeface="PingFang SC"/>
              </a:rPr>
              <a:t>8.27%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6362700" y="3629025"/>
            <a:ext cx="2247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3B4A5C"/>
                </a:solidFill>
                <a:latin typeface="PingFang SC"/>
                <a:ea typeface="PingFang SC"/>
              </a:rPr>
              <a:t>组合最大回撤</a:t>
            </a:r>
            <a:r>
              <a:rPr lang="en-US" sz="1125">
                <a:solidFill>
                  <a:srgbClr val="3B4A5C"/>
                </a:solidFill>
                <a:latin typeface="PingFang SC"/>
                <a:ea typeface="PingFang SC"/>
              </a:rPr>
              <a:t> </a:t>
            </a:r>
            <a:r>
              <a:rPr lang="en-US" sz="1125">
                <a:solidFill>
                  <a:srgbClr val="3B4A5C"/>
                </a:solidFill>
                <a:latin typeface="PingFang SC"/>
                <a:ea typeface="PingFang SC"/>
              </a:rPr>
              <a:t>-17.06%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6362700" y="3876675"/>
            <a:ext cx="2247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3B4A5C"/>
                </a:solidFill>
                <a:latin typeface="PingFang SC"/>
                <a:ea typeface="PingFang SC"/>
              </a:rPr>
              <a:t>当前股息率</a:t>
            </a:r>
            <a:r>
              <a:rPr lang="en-US" sz="1125">
                <a:solidFill>
                  <a:srgbClr val="3B4A5C"/>
                </a:solidFill>
                <a:latin typeface="PingFang SC"/>
                <a:ea typeface="PingFang SC"/>
              </a:rPr>
              <a:t> </a:t>
            </a:r>
            <a:r>
              <a:rPr lang="en-US" sz="1125">
                <a:solidFill>
                  <a:srgbClr val="3B4A5C"/>
                </a:solidFill>
                <a:latin typeface="PingFang SC"/>
                <a:ea typeface="PingFang SC"/>
              </a:rPr>
              <a:t>4.24%</a:t>
            </a:r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6362700" y="4143375"/>
            <a:ext cx="2247900" cy="495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13">
                <a:solidFill>
                  <a:srgbClr val="6B7686"/>
                </a:solidFill>
                <a:latin typeface="PingFang SC"/>
                <a:ea typeface="PingFang SC"/>
              </a:rPr>
              <a:t>场外：华泰柏瑞红利</a:t>
            </a:r>
            <a:r>
              <a:rPr lang="en-US" sz="1013">
                <a:solidFill>
                  <a:srgbClr val="6B7686"/>
                </a:solidFill>
                <a:latin typeface="PingFang SC"/>
                <a:ea typeface="PingFang SC"/>
              </a:rPr>
              <a:t>ETF</a:t>
            </a:r>
            <a:r>
              <a:rPr lang="zh-CN" sz="1013">
                <a:solidFill>
                  <a:srgbClr val="6B7686"/>
                </a:solidFill>
                <a:latin typeface="PingFang SC"/>
                <a:ea typeface="PingFang SC"/>
              </a:rPr>
              <a:t>联接</a:t>
            </a:r>
            <a:r>
              <a:rPr lang="en-US" sz="1013">
                <a:solidFill>
                  <a:srgbClr val="6B7686"/>
                </a:solidFill>
                <a:latin typeface="PingFang SC"/>
                <a:ea typeface="PingFang SC"/>
              </a:rPr>
              <a:t> 012761/012762</a:t>
            </a:r>
            <a:endParaRPr/>
          </a:p>
        </p:txBody>
      </p:sp>
      <p:sp>
        <p:nvSpPr>
          <p:cNvPr id="160" name=""/>
          <p:cNvSpPr/>
          <p:nvPr/>
        </p:nvSpPr>
        <p:spPr>
          <a:xfrm rot="0" flipH="0" flipV="0">
            <a:off x="8953500" y="2305050"/>
            <a:ext cx="2628900" cy="3619500"/>
          </a:xfrm>
          <a:prstGeom prst="roundRect">
            <a:avLst>
              <a:gd name="adj" fmla="val 5072"/>
            </a:avLst>
          </a:prstGeom>
          <a:solidFill>
            <a:srgbClr val="EEF2F7"/>
          </a:solidFill>
          <a:ln/>
        </p:spPr>
        <p:txBody>
          <a:bodyPr/>
          <a:p/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9144000" y="2495550"/>
            <a:ext cx="2247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D2939"/>
                </a:solidFill>
                <a:latin typeface="PingFang SC"/>
                <a:ea typeface="PingFang SC"/>
              </a:rPr>
              <a:t>中证红利</a:t>
            </a:r>
            <a:r>
              <a:rPr lang="en-US" sz="1425" b="1">
                <a:solidFill>
                  <a:srgbClr val="1D2939"/>
                </a:solidFill>
                <a:latin typeface="PingFang SC"/>
                <a:ea typeface="PingFang SC"/>
              </a:rPr>
              <a:t> </a:t>
            </a:r>
            <a:r>
              <a:rPr lang="en-US" sz="1050" b="1">
                <a:solidFill>
                  <a:srgbClr val="6B7686"/>
                </a:solidFill>
                <a:latin typeface="PingFang SC"/>
                <a:ea typeface="PingFang SC"/>
              </a:rPr>
              <a:t>H00922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9144000" y="2790825"/>
            <a:ext cx="2247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6B7686"/>
                </a:solidFill>
                <a:latin typeface="PingFang SC"/>
                <a:ea typeface="PingFang SC"/>
              </a:rPr>
              <a:t>10</a:t>
            </a:r>
            <a:r>
              <a:rPr lang="zh-CN" sz="1125">
                <a:solidFill>
                  <a:srgbClr val="6B7686"/>
                </a:solidFill>
                <a:latin typeface="PingFang SC"/>
                <a:ea typeface="PingFang SC"/>
              </a:rPr>
              <a:t>年终值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9144000" y="2962275"/>
            <a:ext cx="22479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C0392B"/>
                </a:solidFill>
                <a:latin typeface="PingFang SC"/>
                <a:ea typeface="PingFang SC"/>
              </a:rPr>
              <a:t>¥1,834,922</a:t>
            </a:r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9144000" y="3381375"/>
            <a:ext cx="2247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3B4A5C"/>
                </a:solidFill>
                <a:latin typeface="PingFang SC"/>
                <a:ea typeface="PingFang SC"/>
              </a:rPr>
              <a:t>总收益</a:t>
            </a:r>
            <a:r>
              <a:rPr lang="en-US" sz="1125">
                <a:solidFill>
                  <a:srgbClr val="3B4A5C"/>
                </a:solidFill>
                <a:latin typeface="PingFang SC"/>
                <a:ea typeface="PingFang SC"/>
              </a:rPr>
              <a:t> </a:t>
            </a:r>
            <a:r>
              <a:rPr lang="en-US" sz="1125">
                <a:solidFill>
                  <a:srgbClr val="3B4A5C"/>
                </a:solidFill>
                <a:latin typeface="PingFang SC"/>
                <a:ea typeface="PingFang SC"/>
              </a:rPr>
              <a:t>+52.9%</a:t>
            </a:r>
            <a:r>
              <a:rPr lang="en-US" sz="1125">
                <a:solidFill>
                  <a:srgbClr val="3B4A5C"/>
                </a:solidFill>
                <a:latin typeface="PingFang SC"/>
                <a:ea typeface="PingFang SC"/>
              </a:rPr>
              <a:t> </a:t>
            </a:r>
            <a:r>
              <a:rPr lang="zh-CN" sz="1125">
                <a:solidFill>
                  <a:srgbClr val="3B4A5C"/>
                </a:solidFill>
                <a:latin typeface="PingFang SC"/>
                <a:ea typeface="PingFang SC"/>
              </a:rPr>
              <a:t>｜</a:t>
            </a:r>
            <a:r>
              <a:rPr lang="en-US" sz="1125">
                <a:solidFill>
                  <a:srgbClr val="3B4A5C"/>
                </a:solidFill>
                <a:latin typeface="PingFang SC"/>
                <a:ea typeface="PingFang SC"/>
              </a:rPr>
              <a:t> </a:t>
            </a:r>
            <a:r>
              <a:rPr lang="zh-CN" sz="1125">
                <a:solidFill>
                  <a:srgbClr val="3B4A5C"/>
                </a:solidFill>
                <a:latin typeface="PingFang SC"/>
                <a:ea typeface="PingFang SC"/>
              </a:rPr>
              <a:t>年化</a:t>
            </a:r>
            <a:r>
              <a:rPr lang="en-US" sz="1125">
                <a:solidFill>
                  <a:srgbClr val="3B4A5C"/>
                </a:solidFill>
                <a:latin typeface="PingFang SC"/>
                <a:ea typeface="PingFang SC"/>
              </a:rPr>
              <a:t> </a:t>
            </a:r>
            <a:r>
              <a:rPr lang="en-US" sz="1125">
                <a:solidFill>
                  <a:srgbClr val="3B4A5C"/>
                </a:solidFill>
                <a:latin typeface="PingFang SC"/>
                <a:ea typeface="PingFang SC"/>
              </a:rPr>
              <a:t>8.24%</a:t>
            </a:r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9144000" y="3629025"/>
            <a:ext cx="2247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3B4A5C"/>
                </a:solidFill>
                <a:latin typeface="PingFang SC"/>
                <a:ea typeface="PingFang SC"/>
              </a:rPr>
              <a:t>组合最大回撤</a:t>
            </a:r>
            <a:r>
              <a:rPr lang="en-US" sz="1125">
                <a:solidFill>
                  <a:srgbClr val="3B4A5C"/>
                </a:solidFill>
                <a:latin typeface="PingFang SC"/>
                <a:ea typeface="PingFang SC"/>
              </a:rPr>
              <a:t> </a:t>
            </a:r>
            <a:r>
              <a:rPr lang="en-US" sz="1125">
                <a:solidFill>
                  <a:srgbClr val="3B4A5C"/>
                </a:solidFill>
                <a:latin typeface="PingFang SC"/>
                <a:ea typeface="PingFang SC"/>
              </a:rPr>
              <a:t>-13.40%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9144000" y="3876675"/>
            <a:ext cx="2247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3B4A5C"/>
                </a:solidFill>
                <a:latin typeface="PingFang SC"/>
                <a:ea typeface="PingFang SC"/>
              </a:rPr>
              <a:t>当前股息率</a:t>
            </a:r>
            <a:r>
              <a:rPr lang="en-US" sz="1125">
                <a:solidFill>
                  <a:srgbClr val="3B4A5C"/>
                </a:solidFill>
                <a:latin typeface="PingFang SC"/>
                <a:ea typeface="PingFang SC"/>
              </a:rPr>
              <a:t> </a:t>
            </a:r>
            <a:r>
              <a:rPr lang="en-US" sz="1125">
                <a:solidFill>
                  <a:srgbClr val="3B4A5C"/>
                </a:solidFill>
                <a:latin typeface="PingFang SC"/>
                <a:ea typeface="PingFang SC"/>
              </a:rPr>
              <a:t>4.17%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9144000" y="4143375"/>
            <a:ext cx="2247900" cy="495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13">
                <a:solidFill>
                  <a:srgbClr val="6B7686"/>
                </a:solidFill>
                <a:latin typeface="PingFang SC"/>
                <a:ea typeface="PingFang SC"/>
              </a:rPr>
              <a:t>场外：易方达中证红利</a:t>
            </a:r>
            <a:r>
              <a:rPr lang="en-US" sz="1013">
                <a:solidFill>
                  <a:srgbClr val="6B7686"/>
                </a:solidFill>
                <a:latin typeface="PingFang SC"/>
                <a:ea typeface="PingFang SC"/>
              </a:rPr>
              <a:t>ETF</a:t>
            </a:r>
            <a:r>
              <a:rPr lang="zh-CN" sz="1013">
                <a:solidFill>
                  <a:srgbClr val="6B7686"/>
                </a:solidFill>
                <a:latin typeface="PingFang SC"/>
                <a:ea typeface="PingFang SC"/>
              </a:rPr>
              <a:t>联接发起式</a:t>
            </a:r>
            <a:r>
              <a:rPr lang="en-US" sz="1013">
                <a:solidFill>
                  <a:srgbClr val="6B7686"/>
                </a:solidFill>
                <a:latin typeface="PingFang SC"/>
                <a:ea typeface="PingFang SC"/>
              </a:rPr>
              <a:t>A/C 009051/009052</a:t>
            </a:r>
            <a:endParaRPr/>
          </a:p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5172075" y="6086475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B7686"/>
                </a:solidFill>
                <a:latin typeface="PingFang SC"/>
                <a:ea typeface="PingFang SC"/>
              </a:rPr>
              <a:t>四大红利全收益指数</a:t>
            </a:r>
            <a:r>
              <a:rPr lang="en-US" sz="1050">
                <a:solidFill>
                  <a:srgbClr val="6B7686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B7686"/>
                </a:solidFill>
                <a:latin typeface="PingFang SC"/>
                <a:ea typeface="PingFang SC"/>
              </a:rPr>
              <a:t>数据回测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169" name="" descr="&lt;Slide style={{ width: '1280px', height: '720px', background: '#FFFFFF', padding: '20px 64px', fontFamily: '&quot;PingFang SC&quot;,&quot;Microsoft YaHei&quot;,sans-serif', color: '#1A1A1A' }}&gt;&#10;  &lt;Box style={{ height: 96, flexDirection: 'row', alignItems: 'center', justifyContent: 'space-between' }}&gt;&#10;    &lt;Text style={{ fontSize: 34, fontWeight: 'bold', color: '#1D2939' }}&gt;2 真实回撤：你实际会浮亏多少、亏多久&lt;/Text&gt;&#10;    &lt;Text style={{ fontSize: 14, color: '#6B7686' }}&gt;四大红利全收益指数 · 数据回测&lt;/Text&gt;&#10;  &lt;/Box&gt;&#10;&#10;  &lt;Box style={{ height: 80, marginTop: 6 }}&gt;&#10;    &lt;Text style={{ fontSize: 17, color: '#3B4A5C', lineHeight: 1.7 }}&gt;&#10;      两条口径都要看：① &lt;span style={{ fontWeight: 'bold' }}&gt;定投组合市值回撤&lt;/span&gt;＝每月扣款后账户市值从峰值回落的最大幅度，是定投者真实的浮亏体验；&#10;      ② &lt;span style={{ fontWeight: 'bold' }}&gt;指数点位回撤&lt;/span&gt;＝一次性买入持有的最大跌幅。&#10;    &lt;/Text&gt;&#10;  &lt;/Box&gt;&#10;&#10;  &lt;Box style={{ height: 300, marginTop: 6 }}&gt;&#10;    &lt;Text style={{ fontSize: 18, fontWeight: 'bold', color: '#1D2939', marginBottom: 8 }}&gt;定投组合最大回撤明细（组合市值口径）&lt;/Text&gt;&#10;    &lt;Table&#10;      style={{ width: '100%', height: 258 }}&#10;      defaultTextStyle={{ fontSize: 14, textAlign: 'center', color: '#1A1A1A' }}&#10;      defaultCellStyle={{ border: { left: { width: 1, color: '#E3E8EF' }, right: { width: 1, color: '#E3E8EF' }, top: { width: 1, color: '#E3E8EF' }, bottom: { width: 1, color: '#E3E8EF' } }, padding: 8 }}&#10;      cells={[&#10;        [&#10;          { text: '指数', textStyle: { bold: true, color: '#FFFFFF' }, cellStyle: { background: { color: '#1D2939' } } },&#10;          { text: '最大回撤', textStyle: { bold: true, color: '#FFFFFF' }, cellStyle: { background: { color: '#1D2939' } } },&#10;          { text: '峰值日', textStyle: { bold: true, color: '#FFFFFF' }, cellStyle: { background: { color: '#1D2939' } } },&#10;          { text: '谷底日', textStyle: { bold: true, color: '#FFFFFF' }, cellStyle: { background: { color: '#1D2939' } } },&#10;          { text: '最大浮亏', textStyle: { bold: true, color: '#FFFFFF' }, cellStyle: { background: { color: '#1D2939' } } },&#10;          { text: '峰值→谷底', textStyle: { bold: true, color: '#FFFFFF' }, cellStyle: { background: { color: '#1D2939' } } },&#10;          { text: '恢复日', textStyle: { bold: true, color: '#FFFFFF' }, cellStyle: { background: { color: '#1D2939' } } },&#10;          { text: '峰值→恢复', textStyle: { bold: true, color: '#FFFFFF' }, cellStyle: { background: { color: '#1D2939' } } },&#10;        ],&#10;        [&#10;          { text: '红利低波', textStyle: { bold: true } },&#10;          { text: '-14.79%' },&#10;          { text: '2021-09-13（¥77.5万）' },&#10;          { text: '2021-11-10（¥66.1万）' },&#10;          { text: '-¥129,309', textStyle: { color: '#C0392B', bold: true } },&#10;          { text: '58 天' },&#10;          { text: '2022-02-08', textStyle: { bold: true } },&#10;          { text: '149 天' },&#10;        ],&#10;        [&#10;          { text: '红利低波100' },&#10;          { text: '-11.53%' },&#10;          { text: '2020-01-07（¥63.1万）' },&#10;          { text: '2020-02-03（¥55.8万）' },&#10;          { text: '-¥52,411', textStyle: { color: '#C0392B', bold: true } },&#10;          { text: '27 天' },&#10;          { text: '2020-06-01', textStyle: { bold: true } },&#10;          { text: '146 天' },&#10;        ],&#10;        [&#10;          { text: '上证红利' },&#10;          { text: '-17.06%' },&#10;          { text: '2021-09-13（¥87.5万）' },&#10;          { text: '2021-11-10（¥72.6万）' },&#10;          { text: '-¥149,055', textStyle: { color: '#C0392B', bold: true } },&#10;          { text: '58 天' },&#10;          { text: '2022-04-06', textStyle: { bold: true } },&#10;          { text: '205 天' },&#10;        ],&#10;        [&#10;          { text: '中证红利' },&#10;          { text: '-13.40%' },&#10;          { text: '2020-03-05（¥50.1万）' },&#10;          { text: '2020-03-23（¥43.4万）' },&#10;          { text: '-¥65,173', textStyle: { color: '#C0392B', bold: true } },&#10;          { text: '18 天' },&#10;          { text: '2020-06-18', textStyle: { bold: true } },&#10;          { text: '105 天' },&#10;        ],&#10;      ]}&#10;    /&gt;&#10;  &lt;/Box&gt;&#10;&#10;  &lt;Box style={{ height: 150, marginTop: 8, background: '#FFF5F3', borderRadius: 12, padding: '16px 24px', border: '1px solid #F2D0CB' }}&gt;&#10;    &lt;Text style={{ fontSize: 18, fontWeight: 'bold', color: '#8C2F28' }}&gt;⚠ 持有体验提醒：2016 年以来最深的坑在哪&lt;/Text&gt;&#10;    &lt;Text style={{ fontSize: 16, color: '#8C2F28', lineHeight: 1.7, marginTop: 8 }}&gt;&#10;      定投区间内最深的坑是 &lt;b&gt;2018 年熊市&lt;/b&gt;（指数口径最大回撤 -23.4% ~ -27.5%）与 &lt;b&gt;2021 年 9-11 月红利行情回落&lt;/b&gt;（组合口径浮亏 52,411 ~ 149,055 元）。定投通过持续买入摊低成本，把这些坑填浅了一大半——但请记住：回撤是红利策略的固有属性，不是 bug。&#10;    &lt;/Text&gt;&#10;  &lt;/Box&gt;&#10;&#10;  &lt;Box style={{ height: 50, alignItems: 'center', justifyContent: 'center' }}&gt;&#10;    &lt;Text style={{ fontSize: 14, color: '#6B7686' }}&gt;四大红利全收益指数 · 数据回测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609600" y="457200"/>
            <a:ext cx="58102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1D2939"/>
                </a:solidFill>
                <a:latin typeface="PingFang SC"/>
                <a:ea typeface="PingFang SC"/>
              </a:rPr>
              <a:t>2 </a:t>
            </a:r>
            <a:r>
              <a:rPr lang="zh-CN" sz="2550" b="1">
                <a:solidFill>
                  <a:srgbClr val="1D2939"/>
                </a:solidFill>
                <a:latin typeface="PingFang SC"/>
                <a:ea typeface="PingFang SC"/>
              </a:rPr>
              <a:t>真实回撤：你实际会浮亏多少、亏多久</a:t>
            </a:r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9734550" y="571500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B7686"/>
                </a:solidFill>
                <a:latin typeface="PingFang SC"/>
                <a:ea typeface="PingFang SC"/>
              </a:rPr>
              <a:t>四大红利全收益指数</a:t>
            </a:r>
            <a:r>
              <a:rPr lang="en-US" sz="1050">
                <a:solidFill>
                  <a:srgbClr val="6B7686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B7686"/>
                </a:solidFill>
                <a:latin typeface="PingFang SC"/>
                <a:ea typeface="PingFang SC"/>
              </a:rPr>
              <a:t>数据回测</a:t>
            </a:r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609600" y="1162050"/>
            <a:ext cx="109728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75">
                <a:solidFill>
                  <a:srgbClr val="3B4A5C"/>
                </a:solidFill>
                <a:latin typeface="PingFang SC"/>
                <a:ea typeface="PingFang SC"/>
              </a:rPr>
              <a:t>两条口径都要看：①</a:t>
            </a:r>
            <a:r>
              <a:rPr lang="en-US" sz="1275">
                <a:solidFill>
                  <a:srgbClr val="3B4A5C"/>
                </a:solidFill>
                <a:latin typeface="PingFang SC"/>
                <a:ea typeface="PingFang SC"/>
              </a:rPr>
              <a:t> </a:t>
            </a:r>
            <a:r>
              <a:rPr lang="zh-CN" sz="1275" b="1">
                <a:solidFill>
                  <a:srgbClr val="3B4A5C"/>
                </a:solidFill>
                <a:latin typeface="PingFang SC"/>
                <a:ea typeface="PingFang SC"/>
              </a:rPr>
              <a:t>定投组合市值回撤</a:t>
            </a:r>
            <a:r>
              <a:rPr lang="zh-CN" sz="1275">
                <a:solidFill>
                  <a:srgbClr val="3B4A5C"/>
                </a:solidFill>
                <a:latin typeface="PingFang SC"/>
                <a:ea typeface="PingFang SC"/>
              </a:rPr>
              <a:t>＝每月扣款后账户市值从峰值回落的最大幅度，是定投者真实的浮亏体验；</a:t>
            </a:r>
            <a:r>
              <a:rPr lang="en-US" sz="1275">
                <a:solidFill>
                  <a:srgbClr val="3B4A5C"/>
                </a:solidFill>
                <a:latin typeface="PingFang SC"/>
                <a:ea typeface="PingFang SC"/>
              </a:rPr>
              <a:t> ② </a:t>
            </a:r>
            <a:r>
              <a:rPr lang="zh-CN" sz="1275" b="1">
                <a:solidFill>
                  <a:srgbClr val="3B4A5C"/>
                </a:solidFill>
                <a:latin typeface="PingFang SC"/>
                <a:ea typeface="PingFang SC"/>
              </a:rPr>
              <a:t>指数点位回撤</a:t>
            </a:r>
            <a:r>
              <a:rPr lang="zh-CN" sz="1275">
                <a:solidFill>
                  <a:srgbClr val="3B4A5C"/>
                </a:solidFill>
                <a:latin typeface="PingFang SC"/>
                <a:ea typeface="PingFang SC"/>
              </a:rPr>
              <a:t>＝一次性买入持有的最大跌幅。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609600" y="1981200"/>
            <a:ext cx="10972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D2939"/>
                </a:solidFill>
                <a:latin typeface="PingFang SC"/>
                <a:ea typeface="PingFang SC"/>
              </a:rPr>
              <a:t>定投组合最大回撤明细（组合市值口径）</a:t>
            </a:r>
            <a:endParaRPr/>
          </a:p>
        </p:txBody>
      </p:sp>
      <p:graphicFrame>
        <p:nvGraphicFramePr>
          <p:cNvPr id="175" name=""/>
          <p:cNvGraphicFramePr/>
          <p:nvPr/>
        </p:nvGraphicFramePr>
        <p:xfrm rot="0" flipH="0" flipV="0">
          <a:off x="609600" y="2266950"/>
          <a:ext cx="10972800" cy="2457450"/>
        </p:xfrm>
        <a:graphic>
          <a:graphicData uri="http://schemas.openxmlformats.org/drawingml/2006/table">
            <a:tbl>
              <a:tblGrid>
                <a:gridCol w="1211179">
                  <a:extLst>
                    <a:ext uri="{9D8B030D-6E8A-4147-A177-3AD203B41FA5}">
                      <a16:colId val="1"/>
                    </a:ext>
                  </a:extLst>
                </a:gridCol>
                <a:gridCol w="876968">
                  <a:extLst>
                    <a:ext uri="{9D8B030D-6E8A-4147-A177-3AD203B41FA5}">
                      <a16:colId val="2"/>
                    </a:ext>
                  </a:extLst>
                </a:gridCol>
                <a:gridCol w="2227179">
                  <a:extLst>
                    <a:ext uri="{9D8B030D-6E8A-4147-A177-3AD203B41FA5}">
                      <a16:colId val="3"/>
                    </a:ext>
                  </a:extLst>
                </a:gridCol>
                <a:gridCol w="2227179">
                  <a:extLst>
                    <a:ext uri="{9D8B030D-6E8A-4147-A177-3AD203B41FA5}">
                      <a16:colId val="4"/>
                    </a:ext>
                  </a:extLst>
                </a:gridCol>
                <a:gridCol w="1077495">
                  <a:extLst>
                    <a:ext uri="{9D8B030D-6E8A-4147-A177-3AD203B41FA5}">
                      <a16:colId val="5"/>
                    </a:ext>
                  </a:extLst>
                </a:gridCol>
                <a:gridCol w="1064126">
                  <a:extLst>
                    <a:ext uri="{9D8B030D-6E8A-4147-A177-3AD203B41FA5}">
                      <a16:colId val="6"/>
                    </a:ext>
                  </a:extLst>
                </a:gridCol>
                <a:gridCol w="1224547">
                  <a:extLst>
                    <a:ext uri="{9D8B030D-6E8A-4147-A177-3AD203B41FA5}">
                      <a16:colId val="7"/>
                    </a:ext>
                  </a:extLst>
                </a:gridCol>
                <a:gridCol w="1064126">
                  <a:extLst>
                    <a:ext uri="{9D8B030D-6E8A-4147-A177-3AD203B41FA5}">
                      <a16:colId val="8"/>
                    </a:ext>
                  </a:extLst>
                </a:gridCol>
              </a:tblGrid>
              <a:tr h="49149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指数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D2939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最大回撤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D2939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峰值日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D2939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谷底日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D2939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最大浮亏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D2939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峰值→谷底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D2939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恢复日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D2939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峰值→恢复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D2939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49149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红利低波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-14.79%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2021-09-13（¥77.5万）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2021-11-10（¥66.1万）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-¥129,309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58 天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2022-02-08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149 天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49149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红利低波100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-11.53%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2020-01-07（¥63.1万）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2020-02-03（¥55.8万）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-¥52,411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27 天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2020-06-01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146 天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49149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上证红利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-17.06%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2021-09-13（¥87.5万）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2021-11-10（¥72.6万）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-¥149,055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58 天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2022-04-06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205 天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49149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中证红利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-13.40%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2020-03-05（¥50.1万）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2020-03-23（¥43.4万）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-¥65,173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18 天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2020-06-18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105 天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</a:tbl>
          </a:graphicData>
        </a:graphic>
      </p:graphicFrame>
      <p:sp>
        <p:nvSpPr>
          <p:cNvPr id="176" name=""/>
          <p:cNvSpPr/>
          <p:nvPr/>
        </p:nvSpPr>
        <p:spPr>
          <a:xfrm rot="0" flipH="0" flipV="0">
            <a:off x="609600" y="4914900"/>
            <a:ext cx="10972800" cy="1428750"/>
          </a:xfrm>
          <a:prstGeom prst="roundRect">
            <a:avLst>
              <a:gd name="adj" fmla="val 8000"/>
            </a:avLst>
          </a:prstGeom>
          <a:solidFill>
            <a:srgbClr val="FFF5F3"/>
          </a:solidFill>
          <a:ln w="12700">
            <a:solidFill>
              <a:srgbClr val="F2D0CB"/>
            </a:solidFill>
            <a:prstDash val="solid"/>
          </a:ln>
        </p:spPr>
        <p:txBody>
          <a:bodyPr/>
          <a:p/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838200" y="5067300"/>
            <a:ext cx="10515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8C2F28"/>
                </a:solidFill>
                <a:latin typeface="PingFang SC"/>
                <a:ea typeface="PingFang SC"/>
              </a:rPr>
              <a:t>⚠ </a:t>
            </a:r>
            <a:r>
              <a:rPr lang="zh-CN" sz="1350" b="1">
                <a:solidFill>
                  <a:srgbClr val="8C2F28"/>
                </a:solidFill>
                <a:latin typeface="PingFang SC"/>
                <a:ea typeface="PingFang SC"/>
              </a:rPr>
              <a:t>持有体验提醒：</a:t>
            </a:r>
            <a:r>
              <a:rPr lang="en-US" sz="1350" b="1">
                <a:solidFill>
                  <a:srgbClr val="8C2F28"/>
                </a:solidFill>
                <a:latin typeface="PingFang SC"/>
                <a:ea typeface="PingFang SC"/>
              </a:rPr>
              <a:t>2016 </a:t>
            </a:r>
            <a:r>
              <a:rPr lang="zh-CN" sz="1350" b="1">
                <a:solidFill>
                  <a:srgbClr val="8C2F28"/>
                </a:solidFill>
                <a:latin typeface="PingFang SC"/>
                <a:ea typeface="PingFang SC"/>
              </a:rPr>
              <a:t>年以来最深的坑在哪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838200" y="5353050"/>
            <a:ext cx="105156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8C2F28"/>
                </a:solidFill>
                <a:latin typeface="PingFang SC"/>
                <a:ea typeface="PingFang SC"/>
              </a:rPr>
              <a:t>定投区间内最深的坑是</a:t>
            </a:r>
            <a:r>
              <a:rPr lang="en-US" sz="1200">
                <a:solidFill>
                  <a:srgbClr val="8C2F28"/>
                </a:solidFill>
                <a:latin typeface="PingFang SC"/>
                <a:ea typeface="PingFang SC"/>
              </a:rPr>
              <a:t> </a:t>
            </a:r>
            <a:r>
              <a:rPr lang="en-US" sz="1200">
                <a:solidFill>
                  <a:srgbClr val="8C2F28"/>
                </a:solidFill>
                <a:latin typeface="PingFang SC"/>
                <a:ea typeface="PingFang SC"/>
              </a:rPr>
              <a:t>2018 </a:t>
            </a:r>
            <a:r>
              <a:rPr lang="zh-CN" sz="1200">
                <a:solidFill>
                  <a:srgbClr val="8C2F28"/>
                </a:solidFill>
                <a:latin typeface="PingFang SC"/>
                <a:ea typeface="PingFang SC"/>
              </a:rPr>
              <a:t>年熊市</a:t>
            </a:r>
            <a:r>
              <a:rPr lang="zh-CN" sz="1200">
                <a:solidFill>
                  <a:srgbClr val="8C2F28"/>
                </a:solidFill>
                <a:latin typeface="PingFang SC"/>
                <a:ea typeface="PingFang SC"/>
              </a:rPr>
              <a:t>（指数口径最大回撤</a:t>
            </a:r>
            <a:r>
              <a:rPr lang="en-US" sz="1200">
                <a:solidFill>
                  <a:srgbClr val="8C2F28"/>
                </a:solidFill>
                <a:latin typeface="PingFang SC"/>
                <a:ea typeface="PingFang SC"/>
              </a:rPr>
              <a:t> -23.4% ~ -27.5%</a:t>
            </a:r>
            <a:r>
              <a:rPr lang="zh-CN" sz="1200">
                <a:solidFill>
                  <a:srgbClr val="8C2F28"/>
                </a:solidFill>
                <a:latin typeface="PingFang SC"/>
                <a:ea typeface="PingFang SC"/>
              </a:rPr>
              <a:t>）与</a:t>
            </a:r>
            <a:r>
              <a:rPr lang="en-US" sz="1200">
                <a:solidFill>
                  <a:srgbClr val="8C2F28"/>
                </a:solidFill>
                <a:latin typeface="PingFang SC"/>
                <a:ea typeface="PingFang SC"/>
              </a:rPr>
              <a:t> </a:t>
            </a:r>
            <a:r>
              <a:rPr lang="en-US" sz="1200">
                <a:solidFill>
                  <a:srgbClr val="8C2F28"/>
                </a:solidFill>
                <a:latin typeface="PingFang SC"/>
                <a:ea typeface="PingFang SC"/>
              </a:rPr>
              <a:t>2021 </a:t>
            </a:r>
            <a:r>
              <a:rPr lang="zh-CN" sz="1200">
                <a:solidFill>
                  <a:srgbClr val="8C2F28"/>
                </a:solidFill>
                <a:latin typeface="PingFang SC"/>
                <a:ea typeface="PingFang SC"/>
              </a:rPr>
              <a:t>年</a:t>
            </a:r>
            <a:r>
              <a:rPr lang="en-US" sz="1200">
                <a:solidFill>
                  <a:srgbClr val="8C2F28"/>
                </a:solidFill>
                <a:latin typeface="PingFang SC"/>
                <a:ea typeface="PingFang SC"/>
              </a:rPr>
              <a:t> 9-11 </a:t>
            </a:r>
            <a:r>
              <a:rPr lang="zh-CN" sz="1200">
                <a:solidFill>
                  <a:srgbClr val="8C2F28"/>
                </a:solidFill>
                <a:latin typeface="PingFang SC"/>
                <a:ea typeface="PingFang SC"/>
              </a:rPr>
              <a:t>月红利行情回落</a:t>
            </a:r>
            <a:r>
              <a:rPr lang="zh-CN" sz="1200">
                <a:solidFill>
                  <a:srgbClr val="8C2F28"/>
                </a:solidFill>
                <a:latin typeface="PingFang SC"/>
                <a:ea typeface="PingFang SC"/>
              </a:rPr>
              <a:t>（组合口径浮亏</a:t>
            </a:r>
            <a:r>
              <a:rPr lang="en-US" sz="1200">
                <a:solidFill>
                  <a:srgbClr val="8C2F28"/>
                </a:solidFill>
                <a:latin typeface="PingFang SC"/>
                <a:ea typeface="PingFang SC"/>
              </a:rPr>
              <a:t> 52,411 ~ 149,055 </a:t>
            </a:r>
            <a:r>
              <a:rPr lang="zh-CN" sz="1200">
                <a:solidFill>
                  <a:srgbClr val="8C2F28"/>
                </a:solidFill>
                <a:latin typeface="PingFang SC"/>
                <a:ea typeface="PingFang SC"/>
              </a:rPr>
              <a:t>元）。定投通过持续买入摊低成本，把这些坑填浅了一大半——但请记住：回撤是红利策略的固有属性，不是</a:t>
            </a:r>
            <a:r>
              <a:rPr lang="en-US" sz="1200">
                <a:solidFill>
                  <a:srgbClr val="8C2F28"/>
                </a:solidFill>
                <a:latin typeface="PingFang SC"/>
                <a:ea typeface="PingFang SC"/>
              </a:rPr>
              <a:t> bug</a:t>
            </a:r>
            <a:r>
              <a:rPr lang="zh-CN" sz="1200">
                <a:solidFill>
                  <a:srgbClr val="8C2F28"/>
                </a:solidFill>
                <a:latin typeface="PingFang SC"/>
                <a:ea typeface="PingFang SC"/>
              </a:rPr>
              <a:t>。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5172075" y="6505575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B7686"/>
                </a:solidFill>
                <a:latin typeface="PingFang SC"/>
                <a:ea typeface="PingFang SC"/>
              </a:rPr>
              <a:t>四大红利全收益指数</a:t>
            </a:r>
            <a:r>
              <a:rPr lang="en-US" sz="1050">
                <a:solidFill>
                  <a:srgbClr val="6B7686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B7686"/>
                </a:solidFill>
                <a:latin typeface="PingFang SC"/>
                <a:ea typeface="PingFang SC"/>
              </a:rPr>
              <a:t>数据回测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80" name="" descr="&lt;Slide style={{ width: '1280px', height: '720px', background: '#FFFFFF', padding: '20px 64px', fontFamily: '&quot;PingFang SC&quot;,&quot;Microsoft YaHei&quot;,sans-serif', color: '#1A1A1A' }}&gt;&#13;&#10;  &lt;Box style={{ height: 96, flexDirection: 'row', alignItems: 'center', justifyContent: 'space-between' }}&gt;&#13;&#10;    &lt;Text style={{ fontSize: 34, fontWeight: 'bold', color: '#1D2939' }}&gt;3 定投市值走势：120 万 如何滚成 183.5 - 196.7 万&lt;/Text&gt;&#13;&#10;    &lt;Text style={{ fontSize: 14, color: '#6B7686' }}&gt;四大红利全收益指数 · 数据回测&lt;/Text&gt;&#13;&#10;  &lt;/Box&gt;&#13;&#10;&#13;&#10;  &lt;Box style={{ height: 540, marginTop: 8, background: '#EEF2F7', borderRadius: 14, padding: 30 }}&gt;&#13;&#10;    &lt;Text style={{ fontSize: 19, color: '#3B4A5C', lineHeight: 2 }}&gt;&#13;&#10;      灰线为累计投入本金（阶梯至 1,200,000）。曲线在大部分年份都压在投入线上方，但 2018 年与 2020 年初会短暂跌破——&#13;&#10;      &lt;span style={{ fontWeight: 'bold', color: '#C0392B' }}&gt;&quot;亏钱时咬牙继续投&quot;正是收益的主要来源&lt;/span&gt;。&#13;&#10;    &lt;/Text&gt;&#13;&#10;    &lt;Box style={{ flexDirection: 'row', gap: 18, marginTop: 40 }}&gt;&#13;&#10;      &lt;Box style={{ flex: 1, background: '#FFFFFF', borderRadius: 12, padding: 20 }}&gt;&#13;&#10;        &lt;Text style={{ fontSize: 18, fontWeight: 'bold', color: '#1D2939' }}&gt;红利低波（终值 ¥1,967,153）&lt;/Text&gt;&#13;&#10;        &lt;Text style={{ fontSize: 15, color: '#6B7686', marginTop: 8 }}&gt;十年定投曲线：2016-2026，大部分时间市值大于投入&lt;/Text&gt;&#13;&#10;      &lt;/Box&gt;&#13;&#10;      &lt;Box style={{ flex: 1, background: '#FFFFFF', borderRadius: 12, padding: 20 }}&gt;&#13;&#10;        &lt;Text style={{ fontSize: 18, fontWeight: 'bold', color: '#1D2939' }}&gt;红利低波100（终值 ¥1,848,858）&lt;/Text&gt;&#13;&#10;        &lt;Text style={{ fontSize: 15, color: '#6B7686', marginTop: 8 }}&gt;上证红利（终值 ¥1,837,767）&lt;/Text&gt;&#13;&#10;        &lt;Text style={{ fontSize: 15, color: '#6B7686', marginTop: 4 }}&gt;中证红利（终值 ¥1,834,922）&lt;/Text&gt;&#13;&#10;      &lt;/Box&gt;&#13;&#10;    &lt;/Box&gt;&#13;&#10;    &lt;Box style={{ marginTop: 30, flexDirection: 'row', gap: 12 }}&gt;&#13;&#10;      &lt;Box style={{ flexDirection: 'row', alignItems: 'center', gap: 8 }}&gt;&#13;&#10;        &lt;Box style={{ width: 26, height: 10, borderRadius: 5, background: '#C0392B' }} /&gt;&#13;&#10;        &lt;Text style={{ fontSize: 15, color: '#3B4A5C' }}&gt;组合市值&lt;/Text&gt;&#13;&#10;      &lt;/Box&gt;&#13;&#10;      &lt;Box style={{ flexDirection: 'row', alignItems: 'center', gap: 8 }}&gt;&#13;&#10;        &lt;Box style={{ width: 26, height: 10, borderRadius: 5, background: '#9AA7B8' }} /&gt;&#13;&#10;        &lt;Text style={{ fontSize: 15, color: '#3B4A5C' }}&gt;累计投入 ¥1,200,000（阶梯）&lt;/Text&gt;&#13;&#10;      &lt;/Box&gt;&#13;&#10;    &lt;/Box&gt;&#13;&#10;  &lt;/Box&gt;&#13;&#10;&#13;&#10;  &lt;Box style={{ height: 50, alignItems: 'center', justifyContent: 'center' }}&gt;&#13;&#10;    &lt;Text style={{ fontSize: 14, color: '#6B7686' }}&gt;四大红利全收益指数 · 数据回测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609600" y="457200"/>
            <a:ext cx="76104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1D2939"/>
                </a:solidFill>
                <a:latin typeface="PingFang SC"/>
                <a:ea typeface="PingFang SC"/>
              </a:rPr>
              <a:t>3 </a:t>
            </a:r>
            <a:r>
              <a:rPr lang="zh-CN" sz="2550" b="1">
                <a:solidFill>
                  <a:srgbClr val="1D2939"/>
                </a:solidFill>
                <a:latin typeface="PingFang SC"/>
                <a:ea typeface="PingFang SC"/>
              </a:rPr>
              <a:t>定投市值走势：</a:t>
            </a:r>
            <a:r>
              <a:rPr lang="en-US" sz="2550" b="1">
                <a:solidFill>
                  <a:srgbClr val="1D2939"/>
                </a:solidFill>
                <a:latin typeface="PingFang SC"/>
                <a:ea typeface="PingFang SC"/>
              </a:rPr>
              <a:t>120 </a:t>
            </a:r>
            <a:r>
              <a:rPr lang="zh-CN" sz="2550" b="1">
                <a:solidFill>
                  <a:srgbClr val="1D2939"/>
                </a:solidFill>
                <a:latin typeface="PingFang SC"/>
                <a:ea typeface="PingFang SC"/>
              </a:rPr>
              <a:t>万</a:t>
            </a:r>
            <a:r>
              <a:rPr lang="en-US" sz="2550" b="1">
                <a:solidFill>
                  <a:srgbClr val="1D2939"/>
                </a:solidFill>
                <a:latin typeface="PingFang SC"/>
                <a:ea typeface="PingFang SC"/>
              </a:rPr>
              <a:t> </a:t>
            </a:r>
            <a:r>
              <a:rPr lang="zh-CN" sz="2550" b="1">
                <a:solidFill>
                  <a:srgbClr val="1D2939"/>
                </a:solidFill>
                <a:latin typeface="PingFang SC"/>
                <a:ea typeface="PingFang SC"/>
              </a:rPr>
              <a:t>如何滚成</a:t>
            </a:r>
            <a:r>
              <a:rPr lang="en-US" sz="2550" b="1">
                <a:solidFill>
                  <a:srgbClr val="1D2939"/>
                </a:solidFill>
                <a:latin typeface="PingFang SC"/>
                <a:ea typeface="PingFang SC"/>
              </a:rPr>
              <a:t> 183.5 - 196.7 </a:t>
            </a:r>
            <a:r>
              <a:rPr lang="zh-CN" sz="2550" b="1">
                <a:solidFill>
                  <a:srgbClr val="1D2939"/>
                </a:solidFill>
                <a:latin typeface="PingFang SC"/>
                <a:ea typeface="PingFang SC"/>
              </a:rPr>
              <a:t>万</a:t>
            </a:r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9734550" y="571500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B7686"/>
                </a:solidFill>
                <a:latin typeface="PingFang SC"/>
                <a:ea typeface="PingFang SC"/>
              </a:rPr>
              <a:t>四大红利全收益指数</a:t>
            </a:r>
            <a:r>
              <a:rPr lang="en-US" sz="1050">
                <a:solidFill>
                  <a:srgbClr val="6B7686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B7686"/>
                </a:solidFill>
                <a:latin typeface="PingFang SC"/>
                <a:ea typeface="PingFang SC"/>
              </a:rPr>
              <a:t>数据回测</a:t>
            </a:r>
            <a:endParaRPr/>
          </a:p>
        </p:txBody>
      </p:sp>
      <p:sp>
        <p:nvSpPr>
          <p:cNvPr id="184" name=""/>
          <p:cNvSpPr/>
          <p:nvPr/>
        </p:nvSpPr>
        <p:spPr>
          <a:xfrm rot="0" flipH="0" flipV="0">
            <a:off x="609600" y="1181100"/>
            <a:ext cx="10972800" cy="5143500"/>
          </a:xfrm>
          <a:prstGeom prst="roundRect">
            <a:avLst>
              <a:gd name="adj" fmla="val 2593"/>
            </a:avLst>
          </a:prstGeom>
          <a:solidFill>
            <a:srgbClr val="EEF2F7"/>
          </a:solidFill>
          <a:ln/>
        </p:spPr>
        <p:txBody>
          <a:bodyPr/>
          <a:p/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895350" y="1466850"/>
            <a:ext cx="10401300" cy="876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200000"/>
              </a:lnSpc>
            </a:pPr>
            <a:r>
              <a:rPr lang="zh-CN" sz="1425">
                <a:solidFill>
                  <a:srgbClr val="3B4A5C"/>
                </a:solidFill>
                <a:latin typeface="PingFang SC"/>
                <a:ea typeface="PingFang SC"/>
              </a:rPr>
              <a:t>灰线为累计投入本金（阶梯至</a:t>
            </a:r>
            <a:r>
              <a:rPr lang="en-US" sz="1425">
                <a:solidFill>
                  <a:srgbClr val="3B4A5C"/>
                </a:solidFill>
                <a:latin typeface="PingFang SC"/>
                <a:ea typeface="PingFang SC"/>
              </a:rPr>
              <a:t> 1,200,000</a:t>
            </a:r>
            <a:r>
              <a:rPr lang="zh-CN" sz="1425">
                <a:solidFill>
                  <a:srgbClr val="3B4A5C"/>
                </a:solidFill>
                <a:latin typeface="PingFang SC"/>
                <a:ea typeface="PingFang SC"/>
              </a:rPr>
              <a:t>）。曲线在大部分年份都压在投入线上方，但</a:t>
            </a:r>
            <a:r>
              <a:rPr lang="en-US" sz="1425">
                <a:solidFill>
                  <a:srgbClr val="3B4A5C"/>
                </a:solidFill>
                <a:latin typeface="PingFang SC"/>
                <a:ea typeface="PingFang SC"/>
              </a:rPr>
              <a:t> 2018 </a:t>
            </a:r>
            <a:r>
              <a:rPr lang="zh-CN" sz="1425">
                <a:solidFill>
                  <a:srgbClr val="3B4A5C"/>
                </a:solidFill>
                <a:latin typeface="PingFang SC"/>
                <a:ea typeface="PingFang SC"/>
              </a:rPr>
              <a:t>年与</a:t>
            </a:r>
            <a:r>
              <a:rPr lang="en-US" sz="1425">
                <a:solidFill>
                  <a:srgbClr val="3B4A5C"/>
                </a:solidFill>
                <a:latin typeface="PingFang SC"/>
                <a:ea typeface="PingFang SC"/>
              </a:rPr>
              <a:t> 2020 </a:t>
            </a:r>
            <a:r>
              <a:rPr lang="zh-CN" sz="1425">
                <a:solidFill>
                  <a:srgbClr val="3B4A5C"/>
                </a:solidFill>
                <a:latin typeface="PingFang SC"/>
                <a:ea typeface="PingFang SC"/>
              </a:rPr>
              <a:t>年初会短暂跌破——</a:t>
            </a:r>
            <a:r>
              <a:rPr lang="en-US" sz="1425" b="1">
                <a:solidFill>
                  <a:srgbClr val="C0392B"/>
                </a:solidFill>
                <a:latin typeface="PingFang SC"/>
                <a:ea typeface="PingFang SC"/>
              </a:rPr>
              <a:t>"</a:t>
            </a:r>
            <a:r>
              <a:rPr lang="zh-CN" sz="1425" b="1">
                <a:solidFill>
                  <a:srgbClr val="C0392B"/>
                </a:solidFill>
                <a:latin typeface="PingFang SC"/>
                <a:ea typeface="PingFang SC"/>
              </a:rPr>
              <a:t>亏钱时咬牙继续投</a:t>
            </a:r>
            <a:r>
              <a:rPr lang="en-US" sz="1425" b="1">
                <a:solidFill>
                  <a:srgbClr val="C0392B"/>
                </a:solidFill>
                <a:latin typeface="PingFang SC"/>
                <a:ea typeface="PingFang SC"/>
              </a:rPr>
              <a:t>"</a:t>
            </a:r>
            <a:r>
              <a:rPr lang="zh-CN" sz="1425" b="1">
                <a:solidFill>
                  <a:srgbClr val="C0392B"/>
                </a:solidFill>
                <a:latin typeface="PingFang SC"/>
                <a:ea typeface="PingFang SC"/>
              </a:rPr>
              <a:t>正是收益的主要来源</a:t>
            </a:r>
            <a:r>
              <a:rPr lang="zh-CN" sz="1425">
                <a:solidFill>
                  <a:srgbClr val="3B4A5C"/>
                </a:solidFill>
                <a:latin typeface="PingFang SC"/>
                <a:ea typeface="PingFang SC"/>
              </a:rPr>
              <a:t>。</a:t>
            </a:r>
            <a:endParaRPr/>
          </a:p>
        </p:txBody>
      </p:sp>
      <p:sp>
        <p:nvSpPr>
          <p:cNvPr id="186" name=""/>
          <p:cNvSpPr/>
          <p:nvPr/>
        </p:nvSpPr>
        <p:spPr>
          <a:xfrm rot="0" flipH="0" flipV="0">
            <a:off x="895350" y="2724150"/>
            <a:ext cx="5114925" cy="104775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1085850" y="2914650"/>
            <a:ext cx="47339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D2939"/>
                </a:solidFill>
                <a:latin typeface="PingFang SC"/>
                <a:ea typeface="PingFang SC"/>
              </a:rPr>
              <a:t>红利低波（终值</a:t>
            </a:r>
            <a:r>
              <a:rPr lang="en-US" sz="1350" b="1">
                <a:solidFill>
                  <a:srgbClr val="1D2939"/>
                </a:solidFill>
                <a:latin typeface="PingFang SC"/>
                <a:ea typeface="PingFang SC"/>
              </a:rPr>
              <a:t> ¥1,967,153</a:t>
            </a:r>
            <a:r>
              <a:rPr lang="zh-CN" sz="1350" b="1">
                <a:solidFill>
                  <a:srgbClr val="1D2939"/>
                </a:solidFill>
                <a:latin typeface="PingFang SC"/>
                <a:ea typeface="PingFang SC"/>
              </a:rPr>
              <a:t>）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1085850" y="3200400"/>
            <a:ext cx="47339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B7686"/>
                </a:solidFill>
                <a:latin typeface="PingFang SC"/>
                <a:ea typeface="PingFang SC"/>
              </a:rPr>
              <a:t>十年定投曲线：</a:t>
            </a:r>
            <a:r>
              <a:rPr lang="en-US" sz="1125">
                <a:solidFill>
                  <a:srgbClr val="6B7686"/>
                </a:solidFill>
                <a:latin typeface="PingFang SC"/>
                <a:ea typeface="PingFang SC"/>
              </a:rPr>
              <a:t>2016-2026</a:t>
            </a:r>
            <a:r>
              <a:rPr lang="zh-CN" sz="1125">
                <a:solidFill>
                  <a:srgbClr val="6B7686"/>
                </a:solidFill>
                <a:latin typeface="PingFang SC"/>
                <a:ea typeface="PingFang SC"/>
              </a:rPr>
              <a:t>，大部分时间市值大于投入</a:t>
            </a:r>
            <a:endParaRPr/>
          </a:p>
        </p:txBody>
      </p:sp>
      <p:sp>
        <p:nvSpPr>
          <p:cNvPr id="189" name=""/>
          <p:cNvSpPr/>
          <p:nvPr/>
        </p:nvSpPr>
        <p:spPr>
          <a:xfrm rot="0" flipH="0" flipV="0">
            <a:off x="6181725" y="2724150"/>
            <a:ext cx="5114925" cy="104775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6372225" y="2914650"/>
            <a:ext cx="47339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D2939"/>
                </a:solidFill>
                <a:latin typeface="PingFang SC"/>
                <a:ea typeface="PingFang SC"/>
              </a:rPr>
              <a:t>红利低波</a:t>
            </a:r>
            <a:r>
              <a:rPr lang="en-US" sz="1350" b="1">
                <a:solidFill>
                  <a:srgbClr val="1D2939"/>
                </a:solidFill>
                <a:latin typeface="PingFang SC"/>
                <a:ea typeface="PingFang SC"/>
              </a:rPr>
              <a:t>100</a:t>
            </a:r>
            <a:r>
              <a:rPr lang="zh-CN" sz="1350" b="1">
                <a:solidFill>
                  <a:srgbClr val="1D2939"/>
                </a:solidFill>
                <a:latin typeface="PingFang SC"/>
                <a:ea typeface="PingFang SC"/>
              </a:rPr>
              <a:t>（终值</a:t>
            </a:r>
            <a:r>
              <a:rPr lang="en-US" sz="1350" b="1">
                <a:solidFill>
                  <a:srgbClr val="1D2939"/>
                </a:solidFill>
                <a:latin typeface="PingFang SC"/>
                <a:ea typeface="PingFang SC"/>
              </a:rPr>
              <a:t> ¥1,848,858</a:t>
            </a:r>
            <a:r>
              <a:rPr lang="zh-CN" sz="1350" b="1">
                <a:solidFill>
                  <a:srgbClr val="1D2939"/>
                </a:solidFill>
                <a:latin typeface="PingFang SC"/>
                <a:ea typeface="PingFang SC"/>
              </a:rPr>
              <a:t>）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6372225" y="3200400"/>
            <a:ext cx="47339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B7686"/>
                </a:solidFill>
                <a:latin typeface="PingFang SC"/>
                <a:ea typeface="PingFang SC"/>
              </a:rPr>
              <a:t>上证红利（终值</a:t>
            </a:r>
            <a:r>
              <a:rPr lang="en-US" sz="1125">
                <a:solidFill>
                  <a:srgbClr val="6B7686"/>
                </a:solidFill>
                <a:latin typeface="PingFang SC"/>
                <a:ea typeface="PingFang SC"/>
              </a:rPr>
              <a:t> ¥1,837,767</a:t>
            </a:r>
            <a:r>
              <a:rPr lang="zh-CN" sz="1125">
                <a:solidFill>
                  <a:srgbClr val="6B7686"/>
                </a:solidFill>
                <a:latin typeface="PingFang SC"/>
                <a:ea typeface="PingFang SC"/>
              </a:rPr>
              <a:t>）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6372225" y="3409950"/>
            <a:ext cx="47339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B7686"/>
                </a:solidFill>
                <a:latin typeface="PingFang SC"/>
                <a:ea typeface="PingFang SC"/>
              </a:rPr>
              <a:t>中证红利（终值</a:t>
            </a:r>
            <a:r>
              <a:rPr lang="en-US" sz="1125">
                <a:solidFill>
                  <a:srgbClr val="6B7686"/>
                </a:solidFill>
                <a:latin typeface="PingFang SC"/>
                <a:ea typeface="PingFang SC"/>
              </a:rPr>
              <a:t> ¥1,834,922</a:t>
            </a:r>
            <a:r>
              <a:rPr lang="zh-CN" sz="1125">
                <a:solidFill>
                  <a:srgbClr val="6B7686"/>
                </a:solidFill>
                <a:latin typeface="PingFang SC"/>
                <a:ea typeface="PingFang SC"/>
              </a:rPr>
              <a:t>）</a:t>
            </a:r>
            <a:endParaRPr/>
          </a:p>
        </p:txBody>
      </p:sp>
      <p:sp>
        <p:nvSpPr>
          <p:cNvPr id="193" name=""/>
          <p:cNvSpPr/>
          <p:nvPr/>
        </p:nvSpPr>
        <p:spPr>
          <a:xfrm rot="0" flipH="0" flipV="0">
            <a:off x="895350" y="4095750"/>
            <a:ext cx="247650" cy="9525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1219200" y="405765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3B4A5C"/>
                </a:solidFill>
                <a:latin typeface="PingFang SC"/>
                <a:ea typeface="PingFang SC"/>
              </a:rPr>
              <a:t>组合市值</a:t>
            </a:r>
            <a:endParaRPr/>
          </a:p>
        </p:txBody>
      </p:sp>
      <p:sp>
        <p:nvSpPr>
          <p:cNvPr id="195" name=""/>
          <p:cNvSpPr/>
          <p:nvPr/>
        </p:nvSpPr>
        <p:spPr>
          <a:xfrm rot="0" flipH="0" flipV="0">
            <a:off x="1905000" y="4095750"/>
            <a:ext cx="247650" cy="95250"/>
          </a:xfrm>
          <a:prstGeom prst="roundRect">
            <a:avLst>
              <a:gd name="adj" fmla="val 50000"/>
            </a:avLst>
          </a:prstGeom>
          <a:solidFill>
            <a:srgbClr val="9AA7B8"/>
          </a:solidFill>
          <a:ln/>
        </p:spPr>
        <p:txBody>
          <a:bodyPr/>
          <a:p/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2228850" y="4057650"/>
            <a:ext cx="19335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3B4A5C"/>
                </a:solidFill>
                <a:latin typeface="PingFang SC"/>
                <a:ea typeface="PingFang SC"/>
              </a:rPr>
              <a:t>累计投入</a:t>
            </a:r>
            <a:r>
              <a:rPr lang="en-US" sz="1125">
                <a:solidFill>
                  <a:srgbClr val="3B4A5C"/>
                </a:solidFill>
                <a:latin typeface="PingFang SC"/>
                <a:ea typeface="PingFang SC"/>
              </a:rPr>
              <a:t> ¥1,200,000</a:t>
            </a:r>
            <a:r>
              <a:rPr lang="zh-CN" sz="1125">
                <a:solidFill>
                  <a:srgbClr val="3B4A5C"/>
                </a:solidFill>
                <a:latin typeface="PingFang SC"/>
                <a:ea typeface="PingFang SC"/>
              </a:rPr>
              <a:t>（阶梯）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5172075" y="6486525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B7686"/>
                </a:solidFill>
                <a:latin typeface="PingFang SC"/>
                <a:ea typeface="PingFang SC"/>
              </a:rPr>
              <a:t>四大红利全收益指数</a:t>
            </a:r>
            <a:r>
              <a:rPr lang="en-US" sz="1050">
                <a:solidFill>
                  <a:srgbClr val="6B7686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B7686"/>
                </a:solidFill>
                <a:latin typeface="PingFang SC"/>
                <a:ea typeface="PingFang SC"/>
              </a:rPr>
              <a:t>数据回测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198" name="" descr="&lt;Slide style={{ width: '1280px', height: '720px', background: '#FFFFFF', padding: '20px 64px', fontFamily: '&quot;PingFang SC&quot;,&quot;Microsoft YaHei&quot;,sans-serif', color: '#1A1A1A' }}&gt;&#10;  &lt;Box style={{ height: 96, flexDirection: 'row', alignItems: 'center', justifyContent: 'space-between' }}&gt;&#10;    &lt;Text style={{ fontSize: 34, fontWeight: 'bold', color: '#1D2939' }}&gt;4 年度表现：哪几年在&quot;打折进货&quot;&lt;/Text&gt;&#10;    &lt;Text style={{ fontSize: 14, color: '#6B7686' }}&gt;四大红利全收益指数 · 数据回测&lt;/Text&gt;&#10;  &lt;/Box&gt;&#10;&#10;  &lt;Box style={{ height: 84, marginTop: 6 }}&gt;&#10;    &lt;Text style={{ fontSize: 16.5, color: '#3B4A5C', lineHeight: 1.7 }}&gt;&#10;      红色柱＝年末账户浮盈，绿色柱＝年末浮亏（2018 年四个指数全部浮亏，正是摊低成本的黄金期）。&#10;      &lt;span style={{ fontWeight: 'bold' }}&gt;「指数年度涨跌幅」＝该指数全收益口径自然年涨幅&lt;/span&gt;，用来对照&quot;账户当年盈亏有多少来自指数本身、多少来自定投摊低成本&quot;。&#10;    &lt;/Text&gt;&#10;  &lt;/Box&gt;&#10;&#10;  &lt;Box style={{ height: 300, marginTop: 6 }}&gt;&#10;    &lt;Text style={{ fontSize: 17, fontWeight: 'bold', color: '#1D2939', marginBottom: 6 }}&gt;每年末：账户浮盈/浮亏（示例：红利低波）&lt;/Text&gt;&#10;    &lt;Table&#10;      style={{ width: '100%', height: 262 }}&#10;      defaultTextStyle={{ fontSize: 13.5, textAlign: 'center', color: '#1A1A1A' }}&#10;      defaultCellStyle={{ border: { left: { width: 1, color: '#E3E8EF' }, right: { width: 1, color: '#E3E8EF' }, top: { width: 1, color: '#E3E8EF' }, bottom: { width: 1, color: '#E3E8EF' } }, padding: 7 }}&#10;      cells={[&#10;        [&#10;          { text: '年末', textStyle: { bold: true, color: '#FFFFFF' }, cellStyle: { background: { color: '#1D2939' } } },&#10;          { text: '指数年度涨跌幅', textStyle: { bold: true, color: '#FFFFFF' }, cellStyle: { background: { color: '#1D2939' } } },&#10;          { text: '累计投入', textStyle: { bold: true, color: '#FFFFFF' }, cellStyle: { background: { color: '#1D2939' } } },&#10;          { text: '账户市值', textStyle: { bold: true, color: '#FFFFFF' }, cellStyle: { background: { color: '#1D2939' } } },&#10;          { text: '累计浮盈', textStyle: { bold: true, color: '#FFFFFF' }, cellStyle: { background: { color: '#1D2939' } } },&#10;          { text: '当年盈亏', textStyle: { bold: true, color: '#FFFFFF' }, cellStyle: { background: { color: '#1D2939' } } },&#10;        ],&#10;        [{ text: '2016', textStyle: { bold: true } }, { text: '+6.22%', textStyle: { color: '#C0392B' } }, { text: '¥50,000' }, { text: '¥50,257' }, { text: '+¥257', textStyle: { color: '#C0392B' } }, { text: '+¥0', textStyle: { color: '#C0392B' } }],&#10;        [{ text: '2017', textStyle: { bold: true } }, { text: '+23.57%', textStyle: { color: '#C0392B' } }, { text: '¥170,000' }, { text: '¥193,424' }, { text: '+¥23,424', textStyle: { color: '#C0392B' } }, { text: '+¥23,167', textStyle: { color: '#C0392B' } }],&#10;        [{ text: '2018', textStyle: { bold: true } }, { text: '-16.39%', textStyle: { color: '#27AE60', bold: true } }, { text: '¥290,000' }, { text: '¥270,877' }, { text: '-¥19,123', textStyle: { color: '#27AE60' } }, { text: '-¥42,547', textStyle: { color: '#27AE60' } }],&#10;        [{ text: '2019', textStyle: { bold: true } }, { text: '+20.94%', textStyle: { color: '#C0392B' } }, { text: '¥410,000' }, { text: '¥456,907' }, { text: '+¥46,907', textStyle: { color: '#C0392B' } }, { text: '+¥66,030', textStyle: { color: '#C0392B' } }],&#10;        [{ text: '2020', textStyle: { bold: true } }, { text: '+1.99%', textStyle: { color: '#C0392B' } }, { text: '¥530,000' }, { text: '¥593,186' }, { text: '+¥63,186', textStyle: { color: '#C0392B' } }, { text: '+¥16,279', textStyle: { color: '#C0392B' } }],&#10;        [{ text: '2021', textStyle: { bold: true } }, { text: '+16.34%', textStyle: { color: '#C0392B' } }, { text: '¥650,000' }, { text: '¥819,011' }, { text: '+¥169,011', textStyle: { color: '#C0392B' } }, { text: '+¥105,826', textStyle: { color: '#C0392B' } }],&#10;        [{ text: '2022', textStyle: { bold: true } }, { text: '+3.46%', textStyle: { color: '#C0392B' } }, { text: '¥770,000' }, { text: '¥966,051' }, { text: '+¥196,051', textStyle: { color: '#C0392B' } }, { text: '+¥27,040', textStyle: { color: '#C0392B' } }],&#10;        [{ text: '2023', textStyle: { bold: true } }, { text: '+12.23%', textStyle: { color: '#C0392B' } }, { text: '¥890,000' }, { text: '¥1,204,721' }, { text: '+¥314,721', textStyle: { color: '#C0392B' } }, { text: '+¥118,670', textStyle: { color: '#C0392B' } }],&#10;        [{ text: '2024', textStyle: { bold: true } }, { text: '+24.82%', textStyle: { color: '#C0392B', bold: true } }, { text: '¥1,010,000' }, { text: '¥1,635,835' }, { text: '+¥625,835', textStyle: { color: '#C0392B' } }, { text: '+¥311,114', textStyle: { color: '#C0392B' } }],&#10;        [{ text: '2025', textStyle: { bold: true } }, { text: '+5.57%', textStyle: { color: '#C0392B' } }, { text: '¥1,130,000' }, { text: '¥1,850,582' }, { text: '+¥720,582', textStyle: { color: '#C0392B' } }, { text: '+¥94,747', textStyle: { color: '#C0392B' } }],&#10;        [{ text: '2026', textStyle: { bold: true } }, { text: '+1.47%', textStyle: { color: '#C0392B' } }, { text: '¥1,200,000' }, { text: '¥1,967,153' }, { text: '+¥767,153', textStyle: { color: '#C0392B' } }, { text: '+¥46,571', textStyle: { color: '#C0392B' } }],&#10;      ]}&#10;    /&gt;&#10;  &lt;/Box&gt;&#10;&#10;  &lt;Box style={{ height: 80, marginTop: 6 }}&gt;&#10;    &lt;Text style={{ fontSize: 14, color: '#6B7686' }}&gt;口径＝年末市值 − 当年已投入本金（2026 行为截至 2026-07-31）&lt;/Text&gt;&#10;    &lt;Text style={{ fontSize: 14, color: '#6B7686', marginTop: 6 }}&gt;「指数年度涨跌幅」2016 年为定投起点（2016-08-01）至年末，其余年份为自然年&lt;/Text&gt;&#10;  &lt;/Box&gt;&#10;&#10;  &lt;Box style={{ height: 50, alignItems: 'center', justifyContent: 'center' }}&gt;&#10;    &lt;Text style={{ fontSize: 14, color: '#6B7686' }}&gt;四大红利全收益指数 · 数据回测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609600" y="457200"/>
            <a:ext cx="48482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1D2939"/>
                </a:solidFill>
                <a:latin typeface="PingFang SC"/>
                <a:ea typeface="PingFang SC"/>
              </a:rPr>
              <a:t>4 </a:t>
            </a:r>
            <a:r>
              <a:rPr lang="zh-CN" sz="2550" b="1">
                <a:solidFill>
                  <a:srgbClr val="1D2939"/>
                </a:solidFill>
                <a:latin typeface="PingFang SC"/>
                <a:ea typeface="PingFang SC"/>
              </a:rPr>
              <a:t>年度表现：哪几年在</a:t>
            </a:r>
            <a:r>
              <a:rPr lang="en-US" sz="2550" b="1">
                <a:solidFill>
                  <a:srgbClr val="1D2939"/>
                </a:solidFill>
                <a:latin typeface="PingFang SC"/>
                <a:ea typeface="PingFang SC"/>
              </a:rPr>
              <a:t>"</a:t>
            </a:r>
            <a:r>
              <a:rPr lang="zh-CN" sz="2550" b="1">
                <a:solidFill>
                  <a:srgbClr val="1D2939"/>
                </a:solidFill>
                <a:latin typeface="PingFang SC"/>
                <a:ea typeface="PingFang SC"/>
              </a:rPr>
              <a:t>打折进货</a:t>
            </a:r>
            <a:r>
              <a:rPr lang="en-US" sz="2550" b="1">
                <a:solidFill>
                  <a:srgbClr val="1D2939"/>
                </a:solidFill>
                <a:latin typeface="PingFang SC"/>
                <a:ea typeface="PingFang SC"/>
              </a:rPr>
              <a:t>"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9734550" y="571500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B7686"/>
                </a:solidFill>
                <a:latin typeface="PingFang SC"/>
                <a:ea typeface="PingFang SC"/>
              </a:rPr>
              <a:t>四大红利全收益指数</a:t>
            </a:r>
            <a:r>
              <a:rPr lang="en-US" sz="1050">
                <a:solidFill>
                  <a:srgbClr val="6B7686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B7686"/>
                </a:solidFill>
                <a:latin typeface="PingFang SC"/>
                <a:ea typeface="PingFang SC"/>
              </a:rPr>
              <a:t>数据回测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609600" y="1162050"/>
            <a:ext cx="10972800" cy="647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38">
                <a:solidFill>
                  <a:srgbClr val="3B4A5C"/>
                </a:solidFill>
                <a:latin typeface="PingFang SC"/>
                <a:ea typeface="PingFang SC"/>
              </a:rPr>
              <a:t>红色柱＝年末账户浮盈，绿色柱＝年末浮亏（</a:t>
            </a:r>
            <a:r>
              <a:rPr lang="en-US" sz="1238">
                <a:solidFill>
                  <a:srgbClr val="3B4A5C"/>
                </a:solidFill>
                <a:latin typeface="PingFang SC"/>
                <a:ea typeface="PingFang SC"/>
              </a:rPr>
              <a:t>2018 </a:t>
            </a:r>
            <a:r>
              <a:rPr lang="zh-CN" sz="1238">
                <a:solidFill>
                  <a:srgbClr val="3B4A5C"/>
                </a:solidFill>
                <a:latin typeface="PingFang SC"/>
                <a:ea typeface="PingFang SC"/>
              </a:rPr>
              <a:t>年四个指数全部浮亏，正是摊低成本的黄金期）。</a:t>
            </a:r>
            <a:r>
              <a:rPr lang="zh-CN" sz="1238" b="1">
                <a:solidFill>
                  <a:srgbClr val="3B4A5C"/>
                </a:solidFill>
                <a:latin typeface="PingFang SC"/>
                <a:ea typeface="PingFang SC"/>
              </a:rPr>
              <a:t>「指数年度涨跌幅」＝该指数全收益口径自然年涨幅</a:t>
            </a:r>
            <a:r>
              <a:rPr lang="zh-CN" sz="1238">
                <a:solidFill>
                  <a:srgbClr val="3B4A5C"/>
                </a:solidFill>
                <a:latin typeface="PingFang SC"/>
                <a:ea typeface="PingFang SC"/>
              </a:rPr>
              <a:t>，用来对照</a:t>
            </a:r>
            <a:r>
              <a:rPr lang="en-US" sz="1238">
                <a:solidFill>
                  <a:srgbClr val="3B4A5C"/>
                </a:solidFill>
                <a:latin typeface="PingFang SC"/>
                <a:ea typeface="PingFang SC"/>
              </a:rPr>
              <a:t>"</a:t>
            </a:r>
            <a:r>
              <a:rPr lang="zh-CN" sz="1238">
                <a:solidFill>
                  <a:srgbClr val="3B4A5C"/>
                </a:solidFill>
                <a:latin typeface="PingFang SC"/>
                <a:ea typeface="PingFang SC"/>
              </a:rPr>
              <a:t>账户当年盈亏有多少来自指数本身、多少来自定投摊低成本</a:t>
            </a:r>
            <a:r>
              <a:rPr lang="en-US" sz="1238">
                <a:solidFill>
                  <a:srgbClr val="3B4A5C"/>
                </a:solidFill>
                <a:latin typeface="PingFang SC"/>
                <a:ea typeface="PingFang SC"/>
              </a:rPr>
              <a:t>"</a:t>
            </a:r>
            <a:r>
              <a:rPr lang="zh-CN" sz="1238">
                <a:solidFill>
                  <a:srgbClr val="3B4A5C"/>
                </a:solidFill>
                <a:latin typeface="PingFang SC"/>
                <a:ea typeface="PingFang SC"/>
              </a:rPr>
              <a:t>。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609600" y="2019300"/>
            <a:ext cx="10972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D2939"/>
                </a:solidFill>
                <a:latin typeface="PingFang SC"/>
                <a:ea typeface="PingFang SC"/>
              </a:rPr>
              <a:t>每年末：账户浮盈</a:t>
            </a:r>
            <a:r>
              <a:rPr lang="en-US" sz="1275" b="1">
                <a:solidFill>
                  <a:srgbClr val="1D2939"/>
                </a:solidFill>
                <a:latin typeface="PingFang SC"/>
                <a:ea typeface="PingFang SC"/>
              </a:rPr>
              <a:t>/</a:t>
            </a:r>
            <a:r>
              <a:rPr lang="zh-CN" sz="1275" b="1">
                <a:solidFill>
                  <a:srgbClr val="1D2939"/>
                </a:solidFill>
                <a:latin typeface="PingFang SC"/>
                <a:ea typeface="PingFang SC"/>
              </a:rPr>
              <a:t>浮亏（示例：红利低波）</a:t>
            </a:r>
            <a:endParaRPr/>
          </a:p>
        </p:txBody>
      </p:sp>
      <p:graphicFrame>
        <p:nvGraphicFramePr>
          <p:cNvPr id="204" name=""/>
          <p:cNvGraphicFramePr/>
          <p:nvPr/>
        </p:nvGraphicFramePr>
        <p:xfrm rot="0" flipH="0" flipV="0">
          <a:off x="609600" y="2276475"/>
          <a:ext cx="10972800" cy="3381375"/>
        </p:xfrm>
        <a:graphic>
          <a:graphicData uri="http://schemas.openxmlformats.org/drawingml/2006/table">
            <a:tbl>
              <a:tblGrid>
                <a:gridCol w="1029733">
                  <a:extLst>
                    <a:ext uri="{9D8B030D-6E8A-4147-A177-3AD203B41FA5}">
                      <a16:colId val="1"/>
                    </a:ext>
                  </a:extLst>
                </a:gridCol>
                <a:gridCol w="2470415">
                  <a:extLst>
                    <a:ext uri="{9D8B030D-6E8A-4147-A177-3AD203B41FA5}">
                      <a16:colId val="2"/>
                    </a:ext>
                  </a:extLst>
                </a:gridCol>
                <a:gridCol w="1879972">
                  <a:extLst>
                    <a:ext uri="{9D8B030D-6E8A-4147-A177-3AD203B41FA5}">
                      <a16:colId val="3"/>
                    </a:ext>
                  </a:extLst>
                </a:gridCol>
                <a:gridCol w="1879972">
                  <a:extLst>
                    <a:ext uri="{9D8B030D-6E8A-4147-A177-3AD203B41FA5}">
                      <a16:colId val="4"/>
                    </a:ext>
                  </a:extLst>
                </a:gridCol>
                <a:gridCol w="1856354">
                  <a:extLst>
                    <a:ext uri="{9D8B030D-6E8A-4147-A177-3AD203B41FA5}">
                      <a16:colId val="5"/>
                    </a:ext>
                  </a:extLst>
                </a:gridCol>
                <a:gridCol w="1856354">
                  <a:extLst>
                    <a:ext uri="{9D8B030D-6E8A-4147-A177-3AD203B41FA5}">
                      <a16:colId val="6"/>
                    </a:ext>
                  </a:extLst>
                </a:gridCol>
              </a:tblGrid>
              <a:tr h="281781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年末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D2939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指数年度涨跌幅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D2939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累计投入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D2939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账户市值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D2939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累计浮盈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D2939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当年盈亏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D2939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281781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2016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+6.22%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¥50,000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¥50,257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+¥257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+¥0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281781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2017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+23.57%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¥170,000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¥193,424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+¥23,424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+¥23,167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281781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2018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27AE60"/>
                          </a:solidFill>
                          <a:latin typeface="Microsoft YaHei"/>
                          <a:ea typeface="Microsoft YaHei"/>
                        </a:rPr>
                        <a:t>-16.39%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¥290,000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¥270,877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27AE60"/>
                          </a:solidFill>
                          <a:latin typeface="Microsoft YaHei"/>
                          <a:ea typeface="Microsoft YaHei"/>
                        </a:rPr>
                        <a:t>-¥19,123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27AE60"/>
                          </a:solidFill>
                          <a:latin typeface="Microsoft YaHei"/>
                          <a:ea typeface="Microsoft YaHei"/>
                        </a:rPr>
                        <a:t>-¥42,547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281781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2019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+20.94%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¥410,000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¥456,907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+¥46,907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+¥66,030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281781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2020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+1.99%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¥530,000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¥593,186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+¥63,186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+¥16,279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  <a:tr h="281781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2021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+16.34%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¥650,000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¥819,011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+¥169,011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+¥105,826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7"/>
                  </a:ext>
                </a:extLst>
              </a:tr>
              <a:tr h="281781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2022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+3.46%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¥770,000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¥966,051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+¥196,051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+¥27,040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8"/>
                  </a:ext>
                </a:extLst>
              </a:tr>
              <a:tr h="281781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2023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+12.23%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¥890,000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¥1,204,721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+¥314,721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+¥118,670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9"/>
                  </a:ext>
                </a:extLst>
              </a:tr>
              <a:tr h="281781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2024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+24.82%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¥1,010,000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¥1,635,835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+¥625,835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+¥311,114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10"/>
                  </a:ext>
                </a:extLst>
              </a:tr>
              <a:tr h="281781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2025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+5.57%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¥1,130,000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¥1,850,582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+¥720,582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+¥94,747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11"/>
                  </a:ext>
                </a:extLst>
              </a:tr>
              <a:tr h="281781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2026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+1.47%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¥1,200,000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¥1,967,153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+¥767,153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+¥46,571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12"/>
                  </a:ext>
                </a:extLst>
              </a:tr>
            </a:tbl>
          </a:graphicData>
        </a:graphic>
      </p:graphicFrame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609600" y="4933950"/>
            <a:ext cx="10972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B7686"/>
                </a:solidFill>
                <a:latin typeface="PingFang SC"/>
                <a:ea typeface="PingFang SC"/>
              </a:rPr>
              <a:t>口径＝年末市值</a:t>
            </a:r>
            <a:r>
              <a:rPr lang="en-US" sz="1050">
                <a:solidFill>
                  <a:srgbClr val="6B7686"/>
                </a:solidFill>
                <a:latin typeface="PingFang SC"/>
                <a:ea typeface="PingFang SC"/>
              </a:rPr>
              <a:t> − </a:t>
            </a:r>
            <a:r>
              <a:rPr lang="zh-CN" sz="1050">
                <a:solidFill>
                  <a:srgbClr val="6B7686"/>
                </a:solidFill>
                <a:latin typeface="PingFang SC"/>
                <a:ea typeface="PingFang SC"/>
              </a:rPr>
              <a:t>当年已投入本金（</a:t>
            </a:r>
            <a:r>
              <a:rPr lang="en-US" sz="1050">
                <a:solidFill>
                  <a:srgbClr val="6B7686"/>
                </a:solidFill>
                <a:latin typeface="PingFang SC"/>
                <a:ea typeface="PingFang SC"/>
              </a:rPr>
              <a:t>2026 </a:t>
            </a:r>
            <a:r>
              <a:rPr lang="zh-CN" sz="1050">
                <a:solidFill>
                  <a:srgbClr val="6B7686"/>
                </a:solidFill>
                <a:latin typeface="PingFang SC"/>
                <a:ea typeface="PingFang SC"/>
              </a:rPr>
              <a:t>行为截至</a:t>
            </a:r>
            <a:r>
              <a:rPr lang="en-US" sz="1050">
                <a:solidFill>
                  <a:srgbClr val="6B7686"/>
                </a:solidFill>
                <a:latin typeface="PingFang SC"/>
                <a:ea typeface="PingFang SC"/>
              </a:rPr>
              <a:t> 2026-07-31</a:t>
            </a:r>
            <a:r>
              <a:rPr lang="zh-CN" sz="1050">
                <a:solidFill>
                  <a:srgbClr val="6B7686"/>
                </a:solidFill>
                <a:latin typeface="PingFang SC"/>
                <a:ea typeface="PingFang SC"/>
              </a:rPr>
              <a:t>）</a:t>
            </a:r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609600" y="5153025"/>
            <a:ext cx="10972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B7686"/>
                </a:solidFill>
                <a:latin typeface="PingFang SC"/>
                <a:ea typeface="PingFang SC"/>
              </a:rPr>
              <a:t>「指数年度涨跌幅」</a:t>
            </a:r>
            <a:r>
              <a:rPr lang="en-US" sz="1050">
                <a:solidFill>
                  <a:srgbClr val="6B7686"/>
                </a:solidFill>
                <a:latin typeface="PingFang SC"/>
                <a:ea typeface="PingFang SC"/>
              </a:rPr>
              <a:t>2016 </a:t>
            </a:r>
            <a:r>
              <a:rPr lang="zh-CN" sz="1050">
                <a:solidFill>
                  <a:srgbClr val="6B7686"/>
                </a:solidFill>
                <a:latin typeface="PingFang SC"/>
                <a:ea typeface="PingFang SC"/>
              </a:rPr>
              <a:t>年为定投起点（</a:t>
            </a:r>
            <a:r>
              <a:rPr lang="en-US" sz="1050">
                <a:solidFill>
                  <a:srgbClr val="6B7686"/>
                </a:solidFill>
                <a:latin typeface="PingFang SC"/>
                <a:ea typeface="PingFang SC"/>
              </a:rPr>
              <a:t>2016-08-01</a:t>
            </a:r>
            <a:r>
              <a:rPr lang="zh-CN" sz="1050">
                <a:solidFill>
                  <a:srgbClr val="6B7686"/>
                </a:solidFill>
                <a:latin typeface="PingFang SC"/>
                <a:ea typeface="PingFang SC"/>
              </a:rPr>
              <a:t>）至年末，其余年份为自然年</a:t>
            </a:r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5172075" y="5857875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B7686"/>
                </a:solidFill>
                <a:latin typeface="PingFang SC"/>
                <a:ea typeface="PingFang SC"/>
              </a:rPr>
              <a:t>四大红利全收益指数</a:t>
            </a:r>
            <a:r>
              <a:rPr lang="en-US" sz="1050">
                <a:solidFill>
                  <a:srgbClr val="6B7686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B7686"/>
                </a:solidFill>
                <a:latin typeface="PingFang SC"/>
                <a:ea typeface="PingFang SC"/>
              </a:rPr>
              <a:t>数据回测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208" name="" descr="&lt;Slide style={{ width: '1280px', height: '720px', background: '#FFFFFF', padding: '20px 64px', fontFamily: '&quot;PingFang SC&quot;,&quot;Microsoft YaHei&quot;,sans-serif', color: '#1A1A1A' }}&gt;&#10;  &lt;Box style={{ height: 96, flexDirection: 'row', alignItems: 'center', justifyContent: 'space-between' }}&gt;&#10;    &lt;Text style={{ fontSize: 34, fontWeight: 'bold', color: '#1D2939' }}&gt;5 指数年度涨跌幅：四指数横向对比&lt;/Text&gt;&#10;    &lt;Text style={{ fontSize: 14, color: '#6B7686' }}&gt;四大红利全收益指数 · 数据回测&lt;/Text&gt;&#10;  &lt;/Box&gt;&#10;&#10;  &lt;Box style={{ height: 86, marginTop: 6 }}&gt;&#10;    &lt;Text style={{ fontSize: 16.5, color: '#3B4A5C', lineHeight: 1.7 }}&gt;&#10;      各指数年度涨跌幅（&lt;span style={{ fontWeight: 'bold' }}&gt;全收益口径&lt;/span&gt;，含分红再投）。2016 年为定投起点（2016-08-01）至年末，&#10;      其余年份为自然年（上年末→本年末）；2026 行为截至 2026-07-31（非完整年度）。红涨绿跌（A 股习惯）。&#10;    &lt;/Text&gt;&#10;  &lt;/Box&gt;&#10;&#10;  &lt;Box style={{ height: 440, marginTop: 6 }}&gt;&#10;    &lt;Table&#10;      style={{ width: '100%', height: 430 }}&#10;      defaultTextStyle={{ fontSize: 14, textAlign: 'center', color: '#1A1A1A' }}&#10;      defaultCellStyle={{ border: { left: { width: 1, color: '#E3E8EF' }, right: { width: 1, color: '#E3E8EF' }, top: { width: 1, color: '#E3E8EF' }, bottom: { width: 1, color: '#E3E8EF' } }, padding: 8 }}&#10;      cells={[&#10;        [&#10;          { text: '年份', textStyle: { bold: true, color: '#FFFFFF' }, cellStyle: { background: { color: '#1D2939' } } },&#10;          { text: '红利低波', textStyle: { bold: true, color: '#FFFFFF' }, cellStyle: { background: { color: '#1D2939' } } },&#10;          { text: '中证红利', textStyle: { bold: true, color: '#FFFFFF' }, cellStyle: { background: { color: '#1D2939' } } },&#10;          { text: '红利低波100', textStyle: { bold: true, color: '#FFFFFF' }, cellStyle: { background: { color: '#1D2939' } } },&#10;          { text: '上证红利', textStyle: { bold: true, color: '#FFFFFF' }, cellStyle: { background: { color: '#1D2939' } } },&#10;        ],&#10;        [{ text: '2016', textStyle: { bold: true } }, { text: '+6.22%', textStyle: { color: '#C0392B' } }, { text: '+6.45%', textStyle: { color: '#C0392B' } }, { text: '+6.90%', textStyle: { color: '#C0392B' } }, { text: '+6.17%', textStyle: { color: '#C0392B' } }],&#10;        [{ text: '2017', textStyle: { bold: true } }, { text: '+23.57%', textStyle: { color: '#C0392B' } }, { text: '+21.34%', textStyle: { color: '#C0392B' } }, { text: '+15.50%', textStyle: { color: '#C0392B' } }, { text: '+20.52%', textStyle: { color: '#C0392B' } }],&#10;        [{ text: '2018', textStyle: { bold: true } }, { text: '-16.39%', textStyle: { color: '#27AE60', bold: true } }, { text: '-16.15%', textStyle: { color: '#27AE60', bold: true } }, { text: '-14.12%', textStyle: { color: '#27AE60', bold: true } }, { text: '-13.59%', textStyle: { color: '#27AE60', bold: true } }],&#10;        [{ text: '2019', textStyle: { bold: true } }, { text: '+20.94%', textStyle: { color: '#C0392B' } }, { text: '+20.88%', textStyle: { color: '#C0392B' } }, { text: '+16.88%', textStyle: { color: '#C0392B' } }, { text: '+16.27%', textStyle: { color: '#C0392B' } }],&#10;        [{ text: '2020', textStyle: { bold: true } }, { text: '+1.99%', textStyle: { color: '#C0392B' } }, { text: '+8.18%', textStyle: { color: '#C0392B' } }, { text: '+2.34%', textStyle: { color: '#C0392B' } }, { text: '-1.05%', textStyle: { color: '#27AE60' } }],&#10;        [{ text: '2021', textStyle: { bold: true } }, { text: '+16.34%', textStyle: { color: '#C0392B' } }, { text: '+18.19%', textStyle: { color: '#C0392B' } }, { text: '+19.27%', textStyle: { color: '#C0392B' } }, { text: '+13.25%', textStyle: { color: '#C0392B' } }],&#10;        [{ text: '2022', textStyle: { bold: true } }, { text: '+3.46%', textStyle: { color: '#C0392B' } }, { text: '-0.37%', textStyle: { color: '#27AE60' } }, { text: '+0.77%', textStyle: { color: '#C0392B' } }, { text: '+3.46%', textStyle: { color: '#C0392B' } }],&#10;        [{ text: '2023', textStyle: { bold: true } }, { text: '+12.23%', textStyle: { color: '#C0392B' } }, { text: '+6.34%', textStyle: { color: '#C0392B' } }, { text: '+13.26%', textStyle: { color: '#C0392B' } }, { text: '+9.06%', textStyle: { color: '#C0392B' } }],&#10;        [{ text: '2024', textStyle: { bold: true } }, { text: '+24.82%', textStyle: { color: '#C0392B', bold: true } }, { text: '+18.76%', textStyle: { color: '#C0392B', bold: true } }, { text: '+18.64%', textStyle: { color: '#C0392B', bold: true } }, { text: '+21.30%', textStyle: { color: '#C0392B', bold: true } }],&#10;        [{ text: '2025', textStyle: { bold: true } }, { text: '+5.57%', textStyle: { color: '#C0392B' } }, { text: '+3.76%', textStyle: { color: '#C0392B' } }, { text: '+3.97%', textStyle: { color: '#C0392B' } }, { text: '+0.41%', textStyle: { color: '#C0392B' } }],&#10;        [{ text: '2026', textStyle: { bold: true } }, { text: '+1.47%', textStyle: { color: '#C0392B' } }, { text: '+6.31%', textStyle: { color: '#C0392B' } }, { text: '-0.32%', textStyle: { color: '#27AE60' } }, { text: '+13.89%', textStyle: { color: '#C0392B' } }],&#10;      ]}&#10;    /&gt;&#10;  &lt;/Box&gt;&#10;&#10;  &lt;Box style={{ height: 50, alignItems: 'center', justifyContent: 'center' }}&gt;&#10;    &lt;Text style={{ fontSize: 14, color: '#6B7686' }}&gt;四大红利全收益指数 · 数据回测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609600" y="457200"/>
            <a:ext cx="51625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1D2939"/>
                </a:solidFill>
                <a:latin typeface="PingFang SC"/>
                <a:ea typeface="PingFang SC"/>
              </a:rPr>
              <a:t>5 </a:t>
            </a:r>
            <a:r>
              <a:rPr lang="zh-CN" sz="2550" b="1">
                <a:solidFill>
                  <a:srgbClr val="1D2939"/>
                </a:solidFill>
                <a:latin typeface="PingFang SC"/>
                <a:ea typeface="PingFang SC"/>
              </a:rPr>
              <a:t>指数年度涨跌幅：四指数横向对比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9734550" y="571500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B7686"/>
                </a:solidFill>
                <a:latin typeface="PingFang SC"/>
                <a:ea typeface="PingFang SC"/>
              </a:rPr>
              <a:t>四大红利全收益指数</a:t>
            </a:r>
            <a:r>
              <a:rPr lang="en-US" sz="1050">
                <a:solidFill>
                  <a:srgbClr val="6B7686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B7686"/>
                </a:solidFill>
                <a:latin typeface="PingFang SC"/>
                <a:ea typeface="PingFang SC"/>
              </a:rPr>
              <a:t>数据回测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609600" y="1162050"/>
            <a:ext cx="10972800" cy="647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38">
                <a:solidFill>
                  <a:srgbClr val="3B4A5C"/>
                </a:solidFill>
                <a:latin typeface="PingFang SC"/>
                <a:ea typeface="PingFang SC"/>
              </a:rPr>
              <a:t>各指数年度涨跌幅（</a:t>
            </a:r>
            <a:r>
              <a:rPr lang="zh-CN" sz="1238" b="1">
                <a:solidFill>
                  <a:srgbClr val="3B4A5C"/>
                </a:solidFill>
                <a:latin typeface="PingFang SC"/>
                <a:ea typeface="PingFang SC"/>
              </a:rPr>
              <a:t>全收益口径</a:t>
            </a:r>
            <a:r>
              <a:rPr lang="zh-CN" sz="1238">
                <a:solidFill>
                  <a:srgbClr val="3B4A5C"/>
                </a:solidFill>
                <a:latin typeface="PingFang SC"/>
                <a:ea typeface="PingFang SC"/>
              </a:rPr>
              <a:t>，含分红再投）。</a:t>
            </a:r>
            <a:r>
              <a:rPr lang="en-US" sz="1238">
                <a:solidFill>
                  <a:srgbClr val="3B4A5C"/>
                </a:solidFill>
                <a:latin typeface="PingFang SC"/>
                <a:ea typeface="PingFang SC"/>
              </a:rPr>
              <a:t>2016 </a:t>
            </a:r>
            <a:r>
              <a:rPr lang="zh-CN" sz="1238">
                <a:solidFill>
                  <a:srgbClr val="3B4A5C"/>
                </a:solidFill>
                <a:latin typeface="PingFang SC"/>
                <a:ea typeface="PingFang SC"/>
              </a:rPr>
              <a:t>年为定投起点（</a:t>
            </a:r>
            <a:r>
              <a:rPr lang="en-US" sz="1238">
                <a:solidFill>
                  <a:srgbClr val="3B4A5C"/>
                </a:solidFill>
                <a:latin typeface="PingFang SC"/>
                <a:ea typeface="PingFang SC"/>
              </a:rPr>
              <a:t>2016-08-01</a:t>
            </a:r>
            <a:r>
              <a:rPr lang="zh-CN" sz="1238">
                <a:solidFill>
                  <a:srgbClr val="3B4A5C"/>
                </a:solidFill>
                <a:latin typeface="PingFang SC"/>
                <a:ea typeface="PingFang SC"/>
              </a:rPr>
              <a:t>）至年末，</a:t>
            </a:r>
            <a:r>
              <a:rPr lang="en-US" sz="1238">
                <a:solidFill>
                  <a:srgbClr val="3B4A5C"/>
                </a:solidFill>
                <a:latin typeface="PingFang SC"/>
                <a:ea typeface="PingFang SC"/>
              </a:rPr>
              <a:t> </a:t>
            </a:r>
            <a:r>
              <a:rPr lang="zh-CN" sz="1238">
                <a:solidFill>
                  <a:srgbClr val="3B4A5C"/>
                </a:solidFill>
                <a:latin typeface="PingFang SC"/>
                <a:ea typeface="PingFang SC"/>
              </a:rPr>
              <a:t>其余年份为自然年（上年末→本年末）；</a:t>
            </a:r>
            <a:r>
              <a:rPr lang="en-US" sz="1238">
                <a:solidFill>
                  <a:srgbClr val="3B4A5C"/>
                </a:solidFill>
                <a:latin typeface="PingFang SC"/>
                <a:ea typeface="PingFang SC"/>
              </a:rPr>
              <a:t>2026 </a:t>
            </a:r>
            <a:r>
              <a:rPr lang="zh-CN" sz="1238">
                <a:solidFill>
                  <a:srgbClr val="3B4A5C"/>
                </a:solidFill>
                <a:latin typeface="PingFang SC"/>
                <a:ea typeface="PingFang SC"/>
              </a:rPr>
              <a:t>行为截至</a:t>
            </a:r>
            <a:r>
              <a:rPr lang="en-US" sz="1238">
                <a:solidFill>
                  <a:srgbClr val="3B4A5C"/>
                </a:solidFill>
                <a:latin typeface="PingFang SC"/>
                <a:ea typeface="PingFang SC"/>
              </a:rPr>
              <a:t> 2026-07-31</a:t>
            </a:r>
            <a:r>
              <a:rPr lang="zh-CN" sz="1238">
                <a:solidFill>
                  <a:srgbClr val="3B4A5C"/>
                </a:solidFill>
                <a:latin typeface="PingFang SC"/>
                <a:ea typeface="PingFang SC"/>
              </a:rPr>
              <a:t>（非完整年度）。红涨绿跌（</a:t>
            </a:r>
            <a:r>
              <a:rPr lang="en-US" sz="1238">
                <a:solidFill>
                  <a:srgbClr val="3B4A5C"/>
                </a:solidFill>
                <a:latin typeface="PingFang SC"/>
                <a:ea typeface="PingFang SC"/>
              </a:rPr>
              <a:t>A </a:t>
            </a:r>
            <a:r>
              <a:rPr lang="zh-CN" sz="1238">
                <a:solidFill>
                  <a:srgbClr val="3B4A5C"/>
                </a:solidFill>
                <a:latin typeface="PingFang SC"/>
                <a:ea typeface="PingFang SC"/>
              </a:rPr>
              <a:t>股习惯）。</a:t>
            </a:r>
            <a:endParaRPr/>
          </a:p>
        </p:txBody>
      </p:sp>
      <p:graphicFrame>
        <p:nvGraphicFramePr>
          <p:cNvPr id="213" name=""/>
          <p:cNvGraphicFramePr/>
          <p:nvPr/>
        </p:nvGraphicFramePr>
        <p:xfrm rot="0" flipH="0" flipV="0">
          <a:off x="609600" y="2038350"/>
          <a:ext cx="10972800" cy="4095750"/>
        </p:xfrm>
        <a:graphic>
          <a:graphicData uri="http://schemas.openxmlformats.org/drawingml/2006/table">
            <a:tbl>
              <a:tblGrid>
                <a:gridCol w="1382449">
                  <a:extLst>
                    <a:ext uri="{9D8B030D-6E8A-4147-A177-3AD203B41FA5}">
                      <a16:colId val="1"/>
                    </a:ext>
                  </a:extLst>
                </a:gridCol>
                <a:gridCol w="2250354">
                  <a:extLst>
                    <a:ext uri="{9D8B030D-6E8A-4147-A177-3AD203B41FA5}">
                      <a16:colId val="2"/>
                    </a:ext>
                  </a:extLst>
                </a:gridCol>
                <a:gridCol w="2250354">
                  <a:extLst>
                    <a:ext uri="{9D8B030D-6E8A-4147-A177-3AD203B41FA5}">
                      <a16:colId val="3"/>
                    </a:ext>
                  </a:extLst>
                </a:gridCol>
                <a:gridCol w="2839289">
                  <a:extLst>
                    <a:ext uri="{9D8B030D-6E8A-4147-A177-3AD203B41FA5}">
                      <a16:colId val="4"/>
                    </a:ext>
                  </a:extLst>
                </a:gridCol>
                <a:gridCol w="2250354">
                  <a:extLst>
                    <a:ext uri="{9D8B030D-6E8A-4147-A177-3AD203B41FA5}">
                      <a16:colId val="5"/>
                    </a:ext>
                  </a:extLst>
                </a:gridCol>
              </a:tblGrid>
              <a:tr h="341312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年份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D2939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红利低波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D2939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中证红利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D2939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红利低波100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D2939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上证红利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D2939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341312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2016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+6.22%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+6.45%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+6.90%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+6.17%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341312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2017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+23.57%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+21.34%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+15.50%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+20.52%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341312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2018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27AE60"/>
                          </a:solidFill>
                          <a:latin typeface="Microsoft YaHei"/>
                          <a:ea typeface="Microsoft YaHei"/>
                        </a:rPr>
                        <a:t>-16.39%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27AE60"/>
                          </a:solidFill>
                          <a:latin typeface="Microsoft YaHei"/>
                          <a:ea typeface="Microsoft YaHei"/>
                        </a:rPr>
                        <a:t>-16.15%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27AE60"/>
                          </a:solidFill>
                          <a:latin typeface="Microsoft YaHei"/>
                          <a:ea typeface="Microsoft YaHei"/>
                        </a:rPr>
                        <a:t>-14.12%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27AE60"/>
                          </a:solidFill>
                          <a:latin typeface="Microsoft YaHei"/>
                          <a:ea typeface="Microsoft YaHei"/>
                        </a:rPr>
                        <a:t>-13.59%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341312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2019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+20.94%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+20.88%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+16.88%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+16.27%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341312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2020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+1.99%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+8.18%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+2.34%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27AE60"/>
                          </a:solidFill>
                          <a:latin typeface="Microsoft YaHei"/>
                          <a:ea typeface="Microsoft YaHei"/>
                        </a:rPr>
                        <a:t>-1.05%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  <a:tr h="341312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2021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+16.34%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+18.19%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+19.27%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+13.25%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7"/>
                  </a:ext>
                </a:extLst>
              </a:tr>
              <a:tr h="341312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2022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+3.46%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27AE60"/>
                          </a:solidFill>
                          <a:latin typeface="Microsoft YaHei"/>
                          <a:ea typeface="Microsoft YaHei"/>
                        </a:rPr>
                        <a:t>-0.37%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+0.77%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+3.46%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8"/>
                  </a:ext>
                </a:extLst>
              </a:tr>
              <a:tr h="341312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2023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+12.23%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+6.34%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+13.26%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+9.06%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9"/>
                  </a:ext>
                </a:extLst>
              </a:tr>
              <a:tr h="341312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2024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+24.82%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+18.76%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+18.64%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+21.30%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10"/>
                  </a:ext>
                </a:extLst>
              </a:tr>
              <a:tr h="341312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2025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+5.57%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+3.76%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+3.97%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+0.41%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11"/>
                  </a:ext>
                </a:extLst>
              </a:tr>
              <a:tr h="341312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2026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+1.47%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+6.31%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27AE60"/>
                          </a:solidFill>
                          <a:latin typeface="Microsoft YaHei"/>
                          <a:ea typeface="Microsoft YaHei"/>
                        </a:rPr>
                        <a:t>-0.32%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+13.89%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12"/>
                  </a:ext>
                </a:extLst>
              </a:tr>
            </a:tbl>
          </a:graphicData>
        </a:graphic>
      </p:graphicFrame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5172075" y="6391275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B7686"/>
                </a:solidFill>
                <a:latin typeface="PingFang SC"/>
                <a:ea typeface="PingFang SC"/>
              </a:rPr>
              <a:t>四大红利全收益指数</a:t>
            </a:r>
            <a:r>
              <a:rPr lang="en-US" sz="1050">
                <a:solidFill>
                  <a:srgbClr val="6B7686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B7686"/>
                </a:solidFill>
                <a:latin typeface="PingFang SC"/>
                <a:ea typeface="PingFang SC"/>
              </a:rPr>
              <a:t>数据回测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21" name="" descr="&lt;Slide style={{ width: '1280px', height: '720px', background: '#FFFFFF', padding: '20px 64px', fontFamily: '&quot;PingFang SC&quot;,&quot;Microsoft YaHei&quot;,sans-serif', color: '#1A1A1A' }}&gt;&#10;  &lt;Box style={{ height: 96, flexDirection: 'row', alignItems: 'center', justifyContent: 'space-between' }}&gt;&#10;    &lt;Text style={{ fontSize: 34, fontWeight: 'bold', color: '#1D2939' }}&gt;6 那到底选哪个？&lt;/Text&gt;&#10;    &lt;Text style={{ fontSize: 14, color: '#6B7686' }}&gt;四大红利全收益指数 · 数据回测&lt;/Text&gt;&#10;  &lt;/Box&gt;&#10;&#10;  &lt;Box style={{ height: 70, marginTop: 4 }}&gt;&#10;    &lt;Text style={{ fontSize: 17, color: '#3B4A5C', lineHeight: 1.7 }}&gt;&#10;      回撤数据是选择的钥匙：收益相近时，回撤更小、恢复更快的指数持有体验更好，也更可能坚持到底。&#10;    &lt;/Text&gt;&#10;  &lt;/Box&gt;&#10;&#10;  &lt;Box style={{ height: 330, flexDirection: 'row', gap: 16 }}&gt;&#10;    &lt;Box style={{ flex: 1, background: '#EEF2F7', borderRadius: 14, padding: 20 }}&gt;&#10;      &lt;Text style={{ fontSize: 19, fontWeight: 'bold', color: '#1D2939' }}&gt;如果只能选一个：红利低波全收益 &lt;span style={{ fontSize: 12, color: '#C0392B', border: '1px solid #C0392B', borderRadius: 20, padding: '2px 10px' }}&gt;全场最佳&lt;/span&gt;&lt;/Text&gt;&#10;      &lt;Text style={{ fontSize: 13, color: '#6B7686', marginTop: 6 }}&gt;H20269 · 场外基金：华泰柏瑞中证红利低波动ETF联接 007466/007467&lt;/Text&gt;&#10;      &lt;Text style={{ fontSize: 14.5, color: '#3B4A5C', lineHeight: 1.9, marginTop: 10 }}&gt;年化收益率 &lt;b&gt;9.56%（四者最高）&lt;/b&gt;&lt;/Text&gt;&#10;      &lt;Text style={{ fontSize: 14.5, color: '#3B4A5C', lineHeight: 1.9 }}&gt;10年终值 &lt;b&gt;¥1,967,153（+63.9%）&lt;/b&gt;&lt;/Text&gt;&#10;      &lt;Text style={{ fontSize: 14.5, color: '#3B4A5C', lineHeight: 1.9 }}&gt;组合最大回撤 &lt;b&gt;-14.79%&lt;/b&gt;&lt;/Text&gt;&#10;      &lt;Text style={{ fontSize: 14.5, color: '#3B4A5C', lineHeight: 1.9 }}&gt;最大浮亏 &lt;b&gt;-¥129,309（2021-11-10 谷底）&lt;/b&gt;&lt;/Text&gt;&#10;      &lt;Text style={{ fontSize: 14.5, color: '#3B4A5C', lineHeight: 1.9 }}&gt;回撤收复 &lt;b&gt;149 天&lt;/b&gt;&lt;/Text&gt;&#10;      &lt;Text style={{ fontSize: 13, color: '#6B7686', lineHeight: 1.6, marginTop: 8, background: '#FFFFFF', borderRadius: 8, padding: 8 }}&gt;收益最高且回撤中等，横跨沪深两市、50 只成分股兼顾分散与弹性。&lt;/Text&gt;&#10;    &lt;/Box&gt;&#10;    &lt;Box style={{ flex: 1, background: '#EEF2F7', borderRadius: 14, padding: 20 }}&gt;&#10;      &lt;Text style={{ fontSize: 19, fontWeight: 'bold', color: '#1D2939' }}&gt;追求极致稳定：红利低波100全收益 &lt;span style={{ fontSize: 12, color: '#27AE60', border: '1px solid #27AE60', borderRadius: 20, padding: '2px 10px' }}&gt;回撤最小&lt;/span&gt;&lt;/Text&gt;&#10;      &lt;Text style={{ fontSize: 13, color: '#6B7686', marginTop: 6 }}&gt;H20955 · 场外基金：景顺长城中证红利低波动100ETF联接 016128/016129&lt;/Text&gt;&#10;      &lt;Text style={{ fontSize: 14.5, color: '#3B4A5C', lineHeight: 1.9, marginTop: 10 }}&gt;年化收益率 &lt;b&gt;8.39%&lt;/b&gt;&lt;/Text&gt;&#10;      &lt;Text style={{ fontSize: 14.5, color: '#3B4A5C', lineHeight: 1.9 }}&gt;10年终值 &lt;b&gt;¥1,848,858（+54.1%）&lt;/b&gt;&lt;/Text&gt;&#10;      &lt;Text style={{ fontSize: 14.5, color: '#3B4A5C', lineHeight: 1.9 }}&gt;组合最大回撤 &lt;b&gt;-11.53%&lt;/b&gt;&lt;/Text&gt;&#10;      &lt;Text style={{ fontSize: 14.5, color: '#3B4A5C', lineHeight: 1.9 }}&gt;最大浮亏 &lt;b&gt;-¥52,411（2020-02-03 谷底）&lt;/b&gt;&lt;/Text&gt;&#10;      &lt;Text style={{ fontSize: 14.5, color: '#3B4A5C', lineHeight: 1.9 }}&gt;回撤收复 &lt;b&gt;146 天&lt;/b&gt;&lt;/Text&gt;&#10;      &lt;Text style={{ fontSize: 13, color: '#6B7686', lineHeight: 1.6, marginTop: 8, background: '#FFFFFF', borderRadius: 8, padding: 8 }}&gt;100 只成分股足够分散，不怕单只股票暴雷；回撤最小、持有最安心。&lt;/Text&gt;&#10;    &lt;/Box&gt;&#10;    &lt;Box style={{ flex: 1, background: '#EEF2F7', borderRadius: 14, padding: 20 }}&gt;&#10;      &lt;Text style={{ fontSize: 19, fontWeight: 'bold', color: '#1D2939' }}&gt;看重体验与配置：中证红利全收益 &lt;span style={{ fontSize: 12, color: '#27AE60', border: '1px solid #27AE60', borderRadius: 20, padding: '2px 10px' }}&gt;均衡之选&lt;/span&gt;&lt;/Text&gt;&#10;      &lt;Text style={{ fontSize: 13, color: '#6B7686', marginTop: 6 }}&gt;H00922 · 场外基金：易方达中证红利ETF联接发起式A/C 009051/009052&lt;/Text&gt;&#10;      &lt;Text style={{ fontSize: 14.5, color: '#3B4A5C', lineHeight: 1.9, marginTop: 10 }}&gt;年化收益率 &lt;b&gt;8.24%&lt;/b&gt;&lt;/Text&gt;&#10;      &lt;Text style={{ fontSize: 14.5, color: '#3B4A5C', lineHeight: 1.9 }}&gt;10年终值 &lt;b&gt;¥1,834,922（+52.9%）&lt;/b&gt;&lt;/Text&gt;&#10;      &lt;Text style={{ fontSize: 14.5, color: '#3B4A5C', lineHeight: 1.9 }}&gt;组合最大回撤 &lt;b&gt;-13.40%&lt;/b&gt;&lt;/Text&gt;&#10;      &lt;Text style={{ fontSize: 14.5, color: '#3B4A5C', lineHeight: 1.9 }}&gt;最大浮亏 &lt;b&gt;-¥65,173（2020-03-23 谷底）&lt;/b&gt;&lt;/Text&gt;&#10;      &lt;Text style={{ fontSize: 14.5, color: '#3B4A5C', lineHeight: 1.9 }}&gt;回撤收复 &lt;b&gt;105 天&lt;/b&gt;&lt;/Text&gt;&#10;      &lt;Text style={{ fontSize: 13, color: '#6B7686', lineHeight: 1.6, marginTop: 8, background: '#FFFFFF', borderRadius: 8, padding: 8 }}&gt;上证标杆指数，回撤控制好、恢复快；ETF 规模大、流动性好。&lt;/Text&gt;&#10;    &lt;/Box&gt;&#10;  &lt;/Box&gt;&#10;&#10;  &lt;Box style={{ height: 120, marginTop: 8, background: '#1D2939', borderRadius: 14, padding: '18px 26px' }}&gt;&#10;    &lt;Text style={{ fontSize: 19, fontWeight: 600, color: '#FFFFFF', lineHeight: 1.7 }}&gt;&#10;      「10 年定投的最大考验从来不是选哪个指数，而是在账面浮亏的那几个月里，你能不能继续投下去。定投最大的敌人不是市场，是你自己。」&#10;    &lt;/Text&gt;&#10;    &lt;Text style={{ fontSize: 14.5, color: '#8FA0B5', lineHeight: 1.7, marginTop: 8 }}&gt;&#10;      回撤是权益策略固有特征，坚持是关键。对比 10 年期缴年金险，其保证回本周期约 8‑12 年，中途退保会亏损本金。红利定投波动直观可见，但保留资金流动性，长期具备更高收益的可能性。&#10;    &lt;/Text&gt;&#10;  &lt;/Box&gt;&#10;&#10;  &lt;Box style={{ height: 50, alignItems: 'center', justifyContent: 'center' }}&gt;&#10;    &lt;Text style={{ fontSize: 14, color: '#6B7686' }}&gt;四大红利全收益指数 · 数据回测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609600" y="457200"/>
            <a:ext cx="25717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1D2939"/>
                </a:solidFill>
                <a:latin typeface="PingFang SC"/>
                <a:ea typeface="PingFang SC"/>
              </a:rPr>
              <a:t>6 </a:t>
            </a:r>
            <a:r>
              <a:rPr lang="zh-CN" sz="2550" b="1">
                <a:solidFill>
                  <a:srgbClr val="1D2939"/>
                </a:solidFill>
                <a:latin typeface="PingFang SC"/>
                <a:ea typeface="PingFang SC"/>
              </a:rPr>
              <a:t>那到底选哪个？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9734550" y="571500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B7686"/>
                </a:solidFill>
                <a:latin typeface="PingFang SC"/>
                <a:ea typeface="PingFang SC"/>
              </a:rPr>
              <a:t>四大红利全收益指数</a:t>
            </a:r>
            <a:r>
              <a:rPr lang="en-US" sz="1050">
                <a:solidFill>
                  <a:srgbClr val="6B7686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B7686"/>
                </a:solidFill>
                <a:latin typeface="PingFang SC"/>
                <a:ea typeface="PingFang SC"/>
              </a:rPr>
              <a:t>数据回测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609600" y="1143000"/>
            <a:ext cx="10972800" cy="3333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75">
                <a:solidFill>
                  <a:srgbClr val="3B4A5C"/>
                </a:solidFill>
                <a:latin typeface="PingFang SC"/>
                <a:ea typeface="PingFang SC"/>
              </a:rPr>
              <a:t>回撤数据是选择的钥匙：收益相近时，回撤更小、恢复更快的指数持有体验更好，也更可能坚持到底。</a:t>
            </a:r>
            <a:endParaRPr/>
          </a:p>
        </p:txBody>
      </p:sp>
      <p:sp>
        <p:nvSpPr>
          <p:cNvPr id="26" name=""/>
          <p:cNvSpPr/>
          <p:nvPr/>
        </p:nvSpPr>
        <p:spPr>
          <a:xfrm rot="0" flipH="0" flipV="0">
            <a:off x="609600" y="1809750"/>
            <a:ext cx="3552825" cy="3524250"/>
          </a:xfrm>
          <a:prstGeom prst="roundRect">
            <a:avLst>
              <a:gd name="adj" fmla="val 3784"/>
            </a:avLst>
          </a:prstGeom>
          <a:solidFill>
            <a:srgbClr val="EEF2F7"/>
          </a:solidFill>
          <a:ln/>
        </p:spPr>
        <p:txBody>
          <a:bodyPr/>
          <a:p/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800100" y="2000250"/>
            <a:ext cx="3171825" cy="3619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D2939"/>
                </a:solidFill>
                <a:latin typeface="PingFang SC"/>
                <a:ea typeface="PingFang SC"/>
              </a:rPr>
              <a:t>如果只能选一个：红利低波全收益</a:t>
            </a:r>
            <a:r>
              <a:rPr lang="en-US" sz="1425" b="1">
                <a:solidFill>
                  <a:srgbClr val="1D2939"/>
                </a:solidFill>
                <a:latin typeface="PingFang SC"/>
                <a:ea typeface="PingFang SC"/>
              </a:rPr>
              <a:t> </a:t>
            </a:r>
            <a:r>
              <a:rPr lang="zh-CN" sz="900" b="1">
                <a:solidFill>
                  <a:srgbClr val="C0392B"/>
                </a:solidFill>
                <a:latin typeface="PingFang SC"/>
                <a:ea typeface="PingFang SC"/>
              </a:rPr>
              <a:t>全场最佳</a:t>
            </a:r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800100" y="2419350"/>
            <a:ext cx="3171825" cy="304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975">
                <a:solidFill>
                  <a:srgbClr val="6B7686"/>
                </a:solidFill>
                <a:latin typeface="PingFang SC"/>
                <a:ea typeface="PingFang SC"/>
              </a:rPr>
              <a:t>H20269 · </a:t>
            </a:r>
            <a:r>
              <a:rPr lang="zh-CN" sz="975">
                <a:solidFill>
                  <a:srgbClr val="6B7686"/>
                </a:solidFill>
                <a:latin typeface="PingFang SC"/>
                <a:ea typeface="PingFang SC"/>
              </a:rPr>
              <a:t>场外基金：华泰柏瑞中证红利低波动</a:t>
            </a:r>
            <a:r>
              <a:rPr lang="en-US" sz="975">
                <a:solidFill>
                  <a:srgbClr val="6B7686"/>
                </a:solidFill>
                <a:latin typeface="PingFang SC"/>
                <a:ea typeface="PingFang SC"/>
              </a:rPr>
              <a:t>ETF</a:t>
            </a:r>
            <a:r>
              <a:rPr lang="zh-CN" sz="975">
                <a:solidFill>
                  <a:srgbClr val="6B7686"/>
                </a:solidFill>
                <a:latin typeface="PingFang SC"/>
                <a:ea typeface="PingFang SC"/>
              </a:rPr>
              <a:t>联接</a:t>
            </a:r>
            <a:r>
              <a:rPr lang="en-US" sz="975">
                <a:solidFill>
                  <a:srgbClr val="6B7686"/>
                </a:solidFill>
                <a:latin typeface="PingFang SC"/>
                <a:ea typeface="PingFang SC"/>
              </a:rPr>
              <a:t> 007466/007467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800100" y="2819400"/>
            <a:ext cx="3171825" cy="32385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1088">
                <a:solidFill>
                  <a:srgbClr val="3B4A5C"/>
                </a:solidFill>
                <a:latin typeface="PingFang SC"/>
                <a:ea typeface="PingFang SC"/>
              </a:rPr>
              <a:t>年化收益率</a:t>
            </a:r>
            <a:r>
              <a:rPr lang="en-US" sz="1088">
                <a:solidFill>
                  <a:srgbClr val="3B4A5C"/>
                </a:solidFill>
                <a:latin typeface="PingFang SC"/>
                <a:ea typeface="PingFang SC"/>
              </a:rPr>
              <a:t> </a:t>
            </a:r>
            <a:r>
              <a:rPr lang="en-US" sz="1088">
                <a:solidFill>
                  <a:srgbClr val="3B4A5C"/>
                </a:solidFill>
                <a:latin typeface="PingFang SC"/>
                <a:ea typeface="PingFang SC"/>
              </a:rPr>
              <a:t>9.56%</a:t>
            </a:r>
            <a:r>
              <a:rPr lang="zh-CN" sz="1088">
                <a:solidFill>
                  <a:srgbClr val="3B4A5C"/>
                </a:solidFill>
                <a:latin typeface="PingFang SC"/>
                <a:ea typeface="PingFang SC"/>
              </a:rPr>
              <a:t>（四者最高）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800100" y="3143250"/>
            <a:ext cx="3171825" cy="32385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088">
                <a:solidFill>
                  <a:srgbClr val="3B4A5C"/>
                </a:solidFill>
                <a:latin typeface="PingFang SC"/>
                <a:ea typeface="PingFang SC"/>
              </a:rPr>
              <a:t>10</a:t>
            </a:r>
            <a:r>
              <a:rPr lang="zh-CN" sz="1088">
                <a:solidFill>
                  <a:srgbClr val="3B4A5C"/>
                </a:solidFill>
                <a:latin typeface="PingFang SC"/>
                <a:ea typeface="PingFang SC"/>
              </a:rPr>
              <a:t>年终值</a:t>
            </a:r>
            <a:r>
              <a:rPr lang="en-US" sz="1088">
                <a:solidFill>
                  <a:srgbClr val="3B4A5C"/>
                </a:solidFill>
                <a:latin typeface="PingFang SC"/>
                <a:ea typeface="PingFang SC"/>
              </a:rPr>
              <a:t> </a:t>
            </a:r>
            <a:r>
              <a:rPr lang="en-US" sz="1088">
                <a:solidFill>
                  <a:srgbClr val="3B4A5C"/>
                </a:solidFill>
                <a:latin typeface="PingFang SC"/>
                <a:ea typeface="PingFang SC"/>
              </a:rPr>
              <a:t>¥1,967,153</a:t>
            </a:r>
            <a:r>
              <a:rPr lang="zh-CN" sz="1088">
                <a:solidFill>
                  <a:srgbClr val="3B4A5C"/>
                </a:solidFill>
                <a:latin typeface="PingFang SC"/>
                <a:ea typeface="PingFang SC"/>
              </a:rPr>
              <a:t>（</a:t>
            </a:r>
            <a:r>
              <a:rPr lang="en-US" sz="1088">
                <a:solidFill>
                  <a:srgbClr val="3B4A5C"/>
                </a:solidFill>
                <a:latin typeface="PingFang SC"/>
                <a:ea typeface="PingFang SC"/>
              </a:rPr>
              <a:t>+63.9%</a:t>
            </a:r>
            <a:r>
              <a:rPr lang="zh-CN" sz="1088">
                <a:solidFill>
                  <a:srgbClr val="3B4A5C"/>
                </a:solidFill>
                <a:latin typeface="PingFang SC"/>
                <a:ea typeface="PingFang SC"/>
              </a:rPr>
              <a:t>）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800100" y="3467100"/>
            <a:ext cx="3171825" cy="32385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1088">
                <a:solidFill>
                  <a:srgbClr val="3B4A5C"/>
                </a:solidFill>
                <a:latin typeface="PingFang SC"/>
                <a:ea typeface="PingFang SC"/>
              </a:rPr>
              <a:t>组合最大回撤</a:t>
            </a:r>
            <a:r>
              <a:rPr lang="en-US" sz="1088">
                <a:solidFill>
                  <a:srgbClr val="3B4A5C"/>
                </a:solidFill>
                <a:latin typeface="PingFang SC"/>
                <a:ea typeface="PingFang SC"/>
              </a:rPr>
              <a:t> </a:t>
            </a:r>
            <a:r>
              <a:rPr lang="en-US" sz="1088">
                <a:solidFill>
                  <a:srgbClr val="3B4A5C"/>
                </a:solidFill>
                <a:latin typeface="PingFang SC"/>
                <a:ea typeface="PingFang SC"/>
              </a:rPr>
              <a:t>-14.79%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800100" y="3790950"/>
            <a:ext cx="3171825" cy="32385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1088">
                <a:solidFill>
                  <a:srgbClr val="3B4A5C"/>
                </a:solidFill>
                <a:latin typeface="PingFang SC"/>
                <a:ea typeface="PingFang SC"/>
              </a:rPr>
              <a:t>最大浮亏</a:t>
            </a:r>
            <a:r>
              <a:rPr lang="en-US" sz="1088">
                <a:solidFill>
                  <a:srgbClr val="3B4A5C"/>
                </a:solidFill>
                <a:latin typeface="PingFang SC"/>
                <a:ea typeface="PingFang SC"/>
              </a:rPr>
              <a:t> </a:t>
            </a:r>
            <a:r>
              <a:rPr lang="en-US" sz="1088">
                <a:solidFill>
                  <a:srgbClr val="3B4A5C"/>
                </a:solidFill>
                <a:latin typeface="PingFang SC"/>
                <a:ea typeface="PingFang SC"/>
              </a:rPr>
              <a:t>-¥129,309</a:t>
            </a:r>
            <a:r>
              <a:rPr lang="zh-CN" sz="1088">
                <a:solidFill>
                  <a:srgbClr val="3B4A5C"/>
                </a:solidFill>
                <a:latin typeface="PingFang SC"/>
                <a:ea typeface="PingFang SC"/>
              </a:rPr>
              <a:t>（</a:t>
            </a:r>
            <a:r>
              <a:rPr lang="en-US" sz="1088">
                <a:solidFill>
                  <a:srgbClr val="3B4A5C"/>
                </a:solidFill>
                <a:latin typeface="PingFang SC"/>
                <a:ea typeface="PingFang SC"/>
              </a:rPr>
              <a:t>2021-11-10 </a:t>
            </a:r>
            <a:r>
              <a:rPr lang="zh-CN" sz="1088">
                <a:solidFill>
                  <a:srgbClr val="3B4A5C"/>
                </a:solidFill>
                <a:latin typeface="PingFang SC"/>
                <a:ea typeface="PingFang SC"/>
              </a:rPr>
              <a:t>谷底）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800100" y="4114800"/>
            <a:ext cx="3171825" cy="32385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1088">
                <a:solidFill>
                  <a:srgbClr val="3B4A5C"/>
                </a:solidFill>
                <a:latin typeface="PingFang SC"/>
                <a:ea typeface="PingFang SC"/>
              </a:rPr>
              <a:t>回撤收复</a:t>
            </a:r>
            <a:r>
              <a:rPr lang="en-US" sz="1088">
                <a:solidFill>
                  <a:srgbClr val="3B4A5C"/>
                </a:solidFill>
                <a:latin typeface="PingFang SC"/>
                <a:ea typeface="PingFang SC"/>
              </a:rPr>
              <a:t> </a:t>
            </a:r>
            <a:r>
              <a:rPr lang="en-US" sz="1088">
                <a:solidFill>
                  <a:srgbClr val="3B4A5C"/>
                </a:solidFill>
                <a:latin typeface="PingFang SC"/>
                <a:ea typeface="PingFang SC"/>
              </a:rPr>
              <a:t>149 </a:t>
            </a:r>
            <a:r>
              <a:rPr lang="zh-CN" sz="1088">
                <a:solidFill>
                  <a:srgbClr val="3B4A5C"/>
                </a:solidFill>
                <a:latin typeface="PingFang SC"/>
                <a:ea typeface="PingFang SC"/>
              </a:rPr>
              <a:t>天</a:t>
            </a:r>
            <a:endParaRPr/>
          </a:p>
        </p:txBody>
      </p:sp>
      <p:sp>
        <p:nvSpPr>
          <p:cNvPr id="34" name=""/>
          <p:cNvSpPr/>
          <p:nvPr/>
        </p:nvSpPr>
        <p:spPr>
          <a:xfrm rot="0" flipH="0" flipV="0">
            <a:off x="800100" y="4514850"/>
            <a:ext cx="3171825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800100" y="4514850"/>
            <a:ext cx="3171825" cy="628650"/>
          </a:xfrm>
          <a:prstGeom prst="rect"/>
        </p:spPr>
        <p:txBody>
          <a:bodyPr wrap="square" lIns="57150" tIns="57150" rIns="57150" bIns="57150">
            <a:normAutofit/>
          </a:bodyPr>
          <a:p>
            <a:pPr>
              <a:lnSpc>
                <a:spcPct val="160000"/>
              </a:lnSpc>
            </a:pPr>
            <a:r>
              <a:rPr lang="zh-CN" sz="975">
                <a:solidFill>
                  <a:srgbClr val="6B7686"/>
                </a:solidFill>
                <a:highlight>
                  <a:srgbClr val="FFFFFF"/>
                </a:highlight>
                <a:latin typeface="PingFang SC"/>
                <a:ea typeface="PingFang SC"/>
              </a:rPr>
              <a:t>收益最高且回撤中等，横跨沪深两市、</a:t>
            </a:r>
            <a:r>
              <a:rPr lang="en-US" sz="975">
                <a:solidFill>
                  <a:srgbClr val="6B7686"/>
                </a:solidFill>
                <a:highlight>
                  <a:srgbClr val="FFFFFF"/>
                </a:highlight>
                <a:latin typeface="PingFang SC"/>
                <a:ea typeface="PingFang SC"/>
              </a:rPr>
              <a:t>50 </a:t>
            </a:r>
            <a:r>
              <a:rPr lang="zh-CN" sz="975">
                <a:solidFill>
                  <a:srgbClr val="6B7686"/>
                </a:solidFill>
                <a:highlight>
                  <a:srgbClr val="FFFFFF"/>
                </a:highlight>
                <a:latin typeface="PingFang SC"/>
                <a:ea typeface="PingFang SC"/>
              </a:rPr>
              <a:t>只成分股兼顾分散与弹性。</a:t>
            </a:r>
            <a:endParaRPr/>
          </a:p>
        </p:txBody>
      </p:sp>
      <p:sp>
        <p:nvSpPr>
          <p:cNvPr id="36" name=""/>
          <p:cNvSpPr/>
          <p:nvPr/>
        </p:nvSpPr>
        <p:spPr>
          <a:xfrm rot="0" flipH="0" flipV="0">
            <a:off x="4314825" y="1809750"/>
            <a:ext cx="3562350" cy="3524250"/>
          </a:xfrm>
          <a:prstGeom prst="roundRect">
            <a:avLst>
              <a:gd name="adj" fmla="val 3784"/>
            </a:avLst>
          </a:prstGeom>
          <a:solidFill>
            <a:srgbClr val="EEF2F7"/>
          </a:solidFill>
          <a:ln/>
        </p:spPr>
        <p:txBody>
          <a:bodyPr/>
          <a:p/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4505325" y="2000250"/>
            <a:ext cx="3181350" cy="3619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D2939"/>
                </a:solidFill>
                <a:latin typeface="PingFang SC"/>
                <a:ea typeface="PingFang SC"/>
              </a:rPr>
              <a:t>追求极致稳定：红利低波</a:t>
            </a:r>
            <a:r>
              <a:rPr lang="en-US" sz="1425" b="1">
                <a:solidFill>
                  <a:srgbClr val="1D2939"/>
                </a:solidFill>
                <a:latin typeface="PingFang SC"/>
                <a:ea typeface="PingFang SC"/>
              </a:rPr>
              <a:t>100</a:t>
            </a:r>
            <a:r>
              <a:rPr lang="zh-CN" sz="1425" b="1">
                <a:solidFill>
                  <a:srgbClr val="1D2939"/>
                </a:solidFill>
                <a:latin typeface="PingFang SC"/>
                <a:ea typeface="PingFang SC"/>
              </a:rPr>
              <a:t>全收益</a:t>
            </a:r>
            <a:r>
              <a:rPr lang="en-US" sz="1425" b="1">
                <a:solidFill>
                  <a:srgbClr val="1D2939"/>
                </a:solidFill>
                <a:latin typeface="PingFang SC"/>
                <a:ea typeface="PingFang SC"/>
              </a:rPr>
              <a:t> </a:t>
            </a:r>
            <a:r>
              <a:rPr lang="zh-CN" sz="900" b="1">
                <a:solidFill>
                  <a:srgbClr val="27AE60"/>
                </a:solidFill>
                <a:latin typeface="PingFang SC"/>
                <a:ea typeface="PingFang SC"/>
              </a:rPr>
              <a:t>回撤最小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4505325" y="2419350"/>
            <a:ext cx="3181350" cy="304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975">
                <a:solidFill>
                  <a:srgbClr val="6B7686"/>
                </a:solidFill>
                <a:latin typeface="PingFang SC"/>
                <a:ea typeface="PingFang SC"/>
              </a:rPr>
              <a:t>H20955 · </a:t>
            </a:r>
            <a:r>
              <a:rPr lang="zh-CN" sz="975">
                <a:solidFill>
                  <a:srgbClr val="6B7686"/>
                </a:solidFill>
                <a:latin typeface="PingFang SC"/>
                <a:ea typeface="PingFang SC"/>
              </a:rPr>
              <a:t>场外基金：景顺长城中证红利低波动</a:t>
            </a:r>
            <a:r>
              <a:rPr lang="en-US" sz="975">
                <a:solidFill>
                  <a:srgbClr val="6B7686"/>
                </a:solidFill>
                <a:latin typeface="PingFang SC"/>
                <a:ea typeface="PingFang SC"/>
              </a:rPr>
              <a:t>100ETF</a:t>
            </a:r>
            <a:r>
              <a:rPr lang="zh-CN" sz="975">
                <a:solidFill>
                  <a:srgbClr val="6B7686"/>
                </a:solidFill>
                <a:latin typeface="PingFang SC"/>
                <a:ea typeface="PingFang SC"/>
              </a:rPr>
              <a:t>联接</a:t>
            </a:r>
            <a:r>
              <a:rPr lang="en-US" sz="975">
                <a:solidFill>
                  <a:srgbClr val="6B7686"/>
                </a:solidFill>
                <a:latin typeface="PingFang SC"/>
                <a:ea typeface="PingFang SC"/>
              </a:rPr>
              <a:t> 016128/016129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4505325" y="2819400"/>
            <a:ext cx="3181350" cy="32385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1088">
                <a:solidFill>
                  <a:srgbClr val="3B4A5C"/>
                </a:solidFill>
                <a:latin typeface="PingFang SC"/>
                <a:ea typeface="PingFang SC"/>
              </a:rPr>
              <a:t>年化收益率</a:t>
            </a:r>
            <a:r>
              <a:rPr lang="en-US" sz="1088">
                <a:solidFill>
                  <a:srgbClr val="3B4A5C"/>
                </a:solidFill>
                <a:latin typeface="PingFang SC"/>
                <a:ea typeface="PingFang SC"/>
              </a:rPr>
              <a:t> </a:t>
            </a:r>
            <a:r>
              <a:rPr lang="en-US" sz="1088">
                <a:solidFill>
                  <a:srgbClr val="3B4A5C"/>
                </a:solidFill>
                <a:latin typeface="PingFang SC"/>
                <a:ea typeface="PingFang SC"/>
              </a:rPr>
              <a:t>8.39%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4505325" y="3143250"/>
            <a:ext cx="3181350" cy="32385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088">
                <a:solidFill>
                  <a:srgbClr val="3B4A5C"/>
                </a:solidFill>
                <a:latin typeface="PingFang SC"/>
                <a:ea typeface="PingFang SC"/>
              </a:rPr>
              <a:t>10</a:t>
            </a:r>
            <a:r>
              <a:rPr lang="zh-CN" sz="1088">
                <a:solidFill>
                  <a:srgbClr val="3B4A5C"/>
                </a:solidFill>
                <a:latin typeface="PingFang SC"/>
                <a:ea typeface="PingFang SC"/>
              </a:rPr>
              <a:t>年终值</a:t>
            </a:r>
            <a:r>
              <a:rPr lang="en-US" sz="1088">
                <a:solidFill>
                  <a:srgbClr val="3B4A5C"/>
                </a:solidFill>
                <a:latin typeface="PingFang SC"/>
                <a:ea typeface="PingFang SC"/>
              </a:rPr>
              <a:t> </a:t>
            </a:r>
            <a:r>
              <a:rPr lang="en-US" sz="1088">
                <a:solidFill>
                  <a:srgbClr val="3B4A5C"/>
                </a:solidFill>
                <a:latin typeface="PingFang SC"/>
                <a:ea typeface="PingFang SC"/>
              </a:rPr>
              <a:t>¥1,848,858</a:t>
            </a:r>
            <a:r>
              <a:rPr lang="zh-CN" sz="1088">
                <a:solidFill>
                  <a:srgbClr val="3B4A5C"/>
                </a:solidFill>
                <a:latin typeface="PingFang SC"/>
                <a:ea typeface="PingFang SC"/>
              </a:rPr>
              <a:t>（</a:t>
            </a:r>
            <a:r>
              <a:rPr lang="en-US" sz="1088">
                <a:solidFill>
                  <a:srgbClr val="3B4A5C"/>
                </a:solidFill>
                <a:latin typeface="PingFang SC"/>
                <a:ea typeface="PingFang SC"/>
              </a:rPr>
              <a:t>+54.1%</a:t>
            </a:r>
            <a:r>
              <a:rPr lang="zh-CN" sz="1088">
                <a:solidFill>
                  <a:srgbClr val="3B4A5C"/>
                </a:solidFill>
                <a:latin typeface="PingFang SC"/>
                <a:ea typeface="PingFang SC"/>
              </a:rPr>
              <a:t>）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4505325" y="3467100"/>
            <a:ext cx="3181350" cy="32385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1088">
                <a:solidFill>
                  <a:srgbClr val="3B4A5C"/>
                </a:solidFill>
                <a:latin typeface="PingFang SC"/>
                <a:ea typeface="PingFang SC"/>
              </a:rPr>
              <a:t>组合最大回撤</a:t>
            </a:r>
            <a:r>
              <a:rPr lang="en-US" sz="1088">
                <a:solidFill>
                  <a:srgbClr val="3B4A5C"/>
                </a:solidFill>
                <a:latin typeface="PingFang SC"/>
                <a:ea typeface="PingFang SC"/>
              </a:rPr>
              <a:t> </a:t>
            </a:r>
            <a:r>
              <a:rPr lang="en-US" sz="1088">
                <a:solidFill>
                  <a:srgbClr val="3B4A5C"/>
                </a:solidFill>
                <a:latin typeface="PingFang SC"/>
                <a:ea typeface="PingFang SC"/>
              </a:rPr>
              <a:t>-11.53%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4505325" y="3790950"/>
            <a:ext cx="3181350" cy="32385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1088">
                <a:solidFill>
                  <a:srgbClr val="3B4A5C"/>
                </a:solidFill>
                <a:latin typeface="PingFang SC"/>
                <a:ea typeface="PingFang SC"/>
              </a:rPr>
              <a:t>最大浮亏</a:t>
            </a:r>
            <a:r>
              <a:rPr lang="en-US" sz="1088">
                <a:solidFill>
                  <a:srgbClr val="3B4A5C"/>
                </a:solidFill>
                <a:latin typeface="PingFang SC"/>
                <a:ea typeface="PingFang SC"/>
              </a:rPr>
              <a:t> </a:t>
            </a:r>
            <a:r>
              <a:rPr lang="en-US" sz="1088">
                <a:solidFill>
                  <a:srgbClr val="3B4A5C"/>
                </a:solidFill>
                <a:latin typeface="PingFang SC"/>
                <a:ea typeface="PingFang SC"/>
              </a:rPr>
              <a:t>-¥52,411</a:t>
            </a:r>
            <a:r>
              <a:rPr lang="zh-CN" sz="1088">
                <a:solidFill>
                  <a:srgbClr val="3B4A5C"/>
                </a:solidFill>
                <a:latin typeface="PingFang SC"/>
                <a:ea typeface="PingFang SC"/>
              </a:rPr>
              <a:t>（</a:t>
            </a:r>
            <a:r>
              <a:rPr lang="en-US" sz="1088">
                <a:solidFill>
                  <a:srgbClr val="3B4A5C"/>
                </a:solidFill>
                <a:latin typeface="PingFang SC"/>
                <a:ea typeface="PingFang SC"/>
              </a:rPr>
              <a:t>2020-02-03 </a:t>
            </a:r>
            <a:r>
              <a:rPr lang="zh-CN" sz="1088">
                <a:solidFill>
                  <a:srgbClr val="3B4A5C"/>
                </a:solidFill>
                <a:latin typeface="PingFang SC"/>
                <a:ea typeface="PingFang SC"/>
              </a:rPr>
              <a:t>谷底）</a:t>
            </a:r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4505325" y="4114800"/>
            <a:ext cx="3181350" cy="32385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1088">
                <a:solidFill>
                  <a:srgbClr val="3B4A5C"/>
                </a:solidFill>
                <a:latin typeface="PingFang SC"/>
                <a:ea typeface="PingFang SC"/>
              </a:rPr>
              <a:t>回撤收复</a:t>
            </a:r>
            <a:r>
              <a:rPr lang="en-US" sz="1088">
                <a:solidFill>
                  <a:srgbClr val="3B4A5C"/>
                </a:solidFill>
                <a:latin typeface="PingFang SC"/>
                <a:ea typeface="PingFang SC"/>
              </a:rPr>
              <a:t> </a:t>
            </a:r>
            <a:r>
              <a:rPr lang="en-US" sz="1088">
                <a:solidFill>
                  <a:srgbClr val="3B4A5C"/>
                </a:solidFill>
                <a:latin typeface="PingFang SC"/>
                <a:ea typeface="PingFang SC"/>
              </a:rPr>
              <a:t>146 </a:t>
            </a:r>
            <a:r>
              <a:rPr lang="zh-CN" sz="1088">
                <a:solidFill>
                  <a:srgbClr val="3B4A5C"/>
                </a:solidFill>
                <a:latin typeface="PingFang SC"/>
                <a:ea typeface="PingFang SC"/>
              </a:rPr>
              <a:t>天</a:t>
            </a:r>
            <a:endParaRPr/>
          </a:p>
        </p:txBody>
      </p:sp>
      <p:sp>
        <p:nvSpPr>
          <p:cNvPr id="44" name=""/>
          <p:cNvSpPr/>
          <p:nvPr/>
        </p:nvSpPr>
        <p:spPr>
          <a:xfrm rot="0" flipH="0" flipV="0">
            <a:off x="4505325" y="4514850"/>
            <a:ext cx="318135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4505325" y="4514850"/>
            <a:ext cx="3181350" cy="628650"/>
          </a:xfrm>
          <a:prstGeom prst="rect"/>
        </p:spPr>
        <p:txBody>
          <a:bodyPr wrap="square" lIns="57150" tIns="57150" rIns="57150" bIns="57150">
            <a:normAutofit/>
          </a:bodyPr>
          <a:p>
            <a:pPr>
              <a:lnSpc>
                <a:spcPct val="160000"/>
              </a:lnSpc>
            </a:pPr>
            <a:r>
              <a:rPr lang="en-US" sz="975">
                <a:solidFill>
                  <a:srgbClr val="6B7686"/>
                </a:solidFill>
                <a:highlight>
                  <a:srgbClr val="FFFFFF"/>
                </a:highlight>
                <a:latin typeface="PingFang SC"/>
                <a:ea typeface="PingFang SC"/>
              </a:rPr>
              <a:t>100 </a:t>
            </a:r>
            <a:r>
              <a:rPr lang="zh-CN" sz="975">
                <a:solidFill>
                  <a:srgbClr val="6B7686"/>
                </a:solidFill>
                <a:highlight>
                  <a:srgbClr val="FFFFFF"/>
                </a:highlight>
                <a:latin typeface="PingFang SC"/>
                <a:ea typeface="PingFang SC"/>
              </a:rPr>
              <a:t>只成分股足够分散，不怕单只股票暴雷；回撤最小、持有最安心。</a:t>
            </a:r>
            <a:endParaRPr/>
          </a:p>
        </p:txBody>
      </p:sp>
      <p:sp>
        <p:nvSpPr>
          <p:cNvPr id="46" name=""/>
          <p:cNvSpPr/>
          <p:nvPr/>
        </p:nvSpPr>
        <p:spPr>
          <a:xfrm rot="0" flipH="0" flipV="0">
            <a:off x="8029575" y="1809750"/>
            <a:ext cx="3552825" cy="3524250"/>
          </a:xfrm>
          <a:prstGeom prst="roundRect">
            <a:avLst>
              <a:gd name="adj" fmla="val 3784"/>
            </a:avLst>
          </a:prstGeom>
          <a:solidFill>
            <a:srgbClr val="EEF2F7"/>
          </a:solidFill>
          <a:ln/>
        </p:spPr>
        <p:txBody>
          <a:bodyPr/>
          <a:p/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8220075" y="2000250"/>
            <a:ext cx="3171825" cy="3619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D2939"/>
                </a:solidFill>
                <a:latin typeface="PingFang SC"/>
                <a:ea typeface="PingFang SC"/>
              </a:rPr>
              <a:t>看重体验与配置：中证红利全收益</a:t>
            </a:r>
            <a:r>
              <a:rPr lang="en-US" sz="1425" b="1">
                <a:solidFill>
                  <a:srgbClr val="1D2939"/>
                </a:solidFill>
                <a:latin typeface="PingFang SC"/>
                <a:ea typeface="PingFang SC"/>
              </a:rPr>
              <a:t> </a:t>
            </a:r>
            <a:r>
              <a:rPr lang="zh-CN" sz="900" b="1">
                <a:solidFill>
                  <a:srgbClr val="27AE60"/>
                </a:solidFill>
                <a:latin typeface="PingFang SC"/>
                <a:ea typeface="PingFang SC"/>
              </a:rPr>
              <a:t>均衡之选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8220075" y="2419350"/>
            <a:ext cx="3171825" cy="304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975">
                <a:solidFill>
                  <a:srgbClr val="6B7686"/>
                </a:solidFill>
                <a:latin typeface="PingFang SC"/>
                <a:ea typeface="PingFang SC"/>
              </a:rPr>
              <a:t>H00922 · </a:t>
            </a:r>
            <a:r>
              <a:rPr lang="zh-CN" sz="975">
                <a:solidFill>
                  <a:srgbClr val="6B7686"/>
                </a:solidFill>
                <a:latin typeface="PingFang SC"/>
                <a:ea typeface="PingFang SC"/>
              </a:rPr>
              <a:t>场外基金：易方达中证红利</a:t>
            </a:r>
            <a:r>
              <a:rPr lang="en-US" sz="975">
                <a:solidFill>
                  <a:srgbClr val="6B7686"/>
                </a:solidFill>
                <a:latin typeface="PingFang SC"/>
                <a:ea typeface="PingFang SC"/>
              </a:rPr>
              <a:t>ETF</a:t>
            </a:r>
            <a:r>
              <a:rPr lang="zh-CN" sz="975">
                <a:solidFill>
                  <a:srgbClr val="6B7686"/>
                </a:solidFill>
                <a:latin typeface="PingFang SC"/>
                <a:ea typeface="PingFang SC"/>
              </a:rPr>
              <a:t>联接发起式</a:t>
            </a:r>
            <a:r>
              <a:rPr lang="en-US" sz="975">
                <a:solidFill>
                  <a:srgbClr val="6B7686"/>
                </a:solidFill>
                <a:latin typeface="PingFang SC"/>
                <a:ea typeface="PingFang SC"/>
              </a:rPr>
              <a:t>A/C 009051/009052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8220075" y="2819400"/>
            <a:ext cx="3171825" cy="32385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1088">
                <a:solidFill>
                  <a:srgbClr val="3B4A5C"/>
                </a:solidFill>
                <a:latin typeface="PingFang SC"/>
                <a:ea typeface="PingFang SC"/>
              </a:rPr>
              <a:t>年化收益率</a:t>
            </a:r>
            <a:r>
              <a:rPr lang="en-US" sz="1088">
                <a:solidFill>
                  <a:srgbClr val="3B4A5C"/>
                </a:solidFill>
                <a:latin typeface="PingFang SC"/>
                <a:ea typeface="PingFang SC"/>
              </a:rPr>
              <a:t> </a:t>
            </a:r>
            <a:r>
              <a:rPr lang="en-US" sz="1088">
                <a:solidFill>
                  <a:srgbClr val="3B4A5C"/>
                </a:solidFill>
                <a:latin typeface="PingFang SC"/>
                <a:ea typeface="PingFang SC"/>
              </a:rPr>
              <a:t>8.24%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8220075" y="3143250"/>
            <a:ext cx="3171825" cy="32385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088">
                <a:solidFill>
                  <a:srgbClr val="3B4A5C"/>
                </a:solidFill>
                <a:latin typeface="PingFang SC"/>
                <a:ea typeface="PingFang SC"/>
              </a:rPr>
              <a:t>10</a:t>
            </a:r>
            <a:r>
              <a:rPr lang="zh-CN" sz="1088">
                <a:solidFill>
                  <a:srgbClr val="3B4A5C"/>
                </a:solidFill>
                <a:latin typeface="PingFang SC"/>
                <a:ea typeface="PingFang SC"/>
              </a:rPr>
              <a:t>年终值</a:t>
            </a:r>
            <a:r>
              <a:rPr lang="en-US" sz="1088">
                <a:solidFill>
                  <a:srgbClr val="3B4A5C"/>
                </a:solidFill>
                <a:latin typeface="PingFang SC"/>
                <a:ea typeface="PingFang SC"/>
              </a:rPr>
              <a:t> </a:t>
            </a:r>
            <a:r>
              <a:rPr lang="en-US" sz="1088">
                <a:solidFill>
                  <a:srgbClr val="3B4A5C"/>
                </a:solidFill>
                <a:latin typeface="PingFang SC"/>
                <a:ea typeface="PingFang SC"/>
              </a:rPr>
              <a:t>¥1,834,922</a:t>
            </a:r>
            <a:r>
              <a:rPr lang="zh-CN" sz="1088">
                <a:solidFill>
                  <a:srgbClr val="3B4A5C"/>
                </a:solidFill>
                <a:latin typeface="PingFang SC"/>
                <a:ea typeface="PingFang SC"/>
              </a:rPr>
              <a:t>（</a:t>
            </a:r>
            <a:r>
              <a:rPr lang="en-US" sz="1088">
                <a:solidFill>
                  <a:srgbClr val="3B4A5C"/>
                </a:solidFill>
                <a:latin typeface="PingFang SC"/>
                <a:ea typeface="PingFang SC"/>
              </a:rPr>
              <a:t>+52.9%</a:t>
            </a:r>
            <a:r>
              <a:rPr lang="zh-CN" sz="1088">
                <a:solidFill>
                  <a:srgbClr val="3B4A5C"/>
                </a:solidFill>
                <a:latin typeface="PingFang SC"/>
                <a:ea typeface="PingFang SC"/>
              </a:rPr>
              <a:t>）</a:t>
            </a:r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8220075" y="3467100"/>
            <a:ext cx="3171825" cy="32385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1088">
                <a:solidFill>
                  <a:srgbClr val="3B4A5C"/>
                </a:solidFill>
                <a:latin typeface="PingFang SC"/>
                <a:ea typeface="PingFang SC"/>
              </a:rPr>
              <a:t>组合最大回撤</a:t>
            </a:r>
            <a:r>
              <a:rPr lang="en-US" sz="1088">
                <a:solidFill>
                  <a:srgbClr val="3B4A5C"/>
                </a:solidFill>
                <a:latin typeface="PingFang SC"/>
                <a:ea typeface="PingFang SC"/>
              </a:rPr>
              <a:t> </a:t>
            </a:r>
            <a:r>
              <a:rPr lang="en-US" sz="1088">
                <a:solidFill>
                  <a:srgbClr val="3B4A5C"/>
                </a:solidFill>
                <a:latin typeface="PingFang SC"/>
                <a:ea typeface="PingFang SC"/>
              </a:rPr>
              <a:t>-13.40%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8220075" y="3790950"/>
            <a:ext cx="3171825" cy="32385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1088">
                <a:solidFill>
                  <a:srgbClr val="3B4A5C"/>
                </a:solidFill>
                <a:latin typeface="PingFang SC"/>
                <a:ea typeface="PingFang SC"/>
              </a:rPr>
              <a:t>最大浮亏</a:t>
            </a:r>
            <a:r>
              <a:rPr lang="en-US" sz="1088">
                <a:solidFill>
                  <a:srgbClr val="3B4A5C"/>
                </a:solidFill>
                <a:latin typeface="PingFang SC"/>
                <a:ea typeface="PingFang SC"/>
              </a:rPr>
              <a:t> </a:t>
            </a:r>
            <a:r>
              <a:rPr lang="en-US" sz="1088">
                <a:solidFill>
                  <a:srgbClr val="3B4A5C"/>
                </a:solidFill>
                <a:latin typeface="PingFang SC"/>
                <a:ea typeface="PingFang SC"/>
              </a:rPr>
              <a:t>-¥65,173</a:t>
            </a:r>
            <a:r>
              <a:rPr lang="zh-CN" sz="1088">
                <a:solidFill>
                  <a:srgbClr val="3B4A5C"/>
                </a:solidFill>
                <a:latin typeface="PingFang SC"/>
                <a:ea typeface="PingFang SC"/>
              </a:rPr>
              <a:t>（</a:t>
            </a:r>
            <a:r>
              <a:rPr lang="en-US" sz="1088">
                <a:solidFill>
                  <a:srgbClr val="3B4A5C"/>
                </a:solidFill>
                <a:latin typeface="PingFang SC"/>
                <a:ea typeface="PingFang SC"/>
              </a:rPr>
              <a:t>2020-03-23 </a:t>
            </a:r>
            <a:r>
              <a:rPr lang="zh-CN" sz="1088">
                <a:solidFill>
                  <a:srgbClr val="3B4A5C"/>
                </a:solidFill>
                <a:latin typeface="PingFang SC"/>
                <a:ea typeface="PingFang SC"/>
              </a:rPr>
              <a:t>谷底）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8220075" y="4114800"/>
            <a:ext cx="3171825" cy="32385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1088">
                <a:solidFill>
                  <a:srgbClr val="3B4A5C"/>
                </a:solidFill>
                <a:latin typeface="PingFang SC"/>
                <a:ea typeface="PingFang SC"/>
              </a:rPr>
              <a:t>回撤收复</a:t>
            </a:r>
            <a:r>
              <a:rPr lang="en-US" sz="1088">
                <a:solidFill>
                  <a:srgbClr val="3B4A5C"/>
                </a:solidFill>
                <a:latin typeface="PingFang SC"/>
                <a:ea typeface="PingFang SC"/>
              </a:rPr>
              <a:t> </a:t>
            </a:r>
            <a:r>
              <a:rPr lang="en-US" sz="1088">
                <a:solidFill>
                  <a:srgbClr val="3B4A5C"/>
                </a:solidFill>
                <a:latin typeface="PingFang SC"/>
                <a:ea typeface="PingFang SC"/>
              </a:rPr>
              <a:t>105 </a:t>
            </a:r>
            <a:r>
              <a:rPr lang="zh-CN" sz="1088">
                <a:solidFill>
                  <a:srgbClr val="3B4A5C"/>
                </a:solidFill>
                <a:latin typeface="PingFang SC"/>
                <a:ea typeface="PingFang SC"/>
              </a:rPr>
              <a:t>天</a:t>
            </a:r>
            <a:endParaRPr/>
          </a:p>
        </p:txBody>
      </p:sp>
      <p:sp>
        <p:nvSpPr>
          <p:cNvPr id="54" name=""/>
          <p:cNvSpPr/>
          <p:nvPr/>
        </p:nvSpPr>
        <p:spPr>
          <a:xfrm rot="0" flipH="0" flipV="0">
            <a:off x="8220075" y="4514850"/>
            <a:ext cx="3171825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8220075" y="4514850"/>
            <a:ext cx="3171825" cy="628650"/>
          </a:xfrm>
          <a:prstGeom prst="rect"/>
        </p:spPr>
        <p:txBody>
          <a:bodyPr wrap="square" lIns="57150" tIns="57150" rIns="57150" bIns="57150">
            <a:normAutofit/>
          </a:bodyPr>
          <a:p>
            <a:pPr>
              <a:lnSpc>
                <a:spcPct val="160000"/>
              </a:lnSpc>
            </a:pPr>
            <a:r>
              <a:rPr lang="zh-CN" sz="975">
                <a:solidFill>
                  <a:srgbClr val="6B7686"/>
                </a:solidFill>
                <a:highlight>
                  <a:srgbClr val="FFFFFF"/>
                </a:highlight>
                <a:latin typeface="PingFang SC"/>
                <a:ea typeface="PingFang SC"/>
              </a:rPr>
              <a:t>上证标杆指数，回撤控制好、恢复快；</a:t>
            </a:r>
            <a:r>
              <a:rPr lang="en-US" sz="975">
                <a:solidFill>
                  <a:srgbClr val="6B7686"/>
                </a:solidFill>
                <a:highlight>
                  <a:srgbClr val="FFFFFF"/>
                </a:highlight>
                <a:latin typeface="PingFang SC"/>
                <a:ea typeface="PingFang SC"/>
              </a:rPr>
              <a:t>ETF </a:t>
            </a:r>
            <a:r>
              <a:rPr lang="zh-CN" sz="975">
                <a:solidFill>
                  <a:srgbClr val="6B7686"/>
                </a:solidFill>
                <a:highlight>
                  <a:srgbClr val="FFFFFF"/>
                </a:highlight>
                <a:latin typeface="PingFang SC"/>
                <a:ea typeface="PingFang SC"/>
              </a:rPr>
              <a:t>规模大、流动性好。</a:t>
            </a:r>
            <a:endParaRPr/>
          </a:p>
        </p:txBody>
      </p:sp>
      <p:sp>
        <p:nvSpPr>
          <p:cNvPr id="56" name=""/>
          <p:cNvSpPr/>
          <p:nvPr/>
        </p:nvSpPr>
        <p:spPr>
          <a:xfrm rot="0" flipH="0" flipV="0">
            <a:off x="609600" y="5029200"/>
            <a:ext cx="10972800" cy="1143000"/>
          </a:xfrm>
          <a:prstGeom prst="roundRect">
            <a:avLst>
              <a:gd name="adj" fmla="val 11667"/>
            </a:avLst>
          </a:prstGeom>
          <a:solidFill>
            <a:srgbClr val="1D2939"/>
          </a:solidFill>
          <a:ln/>
        </p:spPr>
        <p:txBody>
          <a:bodyPr/>
          <a:p/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857250" y="5200650"/>
            <a:ext cx="10477500" cy="7429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425" b="1">
                <a:solidFill>
                  <a:srgbClr val="FFFFFF"/>
                </a:solidFill>
                <a:latin typeface="PingFang SC"/>
                <a:ea typeface="PingFang SC"/>
              </a:rPr>
              <a:t>「</a:t>
            </a:r>
            <a:r>
              <a:rPr lang="en-US" sz="1425" b="1">
                <a:solidFill>
                  <a:srgbClr val="FFFFFF"/>
                </a:solidFill>
                <a:latin typeface="PingFang SC"/>
                <a:ea typeface="PingFang SC"/>
              </a:rPr>
              <a:t>10 </a:t>
            </a:r>
            <a:r>
              <a:rPr lang="zh-CN" sz="1425" b="1">
                <a:solidFill>
                  <a:srgbClr val="FFFFFF"/>
                </a:solidFill>
                <a:latin typeface="PingFang SC"/>
                <a:ea typeface="PingFang SC"/>
              </a:rPr>
              <a:t>年定投的最大考验从来不是选哪个指数，而是在账面浮亏的那几个月里，你能不能继续投下去。定投最大的敌人不是市场，是你自己。」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857250" y="6019800"/>
            <a:ext cx="104775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88">
                <a:solidFill>
                  <a:srgbClr val="8FA0B5"/>
                </a:solidFill>
                <a:latin typeface="PingFang SC"/>
                <a:ea typeface="PingFang SC"/>
              </a:rPr>
              <a:t>回撤是权益策略固有特征，坚持是关键。对比</a:t>
            </a:r>
            <a:r>
              <a:rPr lang="en-US" sz="1088">
                <a:solidFill>
                  <a:srgbClr val="8FA0B5"/>
                </a:solidFill>
                <a:latin typeface="PingFang SC"/>
                <a:ea typeface="PingFang SC"/>
              </a:rPr>
              <a:t> 10 </a:t>
            </a:r>
            <a:r>
              <a:rPr lang="zh-CN" sz="1088">
                <a:solidFill>
                  <a:srgbClr val="8FA0B5"/>
                </a:solidFill>
                <a:latin typeface="PingFang SC"/>
                <a:ea typeface="PingFang SC"/>
              </a:rPr>
              <a:t>年期缴年金险，其保证回本周期约</a:t>
            </a:r>
            <a:r>
              <a:rPr lang="en-US" sz="1088">
                <a:solidFill>
                  <a:srgbClr val="8FA0B5"/>
                </a:solidFill>
                <a:latin typeface="PingFang SC"/>
                <a:ea typeface="PingFang SC"/>
              </a:rPr>
              <a:t> 8‑12 </a:t>
            </a:r>
            <a:r>
              <a:rPr lang="zh-CN" sz="1088">
                <a:solidFill>
                  <a:srgbClr val="8FA0B5"/>
                </a:solidFill>
                <a:latin typeface="PingFang SC"/>
                <a:ea typeface="PingFang SC"/>
              </a:rPr>
              <a:t>年，中途退保会亏损本金。红利定投波动直观可见，但保留资金流动性，长期具备更高收益的可能性。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5172075" y="6334125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B7686"/>
                </a:solidFill>
                <a:latin typeface="PingFang SC"/>
                <a:ea typeface="PingFang SC"/>
              </a:rPr>
              <a:t>四大红利全收益指数</a:t>
            </a:r>
            <a:r>
              <a:rPr lang="en-US" sz="1050">
                <a:solidFill>
                  <a:srgbClr val="6B7686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B7686"/>
                </a:solidFill>
                <a:latin typeface="PingFang SC"/>
                <a:ea typeface="PingFang SC"/>
              </a:rPr>
              <a:t>数据回测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60" name="" descr="&lt;Slide style={{ width: '1280px', height: '720px', background: '#FFFFFF', padding: '20px 64px', fontFamily: '&quot;PingFang SC&quot;,&quot;Microsoft YaHei&quot;,sans-serif', color: '#1A1A1A' }}&gt;&#10;  &lt;Box style={{ height: 96, flexDirection: 'row', alignItems: 'center', justifyContent: 'space-between' }}&gt;&#10;    &lt;Text style={{ fontSize: 34, fontWeight: 'bold', color: '#1D2939' }}&gt;口径与方法说明&lt;/Text&gt;&#10;    &lt;Text style={{ fontSize: 14, color: '#6B7686' }}&gt;四大红利全收益指数 · 数据回测&lt;/Text&gt;&#10;  &lt;/Box&gt;&#10;&#10;  &lt;Box style={{ height: 520, marginTop: 6, background: '#EEF2F7', borderRadius: 14, padding: '22px 28px' }}&gt;&#10;    &lt;Text style={{ fontSize: 16, color: '#3B4A5C', lineHeight: 2 }}&gt;&#10;      &lt;b&gt;1. 数据源&lt;/b&gt;：中证指数官网（csindex.com.cn）官方日线行情，全收益指数（含分红再投资），四个指数：H00015 上证红利、H00922 中证红利、H20269 红利低波、H20955 红利低波100 全收益。页面推荐产品均为&lt;b&gt;场外联接基金（A/C 类）&lt;/b&gt;，可定投：A 类收申购费（长期持有更省），C 类免申购费但按日计提销售服务费（短期持有更省）。&#10;      &lt;br /&gt;&#10;      &lt;b&gt;2. 定投规则&lt;/b&gt;：每月首个交易日按当日收盘价买入 10,000 元；2016-08 首期至 2026-07 末期为 120 期、总投入 ¥1,200,000；未计交易费用与税费。&#10;      &lt;br /&gt;&#10;      &lt;b&gt;3. 年化收益率&lt;/b&gt;：按逐笔现金流 XIRR（资金时间价值口径）计算。&#10;      &lt;br /&gt;&#10;      &lt;b&gt;4. 组合市值回撤&lt;/b&gt;＝每日（累计份额 × 指数点位）从历史峰值回落的最大幅度；&lt;b&gt;指数点位回撤&lt;/b&gt;＝指数点位本身从峰值的最大跌幅；&lt;b&gt;恢复日&lt;/b&gt;＝回撤区间内首次收复峰值的日期。&#10;      &lt;br /&gt;&#10;      &lt;b&gt;5. 口径说明&lt;/b&gt;：本页按月定投 ¥10,000 复算，共 120 期、总投入 ¥1,200,000；收益率与回撤均为百分比口径，与定投金额大小无关（线性缩放）。回测采用中证指数官网全收益指数真实日线、精确到每月首个交易日收盘价买入，未计交易费用与税费。&lt;b&gt;组合市值口径最大回撤四项：-17.1% / -14.8% / -13.4% / -11.5%&lt;/b&gt;。&#10;      &lt;br /&gt;&#10;      &lt;b&gt;6. 当前股息率&lt;/b&gt;：近 12 个月实际分红收益率，用官方全收益指数与价格指数的日收益差累计（价差法·逐日口径）计算（2025-07-31 ~ 2026-07-31），与 Wind 披露 TTM 股息率交叉验证一致（如中证红利 4.24%，2026-07-31）；逐日口径与首尾法结果差异通常小于 0.3pct。&#10;      &lt;br /&gt;&#10;      &lt;b&gt;7. 年度表现口径&lt;/b&gt;：年末浮盈＝年末市值−累计投入；当年盈亏＝年末市值−上年末市值−当年投入；2026 行为截至 2026-07-31（回测区间末），非完整年度。&#10;    &lt;/Text&gt;&#10;  &lt;/Box&gt;&#10;&#10;  &lt;Box style={{ height: 50, alignItems: 'center', justifyContent: 'center' }}&gt;&#10;    &lt;Text style={{ fontSize: 14, color: '#6B7686' }}&gt;四大红利全收益指数 · 数据回测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609600" y="457200"/>
            <a:ext cx="22669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D2939"/>
                </a:solidFill>
                <a:latin typeface="PingFang SC"/>
                <a:ea typeface="PingFang SC"/>
              </a:rPr>
              <a:t>口径与方法说明</a:t>
            </a:r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9734550" y="571500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B7686"/>
                </a:solidFill>
                <a:latin typeface="PingFang SC"/>
                <a:ea typeface="PingFang SC"/>
              </a:rPr>
              <a:t>四大红利全收益指数</a:t>
            </a:r>
            <a:r>
              <a:rPr lang="en-US" sz="1050">
                <a:solidFill>
                  <a:srgbClr val="6B7686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B7686"/>
                </a:solidFill>
                <a:latin typeface="PingFang SC"/>
                <a:ea typeface="PingFang SC"/>
              </a:rPr>
              <a:t>数据回测</a:t>
            </a:r>
            <a:endParaRPr/>
          </a:p>
        </p:txBody>
      </p:sp>
      <p:sp>
        <p:nvSpPr>
          <p:cNvPr id="64" name=""/>
          <p:cNvSpPr/>
          <p:nvPr/>
        </p:nvSpPr>
        <p:spPr>
          <a:xfrm rot="0" flipH="0" flipV="0">
            <a:off x="609600" y="1162050"/>
            <a:ext cx="10972800" cy="4953000"/>
          </a:xfrm>
          <a:prstGeom prst="roundRect">
            <a:avLst>
              <a:gd name="adj" fmla="val 2692"/>
            </a:avLst>
          </a:prstGeom>
          <a:solidFill>
            <a:srgbClr val="EEF2F7"/>
          </a:solidFill>
          <a:ln/>
        </p:spPr>
        <p:txBody>
          <a:bodyPr/>
          <a:p/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876300" y="1371600"/>
            <a:ext cx="10439400" cy="5124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200000"/>
              </a:lnSpc>
            </a:pPr>
            <a:r>
              <a:rPr lang="en-US" sz="1200">
                <a:solidFill>
                  <a:srgbClr val="3B4A5C"/>
                </a:solidFill>
                <a:latin typeface="PingFang SC"/>
                <a:ea typeface="PingFang SC"/>
              </a:rPr>
              <a:t>1. </a:t>
            </a:r>
            <a:r>
              <a:rPr lang="zh-CN" sz="1200">
                <a:solidFill>
                  <a:srgbClr val="3B4A5C"/>
                </a:solidFill>
                <a:latin typeface="PingFang SC"/>
                <a:ea typeface="PingFang SC"/>
              </a:rPr>
              <a:t>数据源</a:t>
            </a:r>
            <a:r>
              <a:rPr lang="zh-CN" sz="1200">
                <a:solidFill>
                  <a:srgbClr val="3B4A5C"/>
                </a:solidFill>
                <a:latin typeface="PingFang SC"/>
                <a:ea typeface="PingFang SC"/>
              </a:rPr>
              <a:t>：中证指数官网（</a:t>
            </a:r>
            <a:r>
              <a:rPr lang="en-US" sz="1200">
                <a:solidFill>
                  <a:srgbClr val="3B4A5C"/>
                </a:solidFill>
                <a:latin typeface="PingFang SC"/>
                <a:ea typeface="PingFang SC"/>
              </a:rPr>
              <a:t>csindex.com.cn</a:t>
            </a:r>
            <a:r>
              <a:rPr lang="zh-CN" sz="1200">
                <a:solidFill>
                  <a:srgbClr val="3B4A5C"/>
                </a:solidFill>
                <a:latin typeface="PingFang SC"/>
                <a:ea typeface="PingFang SC"/>
              </a:rPr>
              <a:t>）官方日线行情，全收益指数（含分红再投资），四个指数：</a:t>
            </a:r>
            <a:r>
              <a:rPr lang="en-US" sz="1200">
                <a:solidFill>
                  <a:srgbClr val="3B4A5C"/>
                </a:solidFill>
                <a:latin typeface="PingFang SC"/>
                <a:ea typeface="PingFang SC"/>
              </a:rPr>
              <a:t>H00015 </a:t>
            </a:r>
            <a:r>
              <a:rPr lang="zh-CN" sz="1200">
                <a:solidFill>
                  <a:srgbClr val="3B4A5C"/>
                </a:solidFill>
                <a:latin typeface="PingFang SC"/>
                <a:ea typeface="PingFang SC"/>
              </a:rPr>
              <a:t>上证红利、</a:t>
            </a:r>
            <a:r>
              <a:rPr lang="en-US" sz="1200">
                <a:solidFill>
                  <a:srgbClr val="3B4A5C"/>
                </a:solidFill>
                <a:latin typeface="PingFang SC"/>
                <a:ea typeface="PingFang SC"/>
              </a:rPr>
              <a:t>H00922 </a:t>
            </a:r>
            <a:r>
              <a:rPr lang="zh-CN" sz="1200">
                <a:solidFill>
                  <a:srgbClr val="3B4A5C"/>
                </a:solidFill>
                <a:latin typeface="PingFang SC"/>
                <a:ea typeface="PingFang SC"/>
              </a:rPr>
              <a:t>中证红利、</a:t>
            </a:r>
            <a:r>
              <a:rPr lang="en-US" sz="1200">
                <a:solidFill>
                  <a:srgbClr val="3B4A5C"/>
                </a:solidFill>
                <a:latin typeface="PingFang SC"/>
                <a:ea typeface="PingFang SC"/>
              </a:rPr>
              <a:t>H20269 </a:t>
            </a:r>
            <a:r>
              <a:rPr lang="zh-CN" sz="1200">
                <a:solidFill>
                  <a:srgbClr val="3B4A5C"/>
                </a:solidFill>
                <a:latin typeface="PingFang SC"/>
                <a:ea typeface="PingFang SC"/>
              </a:rPr>
              <a:t>红利低波、</a:t>
            </a:r>
            <a:r>
              <a:rPr lang="en-US" sz="1200">
                <a:solidFill>
                  <a:srgbClr val="3B4A5C"/>
                </a:solidFill>
                <a:latin typeface="PingFang SC"/>
                <a:ea typeface="PingFang SC"/>
              </a:rPr>
              <a:t>H20955 </a:t>
            </a:r>
            <a:r>
              <a:rPr lang="zh-CN" sz="1200">
                <a:solidFill>
                  <a:srgbClr val="3B4A5C"/>
                </a:solidFill>
                <a:latin typeface="PingFang SC"/>
                <a:ea typeface="PingFang SC"/>
              </a:rPr>
              <a:t>红利低波</a:t>
            </a:r>
            <a:r>
              <a:rPr lang="en-US" sz="1200">
                <a:solidFill>
                  <a:srgbClr val="3B4A5C"/>
                </a:solidFill>
                <a:latin typeface="PingFang SC"/>
                <a:ea typeface="PingFang SC"/>
              </a:rPr>
              <a:t>100 </a:t>
            </a:r>
            <a:r>
              <a:rPr lang="zh-CN" sz="1200">
                <a:solidFill>
                  <a:srgbClr val="3B4A5C"/>
                </a:solidFill>
                <a:latin typeface="PingFang SC"/>
                <a:ea typeface="PingFang SC"/>
              </a:rPr>
              <a:t>全收益。页面推荐产品均为</a:t>
            </a:r>
            <a:r>
              <a:rPr lang="zh-CN" sz="1200">
                <a:solidFill>
                  <a:srgbClr val="3B4A5C"/>
                </a:solidFill>
                <a:latin typeface="PingFang SC"/>
                <a:ea typeface="PingFang SC"/>
              </a:rPr>
              <a:t>场外联接基金（</a:t>
            </a:r>
            <a:r>
              <a:rPr lang="en-US" sz="1200">
                <a:solidFill>
                  <a:srgbClr val="3B4A5C"/>
                </a:solidFill>
                <a:latin typeface="PingFang SC"/>
                <a:ea typeface="PingFang SC"/>
              </a:rPr>
              <a:t>A/C </a:t>
            </a:r>
            <a:r>
              <a:rPr lang="zh-CN" sz="1200">
                <a:solidFill>
                  <a:srgbClr val="3B4A5C"/>
                </a:solidFill>
                <a:latin typeface="PingFang SC"/>
                <a:ea typeface="PingFang SC"/>
              </a:rPr>
              <a:t>类）</a:t>
            </a:r>
            <a:r>
              <a:rPr lang="zh-CN" sz="1200">
                <a:solidFill>
                  <a:srgbClr val="3B4A5C"/>
                </a:solidFill>
                <a:latin typeface="PingFang SC"/>
                <a:ea typeface="PingFang SC"/>
              </a:rPr>
              <a:t>，可定投：</a:t>
            </a:r>
            <a:r>
              <a:rPr lang="en-US" sz="1200">
                <a:solidFill>
                  <a:srgbClr val="3B4A5C"/>
                </a:solidFill>
                <a:latin typeface="PingFang SC"/>
                <a:ea typeface="PingFang SC"/>
              </a:rPr>
              <a:t>A </a:t>
            </a:r>
            <a:r>
              <a:rPr lang="zh-CN" sz="1200">
                <a:solidFill>
                  <a:srgbClr val="3B4A5C"/>
                </a:solidFill>
                <a:latin typeface="PingFang SC"/>
                <a:ea typeface="PingFang SC"/>
              </a:rPr>
              <a:t>类收申购费（长期持有更省），</a:t>
            </a:r>
            <a:r>
              <a:rPr lang="en-US" sz="1200">
                <a:solidFill>
                  <a:srgbClr val="3B4A5C"/>
                </a:solidFill>
                <a:latin typeface="PingFang SC"/>
                <a:ea typeface="PingFang SC"/>
              </a:rPr>
              <a:t>C </a:t>
            </a:r>
            <a:r>
              <a:rPr lang="zh-CN" sz="1200">
                <a:solidFill>
                  <a:srgbClr val="3B4A5C"/>
                </a:solidFill>
                <a:latin typeface="PingFang SC"/>
                <a:ea typeface="PingFang SC"/>
              </a:rPr>
              <a:t>类免申购费但按日计提销售服务费（短期持有更省）。</a:t>
            </a:r>
            <a:endParaRPr/>
          </a:p>
          <a:p>
            <a:pPr>
              <a:lnSpc>
                <a:spcPct val="200000"/>
              </a:lnSpc>
            </a:pPr>
            <a:r>
              <a:rPr lang="en-US" sz="1200">
                <a:solidFill>
                  <a:srgbClr val="3B4A5C"/>
                </a:solidFill>
                <a:latin typeface="PingFang SC"/>
                <a:ea typeface="PingFang SC"/>
              </a:rPr>
              <a:t>2. </a:t>
            </a:r>
            <a:r>
              <a:rPr lang="zh-CN" sz="1200">
                <a:solidFill>
                  <a:srgbClr val="3B4A5C"/>
                </a:solidFill>
                <a:latin typeface="PingFang SC"/>
                <a:ea typeface="PingFang SC"/>
              </a:rPr>
              <a:t>定投规则</a:t>
            </a:r>
            <a:r>
              <a:rPr lang="zh-CN" sz="1200">
                <a:solidFill>
                  <a:srgbClr val="3B4A5C"/>
                </a:solidFill>
                <a:latin typeface="PingFang SC"/>
                <a:ea typeface="PingFang SC"/>
              </a:rPr>
              <a:t>：每月首个交易日按当日收盘价买入</a:t>
            </a:r>
            <a:r>
              <a:rPr lang="en-US" sz="1200">
                <a:solidFill>
                  <a:srgbClr val="3B4A5C"/>
                </a:solidFill>
                <a:latin typeface="PingFang SC"/>
                <a:ea typeface="PingFang SC"/>
              </a:rPr>
              <a:t> 10,000 </a:t>
            </a:r>
            <a:r>
              <a:rPr lang="zh-CN" sz="1200">
                <a:solidFill>
                  <a:srgbClr val="3B4A5C"/>
                </a:solidFill>
                <a:latin typeface="PingFang SC"/>
                <a:ea typeface="PingFang SC"/>
              </a:rPr>
              <a:t>元；</a:t>
            </a:r>
            <a:r>
              <a:rPr lang="en-US" sz="1200">
                <a:solidFill>
                  <a:srgbClr val="3B4A5C"/>
                </a:solidFill>
                <a:latin typeface="PingFang SC"/>
                <a:ea typeface="PingFang SC"/>
              </a:rPr>
              <a:t>2016-08 </a:t>
            </a:r>
            <a:r>
              <a:rPr lang="zh-CN" sz="1200">
                <a:solidFill>
                  <a:srgbClr val="3B4A5C"/>
                </a:solidFill>
                <a:latin typeface="PingFang SC"/>
                <a:ea typeface="PingFang SC"/>
              </a:rPr>
              <a:t>首期至</a:t>
            </a:r>
            <a:r>
              <a:rPr lang="en-US" sz="1200">
                <a:solidFill>
                  <a:srgbClr val="3B4A5C"/>
                </a:solidFill>
                <a:latin typeface="PingFang SC"/>
                <a:ea typeface="PingFang SC"/>
              </a:rPr>
              <a:t> 2026-07 </a:t>
            </a:r>
            <a:r>
              <a:rPr lang="zh-CN" sz="1200">
                <a:solidFill>
                  <a:srgbClr val="3B4A5C"/>
                </a:solidFill>
                <a:latin typeface="PingFang SC"/>
                <a:ea typeface="PingFang SC"/>
              </a:rPr>
              <a:t>末期为</a:t>
            </a:r>
            <a:r>
              <a:rPr lang="en-US" sz="1200">
                <a:solidFill>
                  <a:srgbClr val="3B4A5C"/>
                </a:solidFill>
                <a:latin typeface="PingFang SC"/>
                <a:ea typeface="PingFang SC"/>
              </a:rPr>
              <a:t> 120 </a:t>
            </a:r>
            <a:r>
              <a:rPr lang="zh-CN" sz="1200">
                <a:solidFill>
                  <a:srgbClr val="3B4A5C"/>
                </a:solidFill>
                <a:latin typeface="PingFang SC"/>
                <a:ea typeface="PingFang SC"/>
              </a:rPr>
              <a:t>期、总投入</a:t>
            </a:r>
            <a:r>
              <a:rPr lang="en-US" sz="1200">
                <a:solidFill>
                  <a:srgbClr val="3B4A5C"/>
                </a:solidFill>
                <a:latin typeface="PingFang SC"/>
                <a:ea typeface="PingFang SC"/>
              </a:rPr>
              <a:t> ¥1,200,000</a:t>
            </a:r>
            <a:r>
              <a:rPr lang="zh-CN" sz="1200">
                <a:solidFill>
                  <a:srgbClr val="3B4A5C"/>
                </a:solidFill>
                <a:latin typeface="PingFang SC"/>
                <a:ea typeface="PingFang SC"/>
              </a:rPr>
              <a:t>；未计交易费用与税费。</a:t>
            </a:r>
            <a:endParaRPr/>
          </a:p>
          <a:p>
            <a:pPr>
              <a:lnSpc>
                <a:spcPct val="200000"/>
              </a:lnSpc>
            </a:pPr>
            <a:r>
              <a:rPr lang="en-US" sz="1200">
                <a:solidFill>
                  <a:srgbClr val="3B4A5C"/>
                </a:solidFill>
                <a:latin typeface="PingFang SC"/>
                <a:ea typeface="PingFang SC"/>
              </a:rPr>
              <a:t>3. </a:t>
            </a:r>
            <a:r>
              <a:rPr lang="zh-CN" sz="1200">
                <a:solidFill>
                  <a:srgbClr val="3B4A5C"/>
                </a:solidFill>
                <a:latin typeface="PingFang SC"/>
                <a:ea typeface="PingFang SC"/>
              </a:rPr>
              <a:t>年化收益率</a:t>
            </a:r>
            <a:r>
              <a:rPr lang="zh-CN" sz="1200">
                <a:solidFill>
                  <a:srgbClr val="3B4A5C"/>
                </a:solidFill>
                <a:latin typeface="PingFang SC"/>
                <a:ea typeface="PingFang SC"/>
              </a:rPr>
              <a:t>：按逐笔现金流</a:t>
            </a:r>
            <a:r>
              <a:rPr lang="en-US" sz="1200">
                <a:solidFill>
                  <a:srgbClr val="3B4A5C"/>
                </a:solidFill>
                <a:latin typeface="PingFang SC"/>
                <a:ea typeface="PingFang SC"/>
              </a:rPr>
              <a:t> XIRR</a:t>
            </a:r>
            <a:r>
              <a:rPr lang="zh-CN" sz="1200">
                <a:solidFill>
                  <a:srgbClr val="3B4A5C"/>
                </a:solidFill>
                <a:latin typeface="PingFang SC"/>
                <a:ea typeface="PingFang SC"/>
              </a:rPr>
              <a:t>（资金时间价值口径）计算。</a:t>
            </a:r>
            <a:endParaRPr/>
          </a:p>
          <a:p>
            <a:pPr>
              <a:lnSpc>
                <a:spcPct val="200000"/>
              </a:lnSpc>
            </a:pPr>
            <a:r>
              <a:rPr lang="en-US" sz="1200">
                <a:solidFill>
                  <a:srgbClr val="3B4A5C"/>
                </a:solidFill>
                <a:latin typeface="PingFang SC"/>
                <a:ea typeface="PingFang SC"/>
              </a:rPr>
              <a:t>4. </a:t>
            </a:r>
            <a:r>
              <a:rPr lang="zh-CN" sz="1200">
                <a:solidFill>
                  <a:srgbClr val="3B4A5C"/>
                </a:solidFill>
                <a:latin typeface="PingFang SC"/>
                <a:ea typeface="PingFang SC"/>
              </a:rPr>
              <a:t>组合市值回撤</a:t>
            </a:r>
            <a:r>
              <a:rPr lang="zh-CN" sz="1200">
                <a:solidFill>
                  <a:srgbClr val="3B4A5C"/>
                </a:solidFill>
                <a:latin typeface="PingFang SC"/>
                <a:ea typeface="PingFang SC"/>
              </a:rPr>
              <a:t>＝每日（累计份额</a:t>
            </a:r>
            <a:r>
              <a:rPr lang="en-US" sz="1200">
                <a:solidFill>
                  <a:srgbClr val="3B4A5C"/>
                </a:solidFill>
                <a:latin typeface="PingFang SC"/>
                <a:ea typeface="PingFang SC"/>
              </a:rPr>
              <a:t> × </a:t>
            </a:r>
            <a:r>
              <a:rPr lang="zh-CN" sz="1200">
                <a:solidFill>
                  <a:srgbClr val="3B4A5C"/>
                </a:solidFill>
                <a:latin typeface="PingFang SC"/>
                <a:ea typeface="PingFang SC"/>
              </a:rPr>
              <a:t>指数点位）从历史峰值回落的最大幅度；</a:t>
            </a:r>
            <a:r>
              <a:rPr lang="zh-CN" sz="1200">
                <a:solidFill>
                  <a:srgbClr val="3B4A5C"/>
                </a:solidFill>
                <a:latin typeface="PingFang SC"/>
                <a:ea typeface="PingFang SC"/>
              </a:rPr>
              <a:t>指数点位回撤</a:t>
            </a:r>
            <a:r>
              <a:rPr lang="zh-CN" sz="1200">
                <a:solidFill>
                  <a:srgbClr val="3B4A5C"/>
                </a:solidFill>
                <a:latin typeface="PingFang SC"/>
                <a:ea typeface="PingFang SC"/>
              </a:rPr>
              <a:t>＝指数点位本身从峰值的最大跌幅；</a:t>
            </a:r>
            <a:r>
              <a:rPr lang="zh-CN" sz="1200">
                <a:solidFill>
                  <a:srgbClr val="3B4A5C"/>
                </a:solidFill>
                <a:latin typeface="PingFang SC"/>
                <a:ea typeface="PingFang SC"/>
              </a:rPr>
              <a:t>恢复日</a:t>
            </a:r>
            <a:r>
              <a:rPr lang="zh-CN" sz="1200">
                <a:solidFill>
                  <a:srgbClr val="3B4A5C"/>
                </a:solidFill>
                <a:latin typeface="PingFang SC"/>
                <a:ea typeface="PingFang SC"/>
              </a:rPr>
              <a:t>＝回撤区间内首次收复峰值的日期。</a:t>
            </a:r>
            <a:endParaRPr/>
          </a:p>
          <a:p>
            <a:pPr>
              <a:lnSpc>
                <a:spcPct val="200000"/>
              </a:lnSpc>
            </a:pPr>
            <a:r>
              <a:rPr lang="en-US" sz="1200">
                <a:solidFill>
                  <a:srgbClr val="3B4A5C"/>
                </a:solidFill>
                <a:latin typeface="PingFang SC"/>
                <a:ea typeface="PingFang SC"/>
              </a:rPr>
              <a:t>5. </a:t>
            </a:r>
            <a:r>
              <a:rPr lang="zh-CN" sz="1200">
                <a:solidFill>
                  <a:srgbClr val="3B4A5C"/>
                </a:solidFill>
                <a:latin typeface="PingFang SC"/>
                <a:ea typeface="PingFang SC"/>
              </a:rPr>
              <a:t>口径说明</a:t>
            </a:r>
            <a:r>
              <a:rPr lang="zh-CN" sz="1200">
                <a:solidFill>
                  <a:srgbClr val="3B4A5C"/>
                </a:solidFill>
                <a:latin typeface="PingFang SC"/>
                <a:ea typeface="PingFang SC"/>
              </a:rPr>
              <a:t>：本页按月定投</a:t>
            </a:r>
            <a:r>
              <a:rPr lang="en-US" sz="1200">
                <a:solidFill>
                  <a:srgbClr val="3B4A5C"/>
                </a:solidFill>
                <a:latin typeface="PingFang SC"/>
                <a:ea typeface="PingFang SC"/>
              </a:rPr>
              <a:t> ¥10,000 </a:t>
            </a:r>
            <a:r>
              <a:rPr lang="zh-CN" sz="1200">
                <a:solidFill>
                  <a:srgbClr val="3B4A5C"/>
                </a:solidFill>
                <a:latin typeface="PingFang SC"/>
                <a:ea typeface="PingFang SC"/>
              </a:rPr>
              <a:t>复算，共</a:t>
            </a:r>
            <a:r>
              <a:rPr lang="en-US" sz="1200">
                <a:solidFill>
                  <a:srgbClr val="3B4A5C"/>
                </a:solidFill>
                <a:latin typeface="PingFang SC"/>
                <a:ea typeface="PingFang SC"/>
              </a:rPr>
              <a:t> 120 </a:t>
            </a:r>
            <a:r>
              <a:rPr lang="zh-CN" sz="1200">
                <a:solidFill>
                  <a:srgbClr val="3B4A5C"/>
                </a:solidFill>
                <a:latin typeface="PingFang SC"/>
                <a:ea typeface="PingFang SC"/>
              </a:rPr>
              <a:t>期、总投入</a:t>
            </a:r>
            <a:r>
              <a:rPr lang="en-US" sz="1200">
                <a:solidFill>
                  <a:srgbClr val="3B4A5C"/>
                </a:solidFill>
                <a:latin typeface="PingFang SC"/>
                <a:ea typeface="PingFang SC"/>
              </a:rPr>
              <a:t> ¥1,200,000</a:t>
            </a:r>
            <a:r>
              <a:rPr lang="zh-CN" sz="1200">
                <a:solidFill>
                  <a:srgbClr val="3B4A5C"/>
                </a:solidFill>
                <a:latin typeface="PingFang SC"/>
                <a:ea typeface="PingFang SC"/>
              </a:rPr>
              <a:t>；收益率与回撤均为百分比口径，与定投金额大小无关（线性缩放）。回测采用中证指数官网全收益指数真实日线、精确到每月首个交易日收盘价买入，未计交易费用与税费。</a:t>
            </a:r>
            <a:r>
              <a:rPr lang="zh-CN" sz="1200">
                <a:solidFill>
                  <a:srgbClr val="3B4A5C"/>
                </a:solidFill>
                <a:latin typeface="PingFang SC"/>
                <a:ea typeface="PingFang SC"/>
              </a:rPr>
              <a:t>组合市值口径最大回撤四项：</a:t>
            </a:r>
            <a:r>
              <a:rPr lang="en-US" sz="1200">
                <a:solidFill>
                  <a:srgbClr val="3B4A5C"/>
                </a:solidFill>
                <a:latin typeface="PingFang SC"/>
                <a:ea typeface="PingFang SC"/>
              </a:rPr>
              <a:t>-17.1% / -14.8% / -13.4% / -11.5%</a:t>
            </a:r>
            <a:r>
              <a:rPr lang="zh-CN" sz="1200">
                <a:solidFill>
                  <a:srgbClr val="3B4A5C"/>
                </a:solidFill>
                <a:latin typeface="PingFang SC"/>
                <a:ea typeface="PingFang SC"/>
              </a:rPr>
              <a:t>。</a:t>
            </a:r>
            <a:endParaRPr/>
          </a:p>
          <a:p>
            <a:pPr>
              <a:lnSpc>
                <a:spcPct val="200000"/>
              </a:lnSpc>
            </a:pPr>
            <a:r>
              <a:rPr lang="en-US" sz="1200">
                <a:solidFill>
                  <a:srgbClr val="3B4A5C"/>
                </a:solidFill>
                <a:latin typeface="PingFang SC"/>
                <a:ea typeface="PingFang SC"/>
              </a:rPr>
              <a:t>6. </a:t>
            </a:r>
            <a:r>
              <a:rPr lang="zh-CN" sz="1200">
                <a:solidFill>
                  <a:srgbClr val="3B4A5C"/>
                </a:solidFill>
                <a:latin typeface="PingFang SC"/>
                <a:ea typeface="PingFang SC"/>
              </a:rPr>
              <a:t>当前股息率</a:t>
            </a:r>
            <a:r>
              <a:rPr lang="zh-CN" sz="1200">
                <a:solidFill>
                  <a:srgbClr val="3B4A5C"/>
                </a:solidFill>
                <a:latin typeface="PingFang SC"/>
                <a:ea typeface="PingFang SC"/>
              </a:rPr>
              <a:t>：近</a:t>
            </a:r>
            <a:r>
              <a:rPr lang="en-US" sz="1200">
                <a:solidFill>
                  <a:srgbClr val="3B4A5C"/>
                </a:solidFill>
                <a:latin typeface="PingFang SC"/>
                <a:ea typeface="PingFang SC"/>
              </a:rPr>
              <a:t> 12 </a:t>
            </a:r>
            <a:r>
              <a:rPr lang="zh-CN" sz="1200">
                <a:solidFill>
                  <a:srgbClr val="3B4A5C"/>
                </a:solidFill>
                <a:latin typeface="PingFang SC"/>
                <a:ea typeface="PingFang SC"/>
              </a:rPr>
              <a:t>个月实际分红收益率，用官方全收益指数与价格指数的日收益差累计（价差法·逐日口径）计算（</a:t>
            </a:r>
            <a:r>
              <a:rPr lang="en-US" sz="1200">
                <a:solidFill>
                  <a:srgbClr val="3B4A5C"/>
                </a:solidFill>
                <a:latin typeface="PingFang SC"/>
                <a:ea typeface="PingFang SC"/>
              </a:rPr>
              <a:t>2025-07-31 ~ 2026-07-31</a:t>
            </a:r>
            <a:r>
              <a:rPr lang="zh-CN" sz="1200">
                <a:solidFill>
                  <a:srgbClr val="3B4A5C"/>
                </a:solidFill>
                <a:latin typeface="PingFang SC"/>
                <a:ea typeface="PingFang SC"/>
              </a:rPr>
              <a:t>），与</a:t>
            </a:r>
            <a:r>
              <a:rPr lang="en-US" sz="1200">
                <a:solidFill>
                  <a:srgbClr val="3B4A5C"/>
                </a:solidFill>
                <a:latin typeface="PingFang SC"/>
                <a:ea typeface="PingFang SC"/>
              </a:rPr>
              <a:t> Wind </a:t>
            </a:r>
            <a:r>
              <a:rPr lang="zh-CN" sz="1200">
                <a:solidFill>
                  <a:srgbClr val="3B4A5C"/>
                </a:solidFill>
                <a:latin typeface="PingFang SC"/>
                <a:ea typeface="PingFang SC"/>
              </a:rPr>
              <a:t>披露</a:t>
            </a:r>
            <a:r>
              <a:rPr lang="en-US" sz="1200">
                <a:solidFill>
                  <a:srgbClr val="3B4A5C"/>
                </a:solidFill>
                <a:latin typeface="PingFang SC"/>
                <a:ea typeface="PingFang SC"/>
              </a:rPr>
              <a:t> TTM </a:t>
            </a:r>
            <a:r>
              <a:rPr lang="zh-CN" sz="1200">
                <a:solidFill>
                  <a:srgbClr val="3B4A5C"/>
                </a:solidFill>
                <a:latin typeface="PingFang SC"/>
                <a:ea typeface="PingFang SC"/>
              </a:rPr>
              <a:t>股息率交叉验证一致（如中证红利</a:t>
            </a:r>
            <a:r>
              <a:rPr lang="en-US" sz="1200">
                <a:solidFill>
                  <a:srgbClr val="3B4A5C"/>
                </a:solidFill>
                <a:latin typeface="PingFang SC"/>
                <a:ea typeface="PingFang SC"/>
              </a:rPr>
              <a:t> 4.24%</a:t>
            </a:r>
            <a:r>
              <a:rPr lang="zh-CN" sz="1200">
                <a:solidFill>
                  <a:srgbClr val="3B4A5C"/>
                </a:solidFill>
                <a:latin typeface="PingFang SC"/>
                <a:ea typeface="PingFang SC"/>
              </a:rPr>
              <a:t>，</a:t>
            </a:r>
            <a:r>
              <a:rPr lang="en-US" sz="1200">
                <a:solidFill>
                  <a:srgbClr val="3B4A5C"/>
                </a:solidFill>
                <a:latin typeface="PingFang SC"/>
                <a:ea typeface="PingFang SC"/>
              </a:rPr>
              <a:t>2026-07-31</a:t>
            </a:r>
            <a:r>
              <a:rPr lang="zh-CN" sz="1200">
                <a:solidFill>
                  <a:srgbClr val="3B4A5C"/>
                </a:solidFill>
                <a:latin typeface="PingFang SC"/>
                <a:ea typeface="PingFang SC"/>
              </a:rPr>
              <a:t>）；逐日口径与首尾法结果差异通常小于</a:t>
            </a:r>
            <a:r>
              <a:rPr lang="en-US" sz="1200">
                <a:solidFill>
                  <a:srgbClr val="3B4A5C"/>
                </a:solidFill>
                <a:latin typeface="PingFang SC"/>
                <a:ea typeface="PingFang SC"/>
              </a:rPr>
              <a:t> 0.3pct</a:t>
            </a:r>
            <a:r>
              <a:rPr lang="zh-CN" sz="1200">
                <a:solidFill>
                  <a:srgbClr val="3B4A5C"/>
                </a:solidFill>
                <a:latin typeface="PingFang SC"/>
                <a:ea typeface="PingFang SC"/>
              </a:rPr>
              <a:t>。</a:t>
            </a:r>
            <a:endParaRPr/>
          </a:p>
          <a:p>
            <a:pPr>
              <a:lnSpc>
                <a:spcPct val="200000"/>
              </a:lnSpc>
            </a:pPr>
            <a:r>
              <a:rPr lang="en-US" sz="1200">
                <a:solidFill>
                  <a:srgbClr val="3B4A5C"/>
                </a:solidFill>
                <a:latin typeface="PingFang SC"/>
                <a:ea typeface="PingFang SC"/>
              </a:rPr>
              <a:t>7. </a:t>
            </a:r>
            <a:r>
              <a:rPr lang="zh-CN" sz="1200">
                <a:solidFill>
                  <a:srgbClr val="3B4A5C"/>
                </a:solidFill>
                <a:latin typeface="PingFang SC"/>
                <a:ea typeface="PingFang SC"/>
              </a:rPr>
              <a:t>年度表现口径</a:t>
            </a:r>
            <a:r>
              <a:rPr lang="zh-CN" sz="1200">
                <a:solidFill>
                  <a:srgbClr val="3B4A5C"/>
                </a:solidFill>
                <a:latin typeface="PingFang SC"/>
                <a:ea typeface="PingFang SC"/>
              </a:rPr>
              <a:t>：年末浮盈＝年末市值−累计投入；当年盈亏＝年末市值−上年末市值−当年投入；</a:t>
            </a:r>
            <a:r>
              <a:rPr lang="en-US" sz="1200">
                <a:solidFill>
                  <a:srgbClr val="3B4A5C"/>
                </a:solidFill>
                <a:latin typeface="PingFang SC"/>
                <a:ea typeface="PingFang SC"/>
              </a:rPr>
              <a:t>2026 </a:t>
            </a:r>
            <a:r>
              <a:rPr lang="zh-CN" sz="1200">
                <a:solidFill>
                  <a:srgbClr val="3B4A5C"/>
                </a:solidFill>
                <a:latin typeface="PingFang SC"/>
                <a:ea typeface="PingFang SC"/>
              </a:rPr>
              <a:t>行为截至</a:t>
            </a:r>
            <a:r>
              <a:rPr lang="en-US" sz="1200">
                <a:solidFill>
                  <a:srgbClr val="3B4A5C"/>
                </a:solidFill>
                <a:latin typeface="PingFang SC"/>
                <a:ea typeface="PingFang SC"/>
              </a:rPr>
              <a:t> 2026-07-31</a:t>
            </a:r>
            <a:r>
              <a:rPr lang="zh-CN" sz="1200">
                <a:solidFill>
                  <a:srgbClr val="3B4A5C"/>
                </a:solidFill>
                <a:latin typeface="PingFang SC"/>
                <a:ea typeface="PingFang SC"/>
              </a:rPr>
              <a:t>（回测区间末），非完整年度。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5172075" y="6276975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B7686"/>
                </a:solidFill>
                <a:latin typeface="PingFang SC"/>
                <a:ea typeface="PingFang SC"/>
              </a:rPr>
              <a:t>四大红利全收益指数</a:t>
            </a:r>
            <a:r>
              <a:rPr lang="en-US" sz="1050">
                <a:solidFill>
                  <a:srgbClr val="6B7686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B7686"/>
                </a:solidFill>
                <a:latin typeface="PingFang SC"/>
                <a:ea typeface="PingFang SC"/>
              </a:rPr>
              <a:t>数据回测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67" name="" descr="&lt;Slide style={{ width: '1280px', height: '720px', background: 'linear-gradient(135deg,#2B3A4A 0%,#1D2939 60%,#3A2A2A 100%)', padding: '40px 72px', fontFamily: '&quot;PingFang SC&quot;,&quot;Microsoft YaHei&quot;,sans-serif', color: '#FFFFFF', justifyContent: 'space-between' }}&gt;&#10;  &lt;Box style={{ marginTop: 140, alignItems: 'center' }}&gt;&#10;    &lt;Text style={{ fontSize: 34, fontWeight: 'bold', color: '#FFB37A', marginBottom: 30 }}&gt;⚠ 投资风险提示&lt;/Text&gt;&#10;    &lt;Text style={{ fontSize: 24, color: '#FFFFFF', lineHeight: 1.8 }}&gt;&#10;      本页为历史数据回测，不代表未来收益。&#10;      &lt;br /&gt;&#10;      红利策略亦存在长期跑输与估值回归风险。&#10;      &lt;br /&gt;&#10;      投资有风险，决策需谨慎。&#10;    &lt;/Text&gt;&#10;  &lt;/Box&gt;&#10;&#10;  &lt;Box style={{ alignItems: 'center', marginBottom: 70 }}&gt;&#10;    &lt;Box style={{ background: 'rgba(255,255,255,0.12)', borderRadius: 16, padding: '26px 44px', alignItems: 'center' }}&gt;&#10;      &lt;Text style={{ fontSize: 20, color: '#FFFFFF', fontWeight: 600, textAlign: 'center', lineHeight: 1.7 }}&gt;&#10;        如需获取更多定投策略参考、同步市场变化相关观察，&#10;        &lt;br /&gt;&#10;        &lt;span style={{ color: '#FF6B5E', fontSize: 24, fontWeight: 'bold' }}&gt;欢迎和我进一步交流，落地你的定投计划&lt;/span&gt;&#10;      &lt;/Text&gt;&#10;      &lt;Text style={{ fontSize: 14, color: '#8FA0B5', marginTop: 14, textAlign: 'center' }}&gt;&#10;        您的支持是我继续研究的动力。以上内容仅供学习参考，不构成投资建议，投资有风险，入市需谨慎。&#10;      &lt;/Text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B3A4A"/>
              </a:gs>
              <a:gs pos="60000">
                <a:srgbClr val="1D2939"/>
              </a:gs>
              <a:gs pos="100000">
                <a:srgbClr val="3A2A2A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4914900" y="1714500"/>
            <a:ext cx="23717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FFB37A"/>
                </a:solidFill>
                <a:latin typeface="PingFang SC"/>
                <a:ea typeface="PingFang SC"/>
              </a:rPr>
              <a:t>⚠ </a:t>
            </a:r>
            <a:r>
              <a:rPr lang="zh-CN" sz="2550" b="1">
                <a:solidFill>
                  <a:srgbClr val="FFB37A"/>
                </a:solidFill>
                <a:latin typeface="PingFang SC"/>
                <a:ea typeface="PingFang SC"/>
              </a:rPr>
              <a:t>投资风险提示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3924300" y="2390775"/>
            <a:ext cx="4343400" cy="1485900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800">
                <a:solidFill>
                  <a:srgbClr val="FFFFFF"/>
                </a:solidFill>
                <a:latin typeface="PingFang SC"/>
                <a:ea typeface="PingFang SC"/>
              </a:rPr>
              <a:t>本页为历史数据回测，不代表未来收益。</a:t>
            </a:r>
            <a:endParaRPr/>
          </a:p>
          <a:p>
            <a:pPr>
              <a:lnSpc>
                <a:spcPct val="180000"/>
              </a:lnSpc>
            </a:pPr>
            <a:r>
              <a:rPr lang="zh-CN" sz="1800">
                <a:solidFill>
                  <a:srgbClr val="FFFFFF"/>
                </a:solidFill>
                <a:latin typeface="PingFang SC"/>
                <a:ea typeface="PingFang SC"/>
              </a:rPr>
              <a:t>红利策略亦存在长期跑输与估值回归风险。</a:t>
            </a:r>
            <a:endParaRPr/>
          </a:p>
          <a:p>
            <a:pPr>
              <a:lnSpc>
                <a:spcPct val="180000"/>
              </a:lnSpc>
            </a:pPr>
            <a:r>
              <a:rPr lang="zh-CN" sz="1800">
                <a:solidFill>
                  <a:srgbClr val="FFFFFF"/>
                </a:solidFill>
                <a:latin typeface="PingFang SC"/>
                <a:ea typeface="PingFang SC"/>
              </a:rPr>
              <a:t>投资有风险，决策需谨慎。</a:t>
            </a:r>
            <a:endParaRPr/>
          </a:p>
        </p:txBody>
      </p:sp>
      <p:sp>
        <p:nvSpPr>
          <p:cNvPr id="71" name=""/>
          <p:cNvSpPr/>
          <p:nvPr/>
        </p:nvSpPr>
        <p:spPr>
          <a:xfrm rot="0" flipH="0" flipV="0">
            <a:off x="2676525" y="4162425"/>
            <a:ext cx="6838950" cy="1647825"/>
          </a:xfrm>
          <a:prstGeom prst="roundRect">
            <a:avLst>
              <a:gd name="adj" fmla="val 9249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p/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3810000" y="4410075"/>
            <a:ext cx="4572000" cy="857250"/>
          </a:xfrm>
          <a:prstGeom prst="rect"/>
        </p:spPr>
        <p:txBody>
          <a:bodyPr wrap="none" lIns="0" tIns="0" rIns="0" bIns="0"/>
          <a:p>
            <a:pPr algn="ctr">
              <a:lnSpc>
                <a:spcPct val="170000"/>
              </a:lnSpc>
            </a:pPr>
            <a:r>
              <a:rPr lang="zh-CN" sz="1500" b="1">
                <a:solidFill>
                  <a:srgbClr val="FFFFFF"/>
                </a:solidFill>
                <a:latin typeface="PingFang SC"/>
                <a:ea typeface="PingFang SC"/>
              </a:rPr>
              <a:t>如需获取更多定投策略参考、同步市场变化相关观察，</a:t>
            </a:r>
            <a:endParaRPr/>
          </a:p>
          <a:p>
            <a:pPr algn="ctr">
              <a:lnSpc>
                <a:spcPct val="170000"/>
              </a:lnSpc>
            </a:pPr>
            <a:r>
              <a:rPr lang="zh-CN" sz="1800" b="1">
                <a:solidFill>
                  <a:srgbClr val="FF6B5E"/>
                </a:solidFill>
                <a:latin typeface="PingFang SC"/>
                <a:ea typeface="PingFang SC"/>
              </a:rPr>
              <a:t>欢迎和我进一步交流，落地你的定投计划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3095625" y="5400675"/>
            <a:ext cx="600075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050">
                <a:solidFill>
                  <a:srgbClr val="8FA0B5"/>
                </a:solidFill>
                <a:latin typeface="PingFang SC"/>
                <a:ea typeface="PingFang SC"/>
              </a:rPr>
              <a:t>您的支持是我继续研究的动力。以上内容仅供学习参考，不构成投资建议，投资有风险，入市需谨慎。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2026-08-27T14:51:54Z</dcterms:created>
  <dcterms:modified xsi:type="dcterms:W3CDTF">2026-08-27T14:51:54Z</dcterms:modified>
</cp:coreProperties>
</file>